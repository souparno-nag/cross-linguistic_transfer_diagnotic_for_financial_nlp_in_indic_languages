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84" r:id="rId15"/>
    <p:sldId id="285" r:id="rId14"/>
    <p:sldId id="286" r:id="rId13"/>
    <p:sldId id="287" r:id="rId12"/>
    <p:sldId id="288" r:id="rId11"/>
    <p:sldId id="289" r:id="rId10"/>
    <p:sldId id="290" r:id="rId9"/>
    <p:sldId id="291" r:id="rId8"/>
    <p:sldId id="292" r:id="rId7"/>
    <p:sldId id="293" r:id="rId38"/>
    <p:sldId id="294" r:id="rId39"/>
    <p:sldId id="295" r:id="rId40"/>
    <p:sldId id="296" r:id="rId41"/>
    <p:sldId id="297" r:id="rId42"/>
    <p:sldId id="298" r:id="rId43"/>
    <p:sldId id="299" r:id="rId44"/>
    <p:sldId id="300" r:id="rId45"/>
    <p:sldId id="301" r:id="rId46"/>
    <p:sldId id="302" r:id="rId47"/>
    <p:sldId id="303" r:id="rId48"/>
    <p:sldId id="266" r:id="rId16"/>
  </p:sldIdLst>
  <p:sldSz cx="18288000" cy="10287000"/>
  <p:notesSz cx="6858000" cy="9144000"/>
  <p:embeddedFontLst>
    <p:embeddedFont>
      <p:font typeface="Telegraf Bold" charset="1" panose="00000800000000000000"/>
      <p:regular r:id="rId17"/>
    </p:embeddedFont>
    <p:embeddedFont>
      <p:font typeface="Telegraf" charset="1" panose="00000500000000000000"/>
      <p:regular r:id="rId18"/>
    </p:embeddedFont>
    <p:embeddedFont>
      <p:font typeface="Telegraf Extra-Light" charset="1" panose="000003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8.xml"/><Relationship Id="rId8" Type="http://schemas.openxmlformats.org/officeDocument/2006/relationships/slide" Target="slides/slide27.xml"/><Relationship Id="rId9" Type="http://schemas.openxmlformats.org/officeDocument/2006/relationships/slide" Target="slides/slide26.xml"/><Relationship Id="rId10" Type="http://schemas.openxmlformats.org/officeDocument/2006/relationships/slide" Target="slides/slide25.xml"/><Relationship Id="rId11" Type="http://schemas.openxmlformats.org/officeDocument/2006/relationships/slide" Target="slides/slide24.xml"/><Relationship Id="rId12" Type="http://schemas.openxmlformats.org/officeDocument/2006/relationships/slide" Target="slides/slide23.xml"/><Relationship Id="rId13" Type="http://schemas.openxmlformats.org/officeDocument/2006/relationships/slide" Target="slides/slide22.xml"/><Relationship Id="rId14" Type="http://schemas.openxmlformats.org/officeDocument/2006/relationships/slide" Target="slides/slide21.xml"/><Relationship Id="rId15" Type="http://schemas.openxmlformats.org/officeDocument/2006/relationships/slide" Target="slides/slide20.xml"/><Relationship Id="rId16" Type="http://schemas.openxmlformats.org/officeDocument/2006/relationships/slide" Target="slides/slide19.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notesMaster" Target="notesMasters/notesMaster1.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44" b="1">
                <a:solidFill>
                  <a:srgbClr val="164B82"/>
                </a:solidFill>
                <a:latin typeface="Calibri"/>
              </a:rPr>
              <a:t>Entity preservation (%); 95% is the bar</a:t>
            </a:r>
          </a:p>
        </c:rich>
      </c:tx>
      <c:layout/>
      <c:overlay val="0"/>
    </c:title>
    <c:autoTitleDeleted val="0"/>
    <c:plotArea>
      <c:barChart>
        <c:barDir val="col"/>
        <c:grouping val="clustered"/>
        <c:ser>
          <c:idx val="0"/>
          <c:order val="0"/>
          <c:tx>
            <c:strRef>
              <c:f>Sheet1!$B$1</c:f>
              <c:strCache>
                <c:ptCount val="1"/>
                <c:pt idx="0">
                  <c:v>Task 2</c:v>
                </c:pt>
              </c:strCache>
            </c:strRef>
          </c:tx>
          <c:spPr>
            <a:solidFill>
              <a:srgbClr val="164B82"/>
            </a:solidFill>
          </c:spPr>
          <c:invertIfNegative val="0"/>
          <c:cat>
            <c:strRef>
              <c:f>Sheet1!$A$2:$A$10</c:f>
              <c:strCache>
                <c:ptCount val="9"/>
                <c:pt idx="0">
                  <c:v>hin→ben</c:v>
                </c:pt>
                <c:pt idx="1">
                  <c:v>hin→tel</c:v>
                </c:pt>
                <c:pt idx="2">
                  <c:v>hin→mal</c:v>
                </c:pt>
                <c:pt idx="3">
                  <c:v>ben→hin</c:v>
                </c:pt>
                <c:pt idx="4">
                  <c:v>ben→tel</c:v>
                </c:pt>
                <c:pt idx="5">
                  <c:v>ben→mal</c:v>
                </c:pt>
                <c:pt idx="6">
                  <c:v>tel→hin</c:v>
                </c:pt>
                <c:pt idx="7">
                  <c:v>tel→ben</c:v>
                </c:pt>
                <c:pt idx="8">
                  <c:v>tel→mal</c:v>
                </c:pt>
              </c:strCache>
            </c:strRef>
          </c:cat>
          <c:val>
            <c:numRef>
              <c:f>Sheet1!$B$2:$B$10</c:f>
              <c:numCache>
                <c:formatCode>General</c:formatCode>
                <c:ptCount val="9"/>
                <c:pt idx="0">
                  <c:v>95.7</c:v>
                </c:pt>
                <c:pt idx="1">
                  <c:v>91.6</c:v>
                </c:pt>
                <c:pt idx="2">
                  <c:v>89.5</c:v>
                </c:pt>
                <c:pt idx="3">
                  <c:v>94.0</c:v>
                </c:pt>
                <c:pt idx="4">
                  <c:v>92.0</c:v>
                </c:pt>
                <c:pt idx="5">
                  <c:v>89.8</c:v>
                </c:pt>
                <c:pt idx="6">
                  <c:v>90.8</c:v>
                </c:pt>
                <c:pt idx="7">
                  <c:v>92.1</c:v>
                </c:pt>
                <c:pt idx="8">
                  <c:v>93.4</c:v>
                </c:pt>
              </c:numCache>
            </c:numRef>
          </c:val>
        </c:ser>
        <c:ser>
          <c:idx val="1"/>
          <c:order val="1"/>
          <c:tx>
            <c:strRef>
              <c:f>Sheet1!$C$1</c:f>
              <c:strCache>
                <c:ptCount val="1"/>
                <c:pt idx="0">
                  <c:v>Task 3</c:v>
                </c:pt>
              </c:strCache>
            </c:strRef>
          </c:tx>
          <c:spPr>
            <a:solidFill>
              <a:srgbClr val="E4B795"/>
            </a:solidFill>
          </c:spPr>
          <c:invertIfNegative val="0"/>
          <c:cat>
            <c:strRef>
              <c:f>Sheet1!$A$2:$A$10</c:f>
              <c:strCache>
                <c:ptCount val="9"/>
                <c:pt idx="0">
                  <c:v>hin→ben</c:v>
                </c:pt>
                <c:pt idx="1">
                  <c:v>hin→tel</c:v>
                </c:pt>
                <c:pt idx="2">
                  <c:v>hin→mal</c:v>
                </c:pt>
                <c:pt idx="3">
                  <c:v>ben→hin</c:v>
                </c:pt>
                <c:pt idx="4">
                  <c:v>ben→tel</c:v>
                </c:pt>
                <c:pt idx="5">
                  <c:v>ben→mal</c:v>
                </c:pt>
                <c:pt idx="6">
                  <c:v>tel→hin</c:v>
                </c:pt>
                <c:pt idx="7">
                  <c:v>tel→ben</c:v>
                </c:pt>
                <c:pt idx="8">
                  <c:v>tel→mal</c:v>
                </c:pt>
              </c:strCache>
            </c:strRef>
          </c:cat>
          <c:val>
            <c:numRef>
              <c:f>Sheet1!$C$2:$C$10</c:f>
              <c:numCache>
                <c:formatCode>General</c:formatCode>
                <c:ptCount val="9"/>
                <c:pt idx="0">
                  <c:v>93.6</c:v>
                </c:pt>
                <c:pt idx="1">
                  <c:v>88.3</c:v>
                </c:pt>
                <c:pt idx="2">
                  <c:v>77.4</c:v>
                </c:pt>
                <c:pt idx="3">
                  <c:v>97.0</c:v>
                </c:pt>
                <c:pt idx="4">
                  <c:v>92.7</c:v>
                </c:pt>
                <c:pt idx="5">
                  <c:v>81.0</c:v>
                </c:pt>
                <c:pt idx="6">
                  <c:v>91.9</c:v>
                </c:pt>
                <c:pt idx="7">
                  <c:v>91.5</c:v>
                </c:pt>
                <c:pt idx="8">
                  <c:v>86.1</c:v>
                </c:pt>
              </c:numCache>
            </c:numRef>
          </c:val>
        </c:ser>
        <c:dLbls>
          <c:numFmt formatCode="0" sourceLinked="0"/>
          <c:txPr>
            <a:bodyPr/>
            <a:lstStyle/>
            <a:p>
              <a:pPr>
                <a:defRPr sz="1244">
                  <a:latin typeface="Calibri"/>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majorTickMark val="out"/>
        <c:minorTickMark val="none"/>
        <c:tickLblPos val="nextTo"/>
        <c:spPr>
          <a:ln>
            <a:solidFill>
              <a:srgbClr val="CFDDEC"/>
            </a:solidFill>
          </a:ln>
        </c:spPr>
        <c:txPr>
          <a:bodyPr/>
          <a:lstStyle/>
          <a:p>
            <a:pPr>
              <a:defRPr sz="1344"/>
            </a:pPr>
          </a:p>
        </c:txPr>
        <c:crossAx val="-2113994440"/>
        <c:crosses val="autoZero"/>
        <c:auto val="1"/>
        <c:lblAlgn val="ctr"/>
        <c:lblOffset val="100"/>
        <c:noMultiLvlLbl val="0"/>
      </c:catAx>
      <c:valAx>
        <c:axId val="-2113994440"/>
        <c:scaling>
          <c:max val="100.0"/>
          <c:min val="0.0"/>
        </c:scaling>
        <c:delete val="0"/>
        <c:axPos val="l"/>
        <c:majorGridlines>
          <c:spPr>
            <a:ln>
              <a:solidFill>
                <a:srgbClr val="E1E8F0"/>
              </a:solidFill>
            </a:ln>
          </c:spPr>
        </c:majorGridlines>
        <c:numFmt formatCode="0" sourceLinked="0"/>
        <c:majorTickMark val="out"/>
        <c:minorTickMark val="none"/>
        <c:tickLblPos val="nextTo"/>
        <c:spPr>
          <a:ln>
            <a:noFill/>
          </a:ln>
        </c:spPr>
        <c:txPr>
          <a:bodyPr/>
          <a:lstStyle/>
          <a:p>
            <a:pPr>
              <a:defRPr sz="1244">
                <a:solidFill>
                  <a:srgbClr val="8A94A0"/>
                </a:solidFill>
              </a:defRPr>
            </a:pPr>
          </a:p>
        </c:txPr>
        <c:crossAx val="-2068027336"/>
        <c:crosses val="autoZero"/>
      </c:valAx>
    </c:plotArea>
    <c:legend>
      <c:legendPos val="b"/>
      <c:overlay val="0"/>
      <c:txPr>
        <a:bodyPr/>
        <a:lstStyle/>
        <a:p>
          <a:pPr>
            <a:defRPr sz="1344">
              <a:latin typeface="Calibri"/>
            </a:defRPr>
          </a:pPr>
        </a:p>
      </c:txPr>
    </c:legend>
    <c:dispBlanksAs val="gap"/>
  </c:chart>
  <c:txPr>
    <a:bodyPr/>
    <a:lstStyle/>
    <a:p>
      <a:pPr>
        <a:defRPr sz="1344">
          <a:solidFill>
            <a:srgbClr val="343434"/>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44" b="1">
                <a:solidFill>
                  <a:srgbClr val="164B82"/>
                </a:solidFill>
                <a:latin typeface="Calibri"/>
              </a:rPr>
              <a:t>Median LaBSE similarity</a:t>
            </a:r>
          </a:p>
        </c:rich>
      </c:tx>
      <c:layout/>
      <c:overlay val="0"/>
    </c:title>
    <c:autoTitleDeleted val="0"/>
    <c:plotArea>
      <c:barChart>
        <c:barDir val="col"/>
        <c:grouping val="clustered"/>
        <c:ser>
          <c:idx val="0"/>
          <c:order val="0"/>
          <c:tx>
            <c:strRef>
              <c:f>Sheet1!$B$1</c:f>
              <c:strCache>
                <c:ptCount val="1"/>
                <c:pt idx="0">
                  <c:v>Task 2</c:v>
                </c:pt>
              </c:strCache>
            </c:strRef>
          </c:tx>
          <c:spPr>
            <a:solidFill>
              <a:srgbClr val="164B82"/>
            </a:solidFill>
          </c:spPr>
          <c:invertIfNegative val="0"/>
          <c:cat>
            <c:strRef>
              <c:f>Sheet1!$A$2:$A$10</c:f>
              <c:strCache>
                <c:ptCount val="9"/>
                <c:pt idx="0">
                  <c:v>hin→ben</c:v>
                </c:pt>
                <c:pt idx="1">
                  <c:v>hin→tel</c:v>
                </c:pt>
                <c:pt idx="2">
                  <c:v>hin→mal</c:v>
                </c:pt>
                <c:pt idx="3">
                  <c:v>ben→hin</c:v>
                </c:pt>
                <c:pt idx="4">
                  <c:v>ben→tel</c:v>
                </c:pt>
                <c:pt idx="5">
                  <c:v>ben→mal</c:v>
                </c:pt>
                <c:pt idx="6">
                  <c:v>tel→hin</c:v>
                </c:pt>
                <c:pt idx="7">
                  <c:v>tel→ben</c:v>
                </c:pt>
                <c:pt idx="8">
                  <c:v>tel→mal</c:v>
                </c:pt>
              </c:strCache>
            </c:strRef>
          </c:cat>
          <c:val>
            <c:numRef>
              <c:f>Sheet1!$B$2:$B$10</c:f>
              <c:numCache>
                <c:formatCode>General</c:formatCode>
                <c:ptCount val="9"/>
                <c:pt idx="0">
                  <c:v>0.95</c:v>
                </c:pt>
                <c:pt idx="1">
                  <c:v>0.945</c:v>
                </c:pt>
                <c:pt idx="2">
                  <c:v>0.908</c:v>
                </c:pt>
                <c:pt idx="3">
                  <c:v>0.931</c:v>
                </c:pt>
                <c:pt idx="4">
                  <c:v>0.923</c:v>
                </c:pt>
                <c:pt idx="5">
                  <c:v>0.902</c:v>
                </c:pt>
                <c:pt idx="6">
                  <c:v>0.943</c:v>
                </c:pt>
                <c:pt idx="7">
                  <c:v>0.939</c:v>
                </c:pt>
                <c:pt idx="8">
                  <c:v>0.924</c:v>
                </c:pt>
              </c:numCache>
            </c:numRef>
          </c:val>
        </c:ser>
        <c:ser>
          <c:idx val="1"/>
          <c:order val="1"/>
          <c:tx>
            <c:strRef>
              <c:f>Sheet1!$C$1</c:f>
              <c:strCache>
                <c:ptCount val="1"/>
                <c:pt idx="0">
                  <c:v>Task 3</c:v>
                </c:pt>
              </c:strCache>
            </c:strRef>
          </c:tx>
          <c:spPr>
            <a:solidFill>
              <a:srgbClr val="E4B795"/>
            </a:solidFill>
          </c:spPr>
          <c:invertIfNegative val="0"/>
          <c:cat>
            <c:strRef>
              <c:f>Sheet1!$A$2:$A$10</c:f>
              <c:strCache>
                <c:ptCount val="9"/>
                <c:pt idx="0">
                  <c:v>hin→ben</c:v>
                </c:pt>
                <c:pt idx="1">
                  <c:v>hin→tel</c:v>
                </c:pt>
                <c:pt idx="2">
                  <c:v>hin→mal</c:v>
                </c:pt>
                <c:pt idx="3">
                  <c:v>ben→hin</c:v>
                </c:pt>
                <c:pt idx="4">
                  <c:v>ben→tel</c:v>
                </c:pt>
                <c:pt idx="5">
                  <c:v>ben→mal</c:v>
                </c:pt>
                <c:pt idx="6">
                  <c:v>tel→hin</c:v>
                </c:pt>
                <c:pt idx="7">
                  <c:v>tel→ben</c:v>
                </c:pt>
                <c:pt idx="8">
                  <c:v>tel→mal</c:v>
                </c:pt>
              </c:strCache>
            </c:strRef>
          </c:cat>
          <c:val>
            <c:numRef>
              <c:f>Sheet1!$C$2:$C$10</c:f>
              <c:numCache>
                <c:formatCode>General</c:formatCode>
                <c:ptCount val="9"/>
                <c:pt idx="0">
                  <c:v>0.908</c:v>
                </c:pt>
                <c:pt idx="1">
                  <c:v>0.903</c:v>
                </c:pt>
                <c:pt idx="2">
                  <c:v>0.859</c:v>
                </c:pt>
                <c:pt idx="3">
                  <c:v>0.898</c:v>
                </c:pt>
                <c:pt idx="4">
                  <c:v>0.889</c:v>
                </c:pt>
                <c:pt idx="5">
                  <c:v>0.87</c:v>
                </c:pt>
                <c:pt idx="6">
                  <c:v>0.891</c:v>
                </c:pt>
                <c:pt idx="7">
                  <c:v>0.881</c:v>
                </c:pt>
                <c:pt idx="8">
                  <c:v>0.861</c:v>
                </c:pt>
              </c:numCache>
            </c:numRef>
          </c:val>
        </c:ser>
        <c:dLbls>
          <c:numFmt formatCode="0.00" sourceLinked="0"/>
          <c:txPr>
            <a:bodyPr/>
            <a:lstStyle/>
            <a:p>
              <a:pPr>
                <a:defRPr sz="1244">
                  <a:latin typeface="Calibri"/>
                </a:defRPr>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majorTickMark val="out"/>
        <c:minorTickMark val="none"/>
        <c:tickLblPos val="nextTo"/>
        <c:spPr>
          <a:ln>
            <a:solidFill>
              <a:srgbClr val="CFDDEC"/>
            </a:solidFill>
          </a:ln>
        </c:spPr>
        <c:txPr>
          <a:bodyPr/>
          <a:lstStyle/>
          <a:p>
            <a:pPr>
              <a:defRPr sz="1344"/>
            </a:pPr>
          </a:p>
        </c:txPr>
        <c:crossAx val="-2113994440"/>
        <c:crosses val="autoZero"/>
        <c:auto val="1"/>
        <c:lblAlgn val="ctr"/>
        <c:lblOffset val="100"/>
        <c:noMultiLvlLbl val="0"/>
      </c:catAx>
      <c:valAx>
        <c:axId val="-2113994440"/>
        <c:scaling>
          <c:max val="1.0"/>
          <c:min val="0.0"/>
        </c:scaling>
        <c:delete val="0"/>
        <c:axPos val="l"/>
        <c:majorGridlines>
          <c:spPr>
            <a:ln>
              <a:solidFill>
                <a:srgbClr val="E1E8F0"/>
              </a:solidFill>
            </a:ln>
          </c:spPr>
        </c:majorGridlines>
        <c:numFmt formatCode="0.00" sourceLinked="0"/>
        <c:majorTickMark val="out"/>
        <c:minorTickMark val="none"/>
        <c:tickLblPos val="nextTo"/>
        <c:spPr>
          <a:ln>
            <a:noFill/>
          </a:ln>
        </c:spPr>
        <c:txPr>
          <a:bodyPr/>
          <a:lstStyle/>
          <a:p>
            <a:pPr>
              <a:defRPr sz="1244">
                <a:solidFill>
                  <a:srgbClr val="8A94A0"/>
                </a:solidFill>
              </a:defRPr>
            </a:pPr>
          </a:p>
        </c:txPr>
        <c:crossAx val="-2068027336"/>
        <c:crosses val="autoZero"/>
      </c:valAx>
    </c:plotArea>
    <c:legend>
      <c:legendPos val="b"/>
      <c:overlay val="0"/>
      <c:txPr>
        <a:bodyPr/>
        <a:lstStyle/>
        <a:p>
          <a:pPr>
            <a:defRPr sz="1344">
              <a:latin typeface="Calibri"/>
            </a:defRPr>
          </a:pPr>
        </a:p>
      </c:txPr>
    </c:legend>
    <c:dispBlanksAs val="gap"/>
  </c:chart>
  <c:txPr>
    <a:bodyPr/>
    <a:lstStyle/>
    <a:p>
      <a:pPr>
        <a:defRPr sz="1344">
          <a:solidFill>
            <a:srgbClr val="343434"/>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2092" b="1">
                <a:solidFill>
                  <a:srgbClr val="164B82"/>
                </a:solidFill>
                <a:latin typeface="Calibri"/>
              </a:rPr>
              <a:t>Task 2 in-language macro-F1</a:t>
            </a:r>
          </a:p>
        </c:rich>
      </c:tx>
      <c:layout/>
      <c:overlay val="0"/>
    </c:title>
    <c:autoTitleDeleted val="0"/>
    <c:plotArea>
      <c:barChart>
        <c:barDir val="col"/>
        <c:grouping val="clustered"/>
        <c:ser>
          <c:idx val="0"/>
          <c:order val="0"/>
          <c:tx>
            <c:strRef>
              <c:f>Sheet1!$B$1</c:f>
              <c:strCache>
                <c:ptCount val="1"/>
                <c:pt idx="0">
                  <c:v>Published [12]</c:v>
                </c:pt>
              </c:strCache>
            </c:strRef>
          </c:tx>
          <c:spPr>
            <a:solidFill>
              <a:srgbClr val="E4B795"/>
            </a:solidFill>
          </c:spPr>
          <c:invertIfNegative val="0"/>
          <c:cat>
            <c:strRef>
              <c:f>Sheet1!$A$2:$A$4</c:f>
              <c:strCache>
                <c:ptCount val="3"/>
                <c:pt idx="0">
                  <c:v>Hindi</c:v>
                </c:pt>
                <c:pt idx="1">
                  <c:v>Bengali</c:v>
                </c:pt>
                <c:pt idx="2">
                  <c:v>Telugu</c:v>
                </c:pt>
              </c:strCache>
            </c:strRef>
          </c:cat>
          <c:val>
            <c:numRef>
              <c:f>Sheet1!$B$2:$B$4</c:f>
              <c:numCache>
                <c:formatCode>General</c:formatCode>
                <c:ptCount val="3"/>
                <c:pt idx="0">
                  <c:v>0.86</c:v>
                </c:pt>
                <c:pt idx="1">
                  <c:v>0.8</c:v>
                </c:pt>
                <c:pt idx="2">
                  <c:v>0.79</c:v>
                </c:pt>
              </c:numCache>
            </c:numRef>
          </c:val>
        </c:ser>
        <c:ser>
          <c:idx val="1"/>
          <c:order val="1"/>
          <c:tx>
            <c:strRef>
              <c:f>Sheet1!$C$1</c:f>
              <c:strCache>
                <c:ptCount val="1"/>
                <c:pt idx="0">
                  <c:v>IndicBERT (ours)</c:v>
                </c:pt>
              </c:strCache>
            </c:strRef>
          </c:tx>
          <c:spPr>
            <a:solidFill>
              <a:srgbClr val="699ACD"/>
            </a:solidFill>
          </c:spPr>
          <c:invertIfNegative val="0"/>
          <c:cat>
            <c:strRef>
              <c:f>Sheet1!$A$2:$A$4</c:f>
              <c:strCache>
                <c:ptCount val="3"/>
                <c:pt idx="0">
                  <c:v>Hindi</c:v>
                </c:pt>
                <c:pt idx="1">
                  <c:v>Bengali</c:v>
                </c:pt>
                <c:pt idx="2">
                  <c:v>Telugu</c:v>
                </c:pt>
              </c:strCache>
            </c:strRef>
          </c:cat>
          <c:val>
            <c:numRef>
              <c:f>Sheet1!$C$2:$C$4</c:f>
              <c:numCache>
                <c:formatCode>General</c:formatCode>
                <c:ptCount val="3"/>
                <c:pt idx="0">
                  <c:v>0.823</c:v>
                </c:pt>
                <c:pt idx="1">
                  <c:v>0.82</c:v>
                </c:pt>
                <c:pt idx="2">
                  <c:v>0.819</c:v>
                </c:pt>
              </c:numCache>
            </c:numRef>
          </c:val>
        </c:ser>
        <c:ser>
          <c:idx val="2"/>
          <c:order val="2"/>
          <c:tx>
            <c:strRef>
              <c:f>Sheet1!$D$1</c:f>
              <c:strCache>
                <c:ptCount val="1"/>
                <c:pt idx="0">
                  <c:v>mBERT (ours)</c:v>
                </c:pt>
              </c:strCache>
            </c:strRef>
          </c:tx>
          <c:spPr>
            <a:solidFill>
              <a:srgbClr val="164B82"/>
            </a:solidFill>
          </c:spPr>
          <c:invertIfNegative val="0"/>
          <c:cat>
            <c:strRef>
              <c:f>Sheet1!$A$2:$A$4</c:f>
              <c:strCache>
                <c:ptCount val="3"/>
                <c:pt idx="0">
                  <c:v>Hindi</c:v>
                </c:pt>
                <c:pt idx="1">
                  <c:v>Bengali</c:v>
                </c:pt>
                <c:pt idx="2">
                  <c:v>Telugu</c:v>
                </c:pt>
              </c:strCache>
            </c:strRef>
          </c:cat>
          <c:val>
            <c:numRef>
              <c:f>Sheet1!$D$2:$D$4</c:f>
              <c:numCache>
                <c:formatCode>General</c:formatCode>
                <c:ptCount val="3"/>
                <c:pt idx="0">
                  <c:v>0.874</c:v>
                </c:pt>
                <c:pt idx="1">
                  <c:v>0.858</c:v>
                </c:pt>
                <c:pt idx="2">
                  <c:v>0.86</c:v>
                </c:pt>
              </c:numCache>
            </c:numRef>
          </c:val>
        </c:ser>
        <c:dLbls>
          <c:numFmt formatCode="0.00" sourceLinked="0"/>
          <c:txPr>
            <a:bodyPr/>
            <a:lstStyle/>
            <a:p>
              <a:pPr>
                <a:defRPr sz="1692">
                  <a:latin typeface="Calibri"/>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CFDDEC"/>
            </a:solidFill>
          </a:ln>
        </c:spPr>
        <c:txPr>
          <a:bodyPr/>
          <a:lstStyle/>
          <a:p>
            <a:pPr>
              <a:defRPr sz="1792"/>
            </a:pPr>
          </a:p>
        </c:txPr>
        <c:crossAx val="-2113994440"/>
        <c:crosses val="autoZero"/>
        <c:auto val="1"/>
        <c:lblAlgn val="ctr"/>
        <c:lblOffset val="100"/>
        <c:noMultiLvlLbl val="0"/>
      </c:catAx>
      <c:valAx>
        <c:axId val="-2113994440"/>
        <c:scaling>
          <c:max val="1.0"/>
          <c:min val="0.0"/>
        </c:scaling>
        <c:delete val="0"/>
        <c:axPos val="l"/>
        <c:majorGridlines>
          <c:spPr>
            <a:ln>
              <a:solidFill>
                <a:srgbClr val="E1E8F0"/>
              </a:solidFill>
            </a:ln>
          </c:spPr>
        </c:majorGridlines>
        <c:numFmt formatCode="0.00" sourceLinked="0"/>
        <c:majorTickMark val="out"/>
        <c:minorTickMark val="none"/>
        <c:tickLblPos val="nextTo"/>
        <c:spPr>
          <a:ln>
            <a:noFill/>
          </a:ln>
        </c:spPr>
        <c:txPr>
          <a:bodyPr/>
          <a:lstStyle/>
          <a:p>
            <a:pPr>
              <a:defRPr sz="1692">
                <a:solidFill>
                  <a:srgbClr val="8A94A0"/>
                </a:solidFill>
              </a:defRPr>
            </a:pPr>
          </a:p>
        </c:txPr>
        <c:crossAx val="-2068027336"/>
        <c:crosses val="autoZero"/>
        <c:majorUnit val="0.2"/>
      </c:valAx>
    </c:plotArea>
    <c:legend>
      <c:legendPos val="b"/>
      <c:overlay val="0"/>
      <c:txPr>
        <a:bodyPr/>
        <a:lstStyle/>
        <a:p>
          <a:pPr>
            <a:defRPr sz="1792">
              <a:latin typeface="Calibri"/>
            </a:defRPr>
          </a:pPr>
        </a:p>
      </c:txPr>
    </c:legend>
    <c:dispBlanksAs val="gap"/>
  </c:chart>
  <c:txPr>
    <a:bodyPr/>
    <a:lstStyle/>
    <a:p>
      <a:pPr>
        <a:defRPr sz="1792">
          <a:solidFill>
            <a:srgbClr val="343434"/>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756" b="1">
                <a:solidFill>
                  <a:srgbClr val="164B82"/>
                </a:solidFill>
                <a:latin typeface="Calibri"/>
              </a:rPr>
              <a:t>Task 2 transfer gap (source − target macro-F1)</a:t>
            </a:r>
          </a:p>
        </c:rich>
      </c:tx>
      <c:layout/>
      <c:overlay val="0"/>
    </c:title>
    <c:autoTitleDeleted val="0"/>
    <c:plotArea>
      <c:barChart>
        <c:barDir val="col"/>
        <c:grouping val="clustered"/>
        <c:ser>
          <c:idx val="0"/>
          <c:order val="0"/>
          <c:tx>
            <c:strRef>
              <c:f>Sheet1!$B$1</c:f>
              <c:strCache>
                <c:ptCount val="1"/>
                <c:pt idx="0">
                  <c:v>IndicBERT</c:v>
                </c:pt>
              </c:strCache>
            </c:strRef>
          </c:tx>
          <c:spPr>
            <a:solidFill>
              <a:srgbClr val="164B82"/>
            </a:solidFill>
          </c:spPr>
          <c:invertIfNegative val="0"/>
          <c:cat>
            <c:strRef>
              <c:f>Sheet1!$A$2:$A$10</c:f>
              <c:strCache>
                <c:ptCount val="9"/>
                <c:pt idx="0">
                  <c:v>hin→ben</c:v>
                </c:pt>
                <c:pt idx="1">
                  <c:v>hin→tel</c:v>
                </c:pt>
                <c:pt idx="2">
                  <c:v>hin→mal</c:v>
                </c:pt>
                <c:pt idx="3">
                  <c:v>ben→hin</c:v>
                </c:pt>
                <c:pt idx="4">
                  <c:v>ben→tel</c:v>
                </c:pt>
                <c:pt idx="5">
                  <c:v>ben→mal</c:v>
                </c:pt>
                <c:pt idx="6">
                  <c:v>tel→hin</c:v>
                </c:pt>
                <c:pt idx="7">
                  <c:v>tel→ben</c:v>
                </c:pt>
                <c:pt idx="8">
                  <c:v>tel→mal</c:v>
                </c:pt>
              </c:strCache>
            </c:strRef>
          </c:cat>
          <c:val>
            <c:numRef>
              <c:f>Sheet1!$B$2:$B$10</c:f>
              <c:numCache>
                <c:formatCode>General</c:formatCode>
                <c:ptCount val="9"/>
                <c:pt idx="0">
                  <c:v>0.448</c:v>
                </c:pt>
                <c:pt idx="1">
                  <c:v>0.453</c:v>
                </c:pt>
                <c:pt idx="2">
                  <c:v>0.387</c:v>
                </c:pt>
                <c:pt idx="3">
                  <c:v>0.263</c:v>
                </c:pt>
                <c:pt idx="4">
                  <c:v>0.404</c:v>
                </c:pt>
                <c:pt idx="5">
                  <c:v>0.367</c:v>
                </c:pt>
                <c:pt idx="6">
                  <c:v>0.361</c:v>
                </c:pt>
                <c:pt idx="7">
                  <c:v>0.323</c:v>
                </c:pt>
                <c:pt idx="8">
                  <c:v>0.417</c:v>
                </c:pt>
              </c:numCache>
            </c:numRef>
          </c:val>
        </c:ser>
        <c:ser>
          <c:idx val="1"/>
          <c:order val="1"/>
          <c:tx>
            <c:strRef>
              <c:f>Sheet1!$C$1</c:f>
              <c:strCache>
                <c:ptCount val="1"/>
                <c:pt idx="0">
                  <c:v>mBERT</c:v>
                </c:pt>
              </c:strCache>
            </c:strRef>
          </c:tx>
          <c:spPr>
            <a:solidFill>
              <a:srgbClr val="E4B795"/>
            </a:solidFill>
          </c:spPr>
          <c:invertIfNegative val="0"/>
          <c:cat>
            <c:strRef>
              <c:f>Sheet1!$A$2:$A$10</c:f>
              <c:strCache>
                <c:ptCount val="9"/>
                <c:pt idx="0">
                  <c:v>hin→ben</c:v>
                </c:pt>
                <c:pt idx="1">
                  <c:v>hin→tel</c:v>
                </c:pt>
                <c:pt idx="2">
                  <c:v>hin→mal</c:v>
                </c:pt>
                <c:pt idx="3">
                  <c:v>ben→hin</c:v>
                </c:pt>
                <c:pt idx="4">
                  <c:v>ben→tel</c:v>
                </c:pt>
                <c:pt idx="5">
                  <c:v>ben→mal</c:v>
                </c:pt>
                <c:pt idx="6">
                  <c:v>tel→hin</c:v>
                </c:pt>
                <c:pt idx="7">
                  <c:v>tel→ben</c:v>
                </c:pt>
                <c:pt idx="8">
                  <c:v>tel→mal</c:v>
                </c:pt>
              </c:strCache>
            </c:strRef>
          </c:cat>
          <c:val>
            <c:numRef>
              <c:f>Sheet1!$C$2:$C$10</c:f>
              <c:numCache>
                <c:formatCode>General</c:formatCode>
                <c:ptCount val="9"/>
                <c:pt idx="0">
                  <c:v>0.142</c:v>
                </c:pt>
                <c:pt idx="1">
                  <c:v>0.236</c:v>
                </c:pt>
                <c:pt idx="2">
                  <c:v>0.209</c:v>
                </c:pt>
                <c:pt idx="3">
                  <c:v>0.105</c:v>
                </c:pt>
                <c:pt idx="4">
                  <c:v>0.176</c:v>
                </c:pt>
                <c:pt idx="5">
                  <c:v>0.179</c:v>
                </c:pt>
                <c:pt idx="6">
                  <c:v>0.159</c:v>
                </c:pt>
                <c:pt idx="7">
                  <c:v>0.196</c:v>
                </c:pt>
                <c:pt idx="8">
                  <c:v>0.167</c:v>
                </c:pt>
              </c:numCache>
            </c:numRef>
          </c:val>
        </c:ser>
        <c:dLbls>
          <c:numFmt formatCode="0.00" sourceLinked="0"/>
          <c:txPr>
            <a:bodyPr/>
            <a:lstStyle/>
            <a:p>
              <a:pPr>
                <a:defRPr sz="1356">
                  <a:latin typeface="Calibri"/>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inMax"/>
        </c:scaling>
        <c:delete val="0"/>
        <c:axPos val="b"/>
        <c:majorTickMark val="out"/>
        <c:minorTickMark val="none"/>
        <c:tickLblPos val="nextTo"/>
        <c:spPr>
          <a:ln>
            <a:solidFill>
              <a:srgbClr val="CFDDEC"/>
            </a:solidFill>
          </a:ln>
        </c:spPr>
        <c:txPr>
          <a:bodyPr/>
          <a:lstStyle/>
          <a:p>
            <a:pPr>
              <a:defRPr sz="1456"/>
            </a:pPr>
          </a:p>
        </c:txPr>
        <c:crossAx val="-2113994440"/>
        <c:crosses val="autoZero"/>
        <c:auto val="1"/>
        <c:lblAlgn val="ctr"/>
        <c:lblOffset val="100"/>
        <c:noMultiLvlLbl val="0"/>
      </c:catAx>
      <c:valAx>
        <c:axId val="-2113994440"/>
        <c:scaling>
          <c:max val="0.6"/>
          <c:min val="0.0"/>
        </c:scaling>
        <c:delete val="0"/>
        <c:axPos val="l"/>
        <c:majorGridlines>
          <c:spPr>
            <a:ln>
              <a:solidFill>
                <a:srgbClr val="E1E8F0"/>
              </a:solidFill>
            </a:ln>
          </c:spPr>
        </c:majorGridlines>
        <c:numFmt formatCode="0.00" sourceLinked="0"/>
        <c:majorTickMark val="out"/>
        <c:minorTickMark val="none"/>
        <c:tickLblPos val="nextTo"/>
        <c:spPr>
          <a:ln>
            <a:noFill/>
          </a:ln>
        </c:spPr>
        <c:txPr>
          <a:bodyPr/>
          <a:lstStyle/>
          <a:p>
            <a:pPr>
              <a:defRPr sz="1356">
                <a:solidFill>
                  <a:srgbClr val="8A94A0"/>
                </a:solidFill>
              </a:defRPr>
            </a:pPr>
          </a:p>
        </c:txPr>
        <c:crossAx val="-2068027336"/>
        <c:crosses val="autoZero"/>
        <c:majorUnit val="0.1"/>
      </c:valAx>
    </c:plotArea>
    <c:legend>
      <c:legendPos val="b"/>
      <c:overlay val="0"/>
      <c:txPr>
        <a:bodyPr/>
        <a:lstStyle/>
        <a:p>
          <a:pPr>
            <a:defRPr sz="1456">
              <a:latin typeface="Calibri"/>
            </a:defRPr>
          </a:pPr>
        </a:p>
      </c:txPr>
    </c:legend>
    <c:dispBlanksAs val="gap"/>
  </c:chart>
  <c:txPr>
    <a:bodyPr/>
    <a:lstStyle/>
    <a:p>
      <a:pPr>
        <a:defRPr sz="1456">
          <a:solidFill>
            <a:srgbClr val="343434"/>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68" b="1">
                <a:solidFill>
                  <a:srgbClr val="164B82"/>
                </a:solidFill>
                <a:latin typeface="Calibri"/>
              </a:rPr>
              <a:t>Mean task 2 transfer gap</a:t>
            </a:r>
          </a:p>
        </c:rich>
      </c:tx>
      <c:layout/>
      <c:overlay val="0"/>
    </c:title>
    <c:autoTitleDeleted val="0"/>
    <c:plotArea>
      <c:barChart>
        <c:barDir val="col"/>
        <c:grouping val="clustered"/>
        <c:ser>
          <c:idx val="0"/>
          <c:order val="0"/>
          <c:tx>
            <c:strRef>
              <c:f>Sheet1!$B$1</c:f>
              <c:strCache>
                <c:ptCount val="1"/>
                <c:pt idx="0">
                  <c:v>IndicBERT</c:v>
                </c:pt>
              </c:strCache>
            </c:strRef>
          </c:tx>
          <c:spPr>
            <a:solidFill>
              <a:srgbClr val="164B82"/>
            </a:solidFill>
          </c:spPr>
          <c:invertIfNegative val="0"/>
          <c:cat>
            <c:strRef>
              <c:f>Sheet1!$A$2:$A$6</c:f>
              <c:strCache>
                <c:ptCount val="5"/>
                <c:pt idx="0">
                  <c:v>Source: Bengali</c:v>
                </c:pt>
                <c:pt idx="1">
                  <c:v>Source: Telugu</c:v>
                </c:pt>
                <c:pt idx="2">
                  <c:v>Source: Hindi</c:v>
                </c:pt>
                <c:pt idx="3">
                  <c:v>Target: Indo-Aryan</c:v>
                </c:pt>
                <c:pt idx="4">
                  <c:v>Target: Dravidian</c:v>
                </c:pt>
              </c:strCache>
            </c:strRef>
          </c:cat>
          <c:val>
            <c:numRef>
              <c:f>Sheet1!$B$2:$B$6</c:f>
              <c:numCache>
                <c:formatCode>General</c:formatCode>
                <c:ptCount val="5"/>
                <c:pt idx="0">
                  <c:v>0.345</c:v>
                </c:pt>
                <c:pt idx="1">
                  <c:v>0.367</c:v>
                </c:pt>
                <c:pt idx="2">
                  <c:v>0.429</c:v>
                </c:pt>
                <c:pt idx="3">
                  <c:v>0.349</c:v>
                </c:pt>
                <c:pt idx="4">
                  <c:v>0.406</c:v>
                </c:pt>
              </c:numCache>
            </c:numRef>
          </c:val>
        </c:ser>
        <c:ser>
          <c:idx val="1"/>
          <c:order val="1"/>
          <c:tx>
            <c:strRef>
              <c:f>Sheet1!$C$1</c:f>
              <c:strCache>
                <c:ptCount val="1"/>
                <c:pt idx="0">
                  <c:v>mBERT</c:v>
                </c:pt>
              </c:strCache>
            </c:strRef>
          </c:tx>
          <c:spPr>
            <a:solidFill>
              <a:srgbClr val="E4B795"/>
            </a:solidFill>
          </c:spPr>
          <c:invertIfNegative val="0"/>
          <c:cat>
            <c:strRef>
              <c:f>Sheet1!$A$2:$A$6</c:f>
              <c:strCache>
                <c:ptCount val="5"/>
                <c:pt idx="0">
                  <c:v>Source: Bengali</c:v>
                </c:pt>
                <c:pt idx="1">
                  <c:v>Source: Telugu</c:v>
                </c:pt>
                <c:pt idx="2">
                  <c:v>Source: Hindi</c:v>
                </c:pt>
                <c:pt idx="3">
                  <c:v>Target: Indo-Aryan</c:v>
                </c:pt>
                <c:pt idx="4">
                  <c:v>Target: Dravidian</c:v>
                </c:pt>
              </c:strCache>
            </c:strRef>
          </c:cat>
          <c:val>
            <c:numRef>
              <c:f>Sheet1!$C$2:$C$6</c:f>
              <c:numCache>
                <c:formatCode>General</c:formatCode>
                <c:ptCount val="5"/>
                <c:pt idx="0">
                  <c:v>0.153</c:v>
                </c:pt>
                <c:pt idx="1">
                  <c:v>0.174</c:v>
                </c:pt>
                <c:pt idx="2">
                  <c:v>0.196</c:v>
                </c:pt>
                <c:pt idx="3">
                  <c:v>0.151</c:v>
                </c:pt>
                <c:pt idx="4">
                  <c:v>0.194</c:v>
                </c:pt>
              </c:numCache>
            </c:numRef>
          </c:val>
        </c:ser>
        <c:dLbls>
          <c:numFmt formatCode="0.00" sourceLinked="0"/>
          <c:txPr>
            <a:bodyPr/>
            <a:lstStyle/>
            <a:p>
              <a:pPr>
                <a:defRPr sz="1468">
                  <a:latin typeface="Calibri"/>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inMax"/>
        </c:scaling>
        <c:delete val="0"/>
        <c:axPos val="b"/>
        <c:majorTickMark val="out"/>
        <c:minorTickMark val="none"/>
        <c:tickLblPos val="nextTo"/>
        <c:spPr>
          <a:ln>
            <a:solidFill>
              <a:srgbClr val="CFDDEC"/>
            </a:solidFill>
          </a:ln>
        </c:spPr>
        <c:txPr>
          <a:bodyPr/>
          <a:lstStyle/>
          <a:p>
            <a:pPr>
              <a:defRPr sz="1568"/>
            </a:pPr>
          </a:p>
        </c:txPr>
        <c:crossAx val="-2113994440"/>
        <c:crosses val="autoZero"/>
        <c:auto val="1"/>
        <c:lblAlgn val="ctr"/>
        <c:lblOffset val="100"/>
        <c:noMultiLvlLbl val="0"/>
      </c:catAx>
      <c:valAx>
        <c:axId val="-2113994440"/>
        <c:scaling>
          <c:max val="0.5"/>
          <c:min val="0.0"/>
        </c:scaling>
        <c:delete val="0"/>
        <c:axPos val="l"/>
        <c:majorGridlines>
          <c:spPr>
            <a:ln>
              <a:solidFill>
                <a:srgbClr val="E1E8F0"/>
              </a:solidFill>
            </a:ln>
          </c:spPr>
        </c:majorGridlines>
        <c:numFmt formatCode="0.00" sourceLinked="0"/>
        <c:majorTickMark val="out"/>
        <c:minorTickMark val="none"/>
        <c:tickLblPos val="nextTo"/>
        <c:spPr>
          <a:ln>
            <a:noFill/>
          </a:ln>
        </c:spPr>
        <c:txPr>
          <a:bodyPr/>
          <a:lstStyle/>
          <a:p>
            <a:pPr>
              <a:defRPr sz="1468">
                <a:solidFill>
                  <a:srgbClr val="8A94A0"/>
                </a:solidFill>
              </a:defRPr>
            </a:pPr>
          </a:p>
        </c:txPr>
        <c:crossAx val="-2068027336"/>
        <c:crosses val="autoZero"/>
        <c:majorUnit val="0.1"/>
      </c:valAx>
    </c:plotArea>
    <c:legend>
      <c:legendPos val="b"/>
      <c:overlay val="0"/>
      <c:txPr>
        <a:bodyPr/>
        <a:lstStyle/>
        <a:p>
          <a:pPr>
            <a:defRPr sz="1568">
              <a:latin typeface="Calibri"/>
            </a:defRPr>
          </a:pPr>
        </a:p>
      </c:txPr>
    </c:legend>
    <c:dispBlanksAs val="gap"/>
  </c:chart>
  <c:txPr>
    <a:bodyPr/>
    <a:lstStyle/>
    <a:p>
      <a:pPr>
        <a:defRPr sz="1568">
          <a:solidFill>
            <a:srgbClr val="343434"/>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68" b="1">
                <a:solidFill>
                  <a:srgbClr val="164B82"/>
                </a:solidFill>
                <a:latin typeface="Calibri"/>
              </a:rPr>
              <a:t>Share of failures by label group (%)</a:t>
            </a:r>
          </a:p>
        </c:rich>
      </c:tx>
      <c:layout/>
      <c:overlay val="0"/>
    </c:title>
    <c:autoTitleDeleted val="0"/>
    <c:plotArea>
      <c:barChart>
        <c:barDir val="bar"/>
        <c:grouping val="percentStacked"/>
        <c:ser>
          <c:idx val="0"/>
          <c:order val="0"/>
          <c:tx>
            <c:strRef>
              <c:f>Sheet1!$B$1</c:f>
              <c:strCache>
                <c:ptCount val="1"/>
                <c:pt idx="0">
                  <c:v>Linguistic</c:v>
                </c:pt>
              </c:strCache>
            </c:strRef>
          </c:tx>
          <c:spPr>
            <a:solidFill>
              <a:srgbClr val="164B82"/>
            </a:solidFill>
          </c:spPr>
          <c:invertIfNegative val="0"/>
          <c:dLbls>
            <c:numFmt formatCode="0.0" sourceLinked="0"/>
            <c:txPr>
              <a:bodyPr/>
              <a:lstStyle/>
              <a:p>
                <a:pPr>
                  <a:defRPr sz="1468"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Task 2 · IndicBERT</c:v>
                </c:pt>
                <c:pt idx="1">
                  <c:v>Task 2 · mBERT</c:v>
                </c:pt>
                <c:pt idx="2">
                  <c:v>Task 3 · IndicBERT</c:v>
                </c:pt>
                <c:pt idx="3">
                  <c:v>Task 3 · mBERT</c:v>
                </c:pt>
              </c:strCache>
            </c:strRef>
          </c:cat>
          <c:val>
            <c:numRef>
              <c:f>Sheet1!$B$2:$B$5</c:f>
              <c:numCache>
                <c:formatCode>General</c:formatCode>
                <c:ptCount val="4"/>
                <c:pt idx="0">
                  <c:v>12.0</c:v>
                </c:pt>
                <c:pt idx="1">
                  <c:v>11.3</c:v>
                </c:pt>
                <c:pt idx="2">
                  <c:v>8.8</c:v>
                </c:pt>
                <c:pt idx="3">
                  <c:v>9.4</c:v>
                </c:pt>
              </c:numCache>
            </c:numRef>
          </c:val>
        </c:ser>
        <c:ser>
          <c:idx val="1"/>
          <c:order val="1"/>
          <c:tx>
            <c:strRef>
              <c:f>Sheet1!$C$1</c:f>
              <c:strCache>
                <c:ptCount val="1"/>
                <c:pt idx="0">
                  <c:v>Data</c:v>
                </c:pt>
              </c:strCache>
            </c:strRef>
          </c:tx>
          <c:spPr>
            <a:solidFill>
              <a:srgbClr val="699ACD"/>
            </a:solidFill>
          </c:spPr>
          <c:invertIfNegative val="0"/>
          <c:dLbls>
            <c:numFmt formatCode="0.0" sourceLinked="0"/>
            <c:txPr>
              <a:bodyPr/>
              <a:lstStyle/>
              <a:p>
                <a:pPr>
                  <a:defRPr sz="1468" b="1">
                    <a:solidFill>
                      <a:srgbClr val="343434"/>
                    </a:solidFill>
                    <a:latin typeface="Calibri"/>
                  </a:defRPr>
                </a:pPr>
              </a:p>
            </c:txPr>
            <c:dLblPos val="ctr"/>
            <c:showLegendKey val="0"/>
            <c:showVal val="1"/>
            <c:showCatName val="0"/>
            <c:showSerName val="0"/>
            <c:showPercent val="0"/>
            <c:showBubbleSize val="0"/>
            <c:showLeaderLines val="1"/>
          </c:dLbls>
          <c:cat>
            <c:strRef>
              <c:f>Sheet1!$A$2:$A$5</c:f>
              <c:strCache>
                <c:ptCount val="4"/>
                <c:pt idx="0">
                  <c:v>Task 2 · IndicBERT</c:v>
                </c:pt>
                <c:pt idx="1">
                  <c:v>Task 2 · mBERT</c:v>
                </c:pt>
                <c:pt idx="2">
                  <c:v>Task 3 · IndicBERT</c:v>
                </c:pt>
                <c:pt idx="3">
                  <c:v>Task 3 · mBERT</c:v>
                </c:pt>
              </c:strCache>
            </c:strRef>
          </c:cat>
          <c:val>
            <c:numRef>
              <c:f>Sheet1!$C$2:$C$5</c:f>
              <c:numCache>
                <c:formatCode>General</c:formatCode>
                <c:ptCount val="4"/>
                <c:pt idx="0">
                  <c:v>44.6</c:v>
                </c:pt>
                <c:pt idx="1">
                  <c:v>48.3</c:v>
                </c:pt>
                <c:pt idx="2">
                  <c:v>72.2</c:v>
                </c:pt>
                <c:pt idx="3">
                  <c:v>64.9</c:v>
                </c:pt>
              </c:numCache>
            </c:numRef>
          </c:val>
        </c:ser>
        <c:ser>
          <c:idx val="2"/>
          <c:order val="2"/>
          <c:tx>
            <c:strRef>
              <c:f>Sheet1!$D$1</c:f>
              <c:strCache>
                <c:ptCount val="1"/>
                <c:pt idx="0">
                  <c:v>Model</c:v>
                </c:pt>
              </c:strCache>
            </c:strRef>
          </c:tx>
          <c:spPr>
            <a:solidFill>
              <a:srgbClr val="E4B795"/>
            </a:solidFill>
          </c:spPr>
          <c:invertIfNegative val="0"/>
          <c:dLbls>
            <c:numFmt formatCode="0.0" sourceLinked="0"/>
            <c:txPr>
              <a:bodyPr/>
              <a:lstStyle/>
              <a:p>
                <a:pPr>
                  <a:defRPr sz="1468" b="1">
                    <a:solidFill>
                      <a:srgbClr val="343434"/>
                    </a:solidFill>
                    <a:latin typeface="Calibri"/>
                  </a:defRPr>
                </a:pPr>
              </a:p>
            </c:txPr>
            <c:dLblPos val="ctr"/>
            <c:showLegendKey val="0"/>
            <c:showVal val="1"/>
            <c:showCatName val="0"/>
            <c:showSerName val="0"/>
            <c:showPercent val="0"/>
            <c:showBubbleSize val="0"/>
            <c:showLeaderLines val="1"/>
          </c:dLbls>
          <c:cat>
            <c:strRef>
              <c:f>Sheet1!$A$2:$A$5</c:f>
              <c:strCache>
                <c:ptCount val="4"/>
                <c:pt idx="0">
                  <c:v>Task 2 · IndicBERT</c:v>
                </c:pt>
                <c:pt idx="1">
                  <c:v>Task 2 · mBERT</c:v>
                </c:pt>
                <c:pt idx="2">
                  <c:v>Task 3 · IndicBERT</c:v>
                </c:pt>
                <c:pt idx="3">
                  <c:v>Task 3 · mBERT</c:v>
                </c:pt>
              </c:strCache>
            </c:strRef>
          </c:cat>
          <c:val>
            <c:numRef>
              <c:f>Sheet1!$D$2:$D$5</c:f>
              <c:numCache>
                <c:formatCode>General</c:formatCode>
                <c:ptCount val="4"/>
                <c:pt idx="0">
                  <c:v>34.2</c:v>
                </c:pt>
                <c:pt idx="1">
                  <c:v>20.8</c:v>
                </c:pt>
                <c:pt idx="2">
                  <c:v>7.1</c:v>
                </c:pt>
                <c:pt idx="3">
                  <c:v>11.2</c:v>
                </c:pt>
              </c:numCache>
            </c:numRef>
          </c:val>
        </c:ser>
        <c:ser>
          <c:idx val="3"/>
          <c:order val="3"/>
          <c:tx>
            <c:strRef>
              <c:f>Sheet1!$E$1</c:f>
              <c:strCache>
                <c:ptCount val="1"/>
                <c:pt idx="0">
                  <c:v>Unattributed</c:v>
                </c:pt>
              </c:strCache>
            </c:strRef>
          </c:tx>
          <c:spPr>
            <a:solidFill>
              <a:srgbClr val="8A94A0"/>
            </a:solidFill>
          </c:spPr>
          <c:invertIfNegative val="0"/>
          <c:dLbls>
            <c:numFmt formatCode="0.0" sourceLinked="0"/>
            <c:txPr>
              <a:bodyPr/>
              <a:lstStyle/>
              <a:p>
                <a:pPr>
                  <a:defRPr sz="1468"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Task 2 · IndicBERT</c:v>
                </c:pt>
                <c:pt idx="1">
                  <c:v>Task 2 · mBERT</c:v>
                </c:pt>
                <c:pt idx="2">
                  <c:v>Task 3 · IndicBERT</c:v>
                </c:pt>
                <c:pt idx="3">
                  <c:v>Task 3 · mBERT</c:v>
                </c:pt>
              </c:strCache>
            </c:strRef>
          </c:cat>
          <c:val>
            <c:numRef>
              <c:f>Sheet1!$E$2:$E$5</c:f>
              <c:numCache>
                <c:formatCode>General</c:formatCode>
                <c:ptCount val="4"/>
                <c:pt idx="0">
                  <c:v>9.2</c:v>
                </c:pt>
                <c:pt idx="1">
                  <c:v>19.7</c:v>
                </c:pt>
                <c:pt idx="2">
                  <c:v>11.8</c:v>
                </c:pt>
                <c:pt idx="3">
                  <c:v>14.4</c:v>
                </c:pt>
              </c:numCache>
            </c:numRef>
          </c:val>
        </c:ser>
        <c:dLbls>
          <c:numFmt formatCode="0.0" sourceLinked="0"/>
          <c:txPr>
            <a:bodyPr/>
            <a:lstStyle/>
            <a:p>
              <a:pPr>
                <a:defRPr sz="1468">
                  <a:solidFill>
                    <a:srgbClr val="FFFFFF"/>
                  </a:solidFill>
                  <a:latin typeface="Calibri"/>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CFDDEC"/>
            </a:solidFill>
          </a:ln>
        </c:spPr>
        <c:txPr>
          <a:bodyPr/>
          <a:lstStyle/>
          <a:p>
            <a:pPr>
              <a:defRPr sz="1568"/>
            </a:pPr>
          </a:p>
        </c:txPr>
        <c:crossAx val="-2113994440"/>
        <c:crosses val="autoZero"/>
        <c:auto val="1"/>
        <c:lblAlgn val="ctr"/>
        <c:lblOffset val="100"/>
        <c:noMultiLvlLbl val="0"/>
      </c:catAx>
      <c:valAx>
        <c:axId val="-2113994440"/>
        <c:scaling>
          <c:min val="0.0"/>
        </c:scaling>
        <c:delete val="0"/>
        <c:axPos val="b"/>
        <c:majorGridlines>
          <c:spPr>
            <a:ln>
              <a:solidFill>
                <a:srgbClr val="E1E8F0"/>
              </a:solidFill>
            </a:ln>
          </c:spPr>
        </c:majorGridlines>
        <c:numFmt formatCode="0%" sourceLinked="0"/>
        <c:majorTickMark val="out"/>
        <c:minorTickMark val="none"/>
        <c:tickLblPos val="nextTo"/>
        <c:spPr>
          <a:ln>
            <a:noFill/>
          </a:ln>
        </c:spPr>
        <c:txPr>
          <a:bodyPr/>
          <a:lstStyle/>
          <a:p>
            <a:pPr>
              <a:defRPr sz="1468">
                <a:solidFill>
                  <a:srgbClr val="8A94A0"/>
                </a:solidFill>
              </a:defRPr>
            </a:pPr>
          </a:p>
        </c:txPr>
        <c:crossAx val="-2068027336"/>
        <c:crosses val="autoZero"/>
      </c:valAx>
    </c:plotArea>
    <c:legend>
      <c:legendPos val="b"/>
      <c:overlay val="0"/>
      <c:txPr>
        <a:bodyPr/>
        <a:lstStyle/>
        <a:p>
          <a:pPr>
            <a:defRPr sz="1568">
              <a:latin typeface="Calibri"/>
            </a:defRPr>
          </a:pPr>
        </a:p>
      </c:txPr>
    </c:legend>
    <c:dispBlanksAs val="gap"/>
  </c:chart>
  <c:txPr>
    <a:bodyPr/>
    <a:lstStyle/>
    <a:p>
      <a:pPr>
        <a:defRPr sz="1568">
          <a:solidFill>
            <a:srgbClr val="34343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presenting our BCSE497J Project I: Cross-Linguistic Transfer Diagnostics for Low-Resource Financial NLP in Indic Languages, under the guidance of Dr. Manikandan P. The project asks one question: when a language model learns a financial task in one Indian language, how much of that knowledge survives in another, and why is the rest lost? We will walk through the project phase by phase: what we built, then what it showed, for each of the seven phases.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 summarise: a frozen four-language financial corpus with its quality measured, a transfer study across three source languages and two encoders, and a diagnostic router that sized the gap and left its mechanism open.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language technology is built mostly for English, yet Indian banks, regulators and analysts read reports and news in Indic languages. Labelled financial data in those languages is scarce, so the tempting shortcut is zero-shot transfer: train on one language, apply to another. That works on general benchmarks but degrades for distant languages [19]. IndicFinNLP [12] gives only single-language baselines, so nobody has measured transfer on finance. Finance is also harder: lakh and crore numerals, currency, and terminology must survive. Our research question is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set three objectives. First, build a controlled corpus in which language is the only thing that changes. Second, measure zero-shot transfer across every source and target pair, on two encoders. Third, diagnose why transfer fails by giving each failure one cause. Scope: the two classification tasks of IndicFinNLP, sustainability and ESG theme, four languages, two encoders and nine translation directions. We did not do few-shot or translate-train, and XLM-R could not be fine-tuned on our 4 GB GPU. Malayalam has no native text, so it exists only as machine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reviewed twenty-eight studies in four groups; this table shows the ones that shape the design. IndicFinNLP [12] is our data source, but it was built for single-language baselines. MultiFin [15] and ML-ESG [6] cover finance and ESG, but not Indic languages. IndicXTREME and IndicXNLI [9], [1] give parallel Indic benchmarks, but not for finance. Transfer studies [13], [19], [26], [22] report gaps in aggregate and rarely link them to content. And Agrawal et al. [2] warn that machine-translated benchmarks can measure translation quality instead of transfer. Our work closes these gaps together.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is a seven-phase pipeline, and each phase hands a frozen artefact to the next. Phase 1 builds and freezes the four-language corpus. Phase 2 trains the classifiers. Phase 3 measures zero-shot transfer. Phases 4 and 5 compare source languages and encoders. Phase 6 gives every failure one cause, and Phase 7 adds the causes up into findings. Three rules apply everywhere: never drop a row, flag it instead; every script is seeded and every artefact records its configuration hash; and a later phase never edits an earlier artefact.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IndicFinNLP [12]. We use two of its tasks. Task 2 is sustainability, a binary classification with about 2,000 sentences per language. Task 3 is ESG theme, ten classes over 532 headlines per language. Malayalam has no native data, so it exists only as machine translation. Translation uses the IndicTrans2 1B model [11], similarity uses LaBSE [10], and the two encoders are IndicBERT [17] and multilingual BERT [26]. Everything is stored as Parquet, because Indic scripts break under CSV, and everything runs on one 4 GB laptop GPU.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has six steps. The audit checks whether the three native splits are independent, and it found that the sustainability and ESG splits already contain the same items in every language. So we align items: task 3 by a URL join, task 2 by three-way mutual nearest neighbours. Then content-derived IDs and a Parquet-only layer, direct IndicTrans2 translation with one frozen decoding config for all nine directions, three quality gates, and a frozen checksummed release. Running on a 4 GB card exposed four defects, shown at the bottom. Each could have silently corrupted the corpus, so each got a fix and a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delivered 24,402 machine-translated rows: 19,614 for task 2 and 4,788 for task 3. Every block joins four ways, no translated label differs from its source, and no translation came back empty. The left table lists the non-blocking findings; all are small, and flagged rows stay in the corpus. The right table shows how we set the similarity threshold. Human translations of the same items exist, so we can test τ on them. At 0.82 it rejects no human pair on task 2 but rejects 23.4 percent on task 3, because headlines are shorter. So task 3 uses 0.73.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charts show every direction. On the left is the share of numerals, currency symbols and percentages that were preserved. The bar is 95 percent, and only two of the eighteen direction-and-task cells reach it: Hindi to Bengali on task 2 and Bengali to Hindi on task 3. The weakest direction in both tasks is Hindi to Malayalam. On the right is the median LaBSE similarity, which tells the same story: Malayalam targets score lowest. Translating into a Dravidian language also drifts more than translating back into an Indo-Aryan one, 3.1 against 0.5 percent on task 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trains the classifiers. Every model is a pre-trained encoder, a linear head on the CLS vector and cross-entropy loss. The head is deliberately minimal, so any difference is due to the encoder or language. Each run is described by a hashed YAML file, so adding a language or an encoder is a configuration change. Training uses native human text only, three seeds each, and every model must match the published IndicFinNLP score within 0.02 before we read any transfer result. A memory budget showed XLM-R needs 4.14 GiB just for weights and optimiser state, against 3.68 usable, so it was excluded.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transfer result, each source model had to match the published in-language score. The chart shows task 2 macro-F1. Our IndicBERT scores are 0.823, 0.820 and 0.819 against published 0.86, 0.80 and 0.79 [12]. Five of six IndicBERT baselines meet or beat the published number. The exception is task 2 Hindi, 3.7 points low, which passed the gate only with a written diagnosis. mBERT is higher everywhere. On task 3 the published figure of 0.05 is a one-class predictor, so beating it only shows the models do better than that. Three of nine task 3 IndicBERT runs never trained.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is the zero-shot evaluation. Each task has twenty-one conditions: nine transfer cells evaluated on native text, nine on machine-translated targets, and three translationese conditions that change only where the text comes from. Checkpoints are loaded read-only and the code asserts that no optimiser and no gradient step exist. Items are split by a seeded hash so training and evaluation items never overlap, even though the languages share content. Phase 4 added Bengali and Telugu as sources with configuration only. Phase 5 repeats the grid on mBERT. All 126 planned results per task were completed.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transfer gap is the source model's score on its own language minus its score on the target language, on the same items. On task 2 it is 0.26 to 0.45 for IndicBERT and only 0.11 to 0.24 for mBERT. On task 3 it is 0.46 to 0.56 in every cell, so transfer costs about half the score on both encoders. Is that our translation? No. Evaluating Hindi-source IndicBERT on machine-translated targets gives gaps of 0.38 to 0.47, and on native human-written targets 0.39 to 0.45. If translation damage drove the gap, native text would score much better. It does not. Note the in-language ceiling uses training text, so these gaps measure the cost of changing language.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asks which source language transfers best. Hindi, the language with the most resources, has the largest mean gap on both encoders: 0.429 and 0.196, against 0.345 and 0.153 for Bengali. The three source models are equally good at home, so this is about transfer. The cost is mostly in the target: into a Dravidian language the gap is larger, 0.406 against 0.349 for IndicBERT. And it is not symmetric: Hindi to Bengali loses 0.448, Bengali to Hindi only 0.263. Phase 5: mBERT beats IndicBERT in all twelve Hindi-source cells, by 0.15 to 0.37. Tokenisation does not explain it, since IndicBERT uses fewer tokens and still loses. XLM-R could settle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transfer failure is an item the model got right in its source language and wrong in the target, with the same seed. Each failure gets exactly one cause from an ordered router. Stage 1 is a semantic gate: if LaBSE similarity is below τ, the failure is translation drift and we stop, so our own translation noise is never blamed on the model. Stage 2 has three linguistic modules, tokenizer fragmentation, morphological masking and terminology gap through Integrated Gradients [31]. Stage 3 describes the item or the model. Phase 7 then counts labels per group with bootstrap intervals, under a finding rule fixed before any result was read.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router labelled every failure in all seventy-two conditions. Linguistic causes account for only 8.8 to 12.0 percent of failures. Most failures carry data or model labels, which describe where a failure occurs, for example in every target language or under a collapsed classifier, and not why. Two linguistic modules, masking and terminology gap, predict failure no better than chance, with AUC between 0.48 and 0.52, and tokenizer fragmentation almost never fires. Of 228 group comparisons, 22 met the finding rule and 11 of those are caveated. A hand check of 200 labels agreed in 197 cases. So the size and shape of the gap are firm; the mechanism is open.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let a reader explore the results without a GPU, we built a read-only Streamlit dashboard. It has three pages. The transfer page shows a heatmap of transfer gaps for each encoder. The causes page shows what each setup's failures are made of, for native or machine-translated test text. The explorer shows one failed sentence at a time, with both texts, every seed's prediction, the cause label and the checks that led to it. It only reads saved artefacts and loads no model.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limits matter. There is no native Malayalam, so every Malayalam result mixes transfer difficulty with translation quality. Human verification covers a sample of 180 rows per task, signed off by the project maintainer, and is not an audit by native speakers. LaBSE rewards literal wording, so drift rates are relative. Training and evaluation share content across languages by design, so gaps are not generalisation to unseen sentences. And XLM-R could not run on 4 GB. On the right is how to read the results: the gap's size and shape are reliable, but our diagnostic labels describe where failures occur, not why.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built and froze a controlled four-language financial corpus of 24,402 translated rows, each kept and flagged. Zero-shot transfer costs 0.26 to 0.45 macro-F1 for IndicBERT and 0.11 to 0.24 for mBERT on sustainability, and this is not an artefact of our translations. Hindi is the worst source, and moving into a Dravidian language costs more. The diagnostic router sized the gap but left its mechanism open. Future work: run XLM-R against mBERT on larger hardware, get native-speaker review and a native Malayalam test set, redesign the morphology and terminology modules, try few-shot and translate-train recovery, and add more Indian languages.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references from the report, numbered as in the report's reference list. Every citation in square brackets on the previous slides refers to this list.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continued. The full list of thirty-two works matches the report.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7.xml"/><Relationship Id="rId5" Type="http://schemas.openxmlformats.org/officeDocument/2006/relationships/chart" Target="../charts/chart4.xml"/><Relationship Id="rId6" Type="http://schemas.openxmlformats.org/officeDocument/2006/relationships/chart" Target="../charts/char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9.xml"/><Relationship Id="rId5" Type="http://schemas.openxmlformats.org/officeDocument/2006/relationships/chart" Target="../charts/char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1.xml"/><Relationship Id="rId5" Type="http://schemas.openxmlformats.org/officeDocument/2006/relationships/chart" Target="../charts/char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2.xml"/><Relationship Id="rId5" Type="http://schemas.openxmlformats.org/officeDocument/2006/relationships/chart" Target="../charts/char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4.xml"/><Relationship Id="rId5" Type="http://schemas.openxmlformats.org/officeDocument/2006/relationships/chart" Target="../charts/char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5.xml"/><Relationship Id="rId5" Type="http://schemas.openxmlformats.org/officeDocument/2006/relationships/image" Target="../media/image4.png"/><Relationship Id="rId6"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9.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07862">
            <a:off x="6110388" y="5304279"/>
            <a:ext cx="15048401" cy="6376760"/>
          </a:xfrm>
          <a:custGeom>
            <a:avLst/>
            <a:gdLst/>
            <a:ahLst/>
            <a:cxnLst/>
            <a:rect r="r" b="b" t="t" l="l"/>
            <a:pathLst>
              <a:path h="6376760" w="15048401">
                <a:moveTo>
                  <a:pt x="0" y="0"/>
                </a:moveTo>
                <a:lnTo>
                  <a:pt x="15048401" y="0"/>
                </a:lnTo>
                <a:lnTo>
                  <a:pt x="15048401" y="6376760"/>
                </a:lnTo>
                <a:lnTo>
                  <a:pt x="0" y="6376760"/>
                </a:lnTo>
                <a:lnTo>
                  <a:pt x="0" y="0"/>
                </a:lnTo>
                <a:close/>
              </a:path>
            </a:pathLst>
          </a:custGeom>
          <a:blipFill>
            <a:blip r:embed="rId2"/>
            <a:stretch>
              <a:fillRect l="0" t="0" r="0" b="0"/>
            </a:stretch>
          </a:blipFill>
        </p:spPr>
      </p:sp>
      <p:grpSp>
        <p:nvGrpSpPr>
          <p:cNvPr name="Group 3" id="3"/>
          <p:cNvGrpSpPr/>
          <p:nvPr/>
        </p:nvGrpSpPr>
        <p:grpSpPr>
          <a:xfrm rot="0">
            <a:off x="-332478" y="7009521"/>
            <a:ext cx="9637365" cy="212578"/>
            <a:chOff x="0" y="0"/>
            <a:chExt cx="2538236" cy="55988"/>
          </a:xfrm>
        </p:grpSpPr>
        <p:sp>
          <p:nvSpPr>
            <p:cNvPr name="Freeform 4" id="4"/>
            <p:cNvSpPr/>
            <p:nvPr/>
          </p:nvSpPr>
          <p:spPr>
            <a:xfrm flipH="false" flipV="false" rot="0">
              <a:off x="0" y="0"/>
              <a:ext cx="2538236" cy="55988"/>
            </a:xfrm>
            <a:custGeom>
              <a:avLst/>
              <a:gdLst/>
              <a:ahLst/>
              <a:cxnLst/>
              <a:rect r="r" b="b" t="t" l="l"/>
              <a:pathLst>
                <a:path h="55988" w="2538236">
                  <a:moveTo>
                    <a:pt x="0" y="0"/>
                  </a:moveTo>
                  <a:lnTo>
                    <a:pt x="2538236" y="0"/>
                  </a:lnTo>
                  <a:lnTo>
                    <a:pt x="2538236" y="55988"/>
                  </a:lnTo>
                  <a:lnTo>
                    <a:pt x="0" y="559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5" id="5"/>
            <p:cNvSpPr txBox="true"/>
            <p:nvPr/>
          </p:nvSpPr>
          <p:spPr>
            <a:xfrm>
              <a:off x="0" y="-57150"/>
              <a:ext cx="2538236" cy="11313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true" rot="0">
            <a:off x="-641393" y="-1165054"/>
            <a:ext cx="6732105" cy="4030848"/>
          </a:xfrm>
          <a:custGeom>
            <a:avLst/>
            <a:gdLst/>
            <a:ahLst/>
            <a:cxnLst/>
            <a:rect r="r" b="b" t="t" l="l"/>
            <a:pathLst>
              <a:path h="4030848" w="6732105">
                <a:moveTo>
                  <a:pt x="0" y="4030848"/>
                </a:moveTo>
                <a:lnTo>
                  <a:pt x="6732105" y="4030848"/>
                </a:lnTo>
                <a:lnTo>
                  <a:pt x="6732105" y="0"/>
                </a:lnTo>
                <a:lnTo>
                  <a:pt x="0" y="0"/>
                </a:lnTo>
                <a:lnTo>
                  <a:pt x="0" y="4030848"/>
                </a:lnTo>
                <a:close/>
              </a:path>
            </a:pathLst>
          </a:custGeom>
          <a:blipFill>
            <a:blip r:embed="rId3"/>
            <a:stretch>
              <a:fillRect l="0" t="0" r="0" b="0"/>
            </a:stretch>
          </a:blipFill>
        </p:spPr>
      </p:sp>
      <p:sp>
        <p:nvSpPr>
          <p:cNvPr name="TextBox 11" id="11"/>
          <p:cNvSpPr txBox="true"/>
          <p:nvPr/>
        </p:nvSpPr>
        <p:spPr>
          <a:xfrm rot="0">
            <a:off x="8704575" y="783695"/>
            <a:ext cx="3001947"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VIT Chennai</a:t>
            </a:r>
          </a:p>
        </p:txBody>
      </p:sp>
      <p:sp>
        <p:nvSpPr>
          <p:cNvPr name="TextBox 12" id="12"/>
          <p:cNvSpPr txBox="true"/>
          <p:nvPr/>
        </p:nvSpPr>
        <p:spPr>
          <a:xfrm rot="0">
            <a:off x="15067703" y="783695"/>
            <a:ext cx="2191597"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2026</a:t>
            </a:r>
          </a:p>
        </p:txBody>
      </p:sp>
      <p:sp>
        <p:nvSpPr>
          <p:cNvPr name="TextBox 13" id="13"/>
          <p:cNvSpPr txBox="true"/>
          <p:nvPr/>
        </p:nvSpPr>
        <p:spPr>
          <a:xfrm rot="0">
            <a:off x="12346639" y="783695"/>
            <a:ext cx="2191597"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BCSE497J</a:t>
            </a:r>
          </a:p>
        </p:txBody>
      </p:sp>
      <p:grpSp>
        <p:nvGrpSpPr>
          <p:cNvPr name="Group 14" id="14"/>
          <p:cNvGrpSpPr/>
          <p:nvPr/>
        </p:nvGrpSpPr>
        <p:grpSpPr>
          <a:xfrm rot="5400000">
            <a:off x="12742276" y="-5341984"/>
            <a:ext cx="643045" cy="12669823"/>
            <a:chOff x="0" y="0"/>
            <a:chExt cx="169362" cy="3336908"/>
          </a:xfrm>
        </p:grpSpPr>
        <p:sp>
          <p:nvSpPr>
            <p:cNvPr name="Freeform 15" id="15"/>
            <p:cNvSpPr/>
            <p:nvPr/>
          </p:nvSpPr>
          <p:spPr>
            <a:xfrm flipH="false" flipV="false" rot="0">
              <a:off x="0" y="0"/>
              <a:ext cx="169362" cy="3336908"/>
            </a:xfrm>
            <a:custGeom>
              <a:avLst/>
              <a:gdLst/>
              <a:ahLst/>
              <a:cxnLst/>
              <a:rect r="r" b="b" t="t" l="l"/>
              <a:pathLst>
                <a:path h="3336908" w="169362">
                  <a:moveTo>
                    <a:pt x="84681" y="0"/>
                  </a:moveTo>
                  <a:lnTo>
                    <a:pt x="84681" y="0"/>
                  </a:lnTo>
                  <a:cubicBezTo>
                    <a:pt x="107140" y="0"/>
                    <a:pt x="128678" y="8922"/>
                    <a:pt x="144559" y="24802"/>
                  </a:cubicBezTo>
                  <a:cubicBezTo>
                    <a:pt x="160440" y="40683"/>
                    <a:pt x="169362" y="62222"/>
                    <a:pt x="169362" y="84681"/>
                  </a:cubicBezTo>
                  <a:lnTo>
                    <a:pt x="169362" y="3252227"/>
                  </a:lnTo>
                  <a:cubicBezTo>
                    <a:pt x="169362" y="3274686"/>
                    <a:pt x="160440" y="3296225"/>
                    <a:pt x="144559" y="3312106"/>
                  </a:cubicBezTo>
                  <a:cubicBezTo>
                    <a:pt x="128678" y="3327986"/>
                    <a:pt x="107140" y="3336908"/>
                    <a:pt x="84681" y="3336908"/>
                  </a:cubicBezTo>
                  <a:lnTo>
                    <a:pt x="84681" y="3336908"/>
                  </a:lnTo>
                  <a:cubicBezTo>
                    <a:pt x="37913" y="3336908"/>
                    <a:pt x="0" y="3298995"/>
                    <a:pt x="0" y="3252227"/>
                  </a:cubicBezTo>
                  <a:lnTo>
                    <a:pt x="0" y="84681"/>
                  </a:lnTo>
                  <a:cubicBezTo>
                    <a:pt x="0" y="37913"/>
                    <a:pt x="37913" y="0"/>
                    <a:pt x="84681" y="0"/>
                  </a:cubicBezTo>
                  <a:close/>
                </a:path>
              </a:pathLst>
            </a:custGeom>
            <a:ln w="19050" cap="rnd">
              <a:solidFill>
                <a:srgbClr val="164B82"/>
              </a:solidFill>
              <a:prstDash val="solid"/>
              <a:round/>
            </a:ln>
          </p:spPr>
        </p:sp>
        <p:sp>
          <p:nvSpPr>
            <p:cNvPr name="TextBox 16" id="16"/>
            <p:cNvSpPr txBox="true"/>
            <p:nvPr/>
          </p:nvSpPr>
          <p:spPr>
            <a:xfrm>
              <a:off x="0" y="-57150"/>
              <a:ext cx="169362" cy="3394058"/>
            </a:xfrm>
            <a:prstGeom prst="rect">
              <a:avLst/>
            </a:prstGeom>
          </p:spPr>
          <p:txBody>
            <a:bodyPr anchor="ctr" rtlCol="false" tIns="50800" lIns="50800" bIns="50800" rIns="50800"/>
            <a:lstStyle/>
            <a:p>
              <a:pPr algn="ctr">
                <a:lnSpc>
                  <a:spcPts val="3639"/>
                </a:lnSpc>
              </a:pPr>
            </a:p>
          </p:txBody>
        </p:sp>
      </p:grpSp>
      <p:sp>
        <p:nvSpPr>
          <p:cNvPr id="17" name="Title"/>
          <p:cNvSpPr txBox="1"/>
          <p:nvPr/>
        </p:nvSpPr>
        <p:spPr>
          <a:xfrm>
            <a:off x="1024128" y="3063240"/>
            <a:ext cx="13258800" cy="3566160"/>
          </a:xfrm>
          <a:prstGeom prst="rect">
            <a:avLst/>
          </a:prstGeom>
          <a:noFill/>
        </p:spPr>
        <p:txBody>
          <a:bodyPr wrap="square" lIns="0" rIns="0" tIns="0" bIns="0" anchor="b">
            <a:spAutoFit/>
          </a:bodyPr>
          <a:lstStyle/>
          <a:p>
            <a:pPr algn="l"/>
            <a:r>
              <a:rPr sz="5400" b="1" i="0">
                <a:solidFill>
                  <a:srgbClr val="343434"/>
                </a:solidFill>
                <a:latin typeface="Calibri"/>
              </a:rPr>
              <a:t>Cross-Linguistic Transfer Diagnostics for Low-Resource Financial NLP in Indic Languages</a:t>
            </a:r>
          </a:p>
        </p:txBody>
      </p:sp>
      <p:sp>
        <p:nvSpPr>
          <p:cNvPr id="18" name="Subtitle"/>
          <p:cNvSpPr txBox="1"/>
          <p:nvPr/>
        </p:nvSpPr>
        <p:spPr>
          <a:xfrm>
            <a:off x="1024128" y="7315200"/>
            <a:ext cx="12801600" cy="548640"/>
          </a:xfrm>
          <a:prstGeom prst="rect">
            <a:avLst/>
          </a:prstGeom>
          <a:noFill/>
        </p:spPr>
        <p:txBody>
          <a:bodyPr wrap="square" lIns="0" rIns="0" tIns="0" bIns="0" anchor="t">
            <a:spAutoFit/>
          </a:bodyPr>
          <a:lstStyle/>
          <a:p>
            <a:pPr algn="l"/>
            <a:r>
              <a:rPr sz="2800" b="0" i="0">
                <a:solidFill>
                  <a:srgbClr val="343434"/>
                </a:solidFill>
                <a:latin typeface="Calibri"/>
              </a:rPr>
              <a:t>BCSE497J · Project I · Pre-final Guide Review · VIT Chennai</a:t>
            </a:r>
          </a:p>
        </p:txBody>
      </p:sp>
      <p:sp>
        <p:nvSpPr>
          <p:cNvPr id="19" name="Presenter"/>
          <p:cNvSpPr txBox="1"/>
          <p:nvPr/>
        </p:nvSpPr>
        <p:spPr>
          <a:xfrm>
            <a:off x="1024128" y="8138160"/>
            <a:ext cx="15087600" cy="457200"/>
          </a:xfrm>
          <a:prstGeom prst="rect">
            <a:avLst/>
          </a:prstGeom>
          <a:noFill/>
        </p:spPr>
        <p:txBody>
          <a:bodyPr wrap="square" lIns="0" rIns="0" tIns="0" bIns="0" anchor="t">
            <a:spAutoFit/>
          </a:bodyPr>
          <a:lstStyle/>
          <a:p>
            <a:pPr algn="l"/>
            <a:r>
              <a:rPr sz="2200" b="1" i="0">
                <a:solidFill>
                  <a:srgbClr val="164B82"/>
                </a:solidFill>
                <a:latin typeface="Calibri"/>
              </a:rPr>
              <a:t>Presented by: </a:t>
            </a:r>
            <a:r>
              <a:rPr sz="2200" b="0" i="0">
                <a:solidFill>
                  <a:srgbClr val="343434"/>
                </a:solidFill>
                <a:latin typeface="Calibri"/>
              </a:rPr>
              <a:t>Souparno Nag (23BCE5134) · Abhinav Renjith (23BCE1750) · Krishna Sharma K (23BCE1763)</a:t>
            </a:r>
          </a:p>
        </p:txBody>
      </p:sp>
      <p:sp>
        <p:nvSpPr>
          <p:cNvPr id="20" name="Guide"/>
          <p:cNvSpPr txBox="1"/>
          <p:nvPr/>
        </p:nvSpPr>
        <p:spPr>
          <a:xfrm>
            <a:off x="1024128" y="8732520"/>
            <a:ext cx="15087600" cy="457200"/>
          </a:xfrm>
          <a:prstGeom prst="rect">
            <a:avLst/>
          </a:prstGeom>
          <a:noFill/>
        </p:spPr>
        <p:txBody>
          <a:bodyPr wrap="square" lIns="0" rIns="0" tIns="0" bIns="0" anchor="t">
            <a:spAutoFit/>
          </a:bodyPr>
          <a:lstStyle/>
          <a:p>
            <a:pPr algn="l"/>
            <a:r>
              <a:rPr sz="2200" b="1" i="0">
                <a:solidFill>
                  <a:srgbClr val="164B82"/>
                </a:solidFill>
                <a:latin typeface="Calibri"/>
              </a:rPr>
              <a:t>Guide: </a:t>
            </a:r>
            <a:r>
              <a:rPr sz="2200" b="0" i="0">
                <a:solidFill>
                  <a:srgbClr val="343434"/>
                </a:solidFill>
                <a:latin typeface="Calibri"/>
              </a:rPr>
              <a:t>Dr. Manikandan P, Assistant Professor Sr. Grade 1, SCSE, VIT Chennai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grpSp>
        <p:nvGrpSpPr>
          <p:cNvPr name="Group 2" id="2"/>
          <p:cNvGrpSpPr/>
          <p:nvPr/>
        </p:nvGrpSpPr>
        <p:grpSpPr>
          <a:xfrm rot="0">
            <a:off x="4928310" y="5143500"/>
            <a:ext cx="8431381" cy="6106672"/>
            <a:chOff x="0" y="0"/>
            <a:chExt cx="2220611" cy="1608342"/>
          </a:xfrm>
        </p:grpSpPr>
        <p:sp>
          <p:nvSpPr>
            <p:cNvPr name="Freeform 3" id="3"/>
            <p:cNvSpPr/>
            <p:nvPr/>
          </p:nvSpPr>
          <p:spPr>
            <a:xfrm flipH="false" flipV="false" rot="0">
              <a:off x="0" y="0"/>
              <a:ext cx="2220611" cy="1608342"/>
            </a:xfrm>
            <a:custGeom>
              <a:avLst/>
              <a:gdLst/>
              <a:ahLst/>
              <a:cxnLst/>
              <a:rect r="r" b="b" t="t" l="l"/>
              <a:pathLst>
                <a:path h="1608342" w="2220611">
                  <a:moveTo>
                    <a:pt x="0" y="0"/>
                  </a:moveTo>
                  <a:lnTo>
                    <a:pt x="2220611" y="0"/>
                  </a:lnTo>
                  <a:lnTo>
                    <a:pt x="2220611" y="1608342"/>
                  </a:lnTo>
                  <a:lnTo>
                    <a:pt x="0" y="160834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4" id="4"/>
            <p:cNvSpPr txBox="true"/>
            <p:nvPr/>
          </p:nvSpPr>
          <p:spPr>
            <a:xfrm>
              <a:off x="0" y="-57150"/>
              <a:ext cx="2220611" cy="1665492"/>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760705">
            <a:off x="1423346" y="-1948290"/>
            <a:ext cx="15441309" cy="6543255"/>
          </a:xfrm>
          <a:custGeom>
            <a:avLst/>
            <a:gdLst/>
            <a:ahLst/>
            <a:cxnLst/>
            <a:rect r="r" b="b" t="t" l="l"/>
            <a:pathLst>
              <a:path h="6543255" w="15441309">
                <a:moveTo>
                  <a:pt x="0" y="0"/>
                </a:moveTo>
                <a:lnTo>
                  <a:pt x="15441308" y="0"/>
                </a:lnTo>
                <a:lnTo>
                  <a:pt x="15441308" y="6543255"/>
                </a:lnTo>
                <a:lnTo>
                  <a:pt x="0" y="6543255"/>
                </a:lnTo>
                <a:lnTo>
                  <a:pt x="0" y="0"/>
                </a:lnTo>
                <a:close/>
              </a:path>
            </a:pathLst>
          </a:custGeom>
          <a:blipFill>
            <a:blip r:embed="rId2"/>
            <a:stretch>
              <a:fillRect l="0" t="0" r="0" b="0"/>
            </a:stretch>
          </a:blipFill>
        </p:spPr>
      </p:sp>
      <p:sp>
        <p:nvSpPr>
          <p:cNvPr name="TextBox 6" id="6"/>
          <p:cNvSpPr txBox="true"/>
          <p:nvPr/>
        </p:nvSpPr>
        <p:spPr>
          <a:xfrm rot="0">
            <a:off x="4421043" y="3816797"/>
            <a:ext cx="9445915" cy="1311026"/>
          </a:xfrm>
          <a:prstGeom prst="rect">
            <a:avLst/>
          </a:prstGeom>
        </p:spPr>
        <p:txBody>
          <a:bodyPr anchor="t" rtlCol="false" tIns="0" lIns="0" bIns="0" rIns="0">
            <a:spAutoFit/>
          </a:bodyPr>
          <a:lstStyle/>
          <a:p>
            <a:pPr algn="ctr">
              <a:lnSpc>
                <a:spcPts val="9059"/>
              </a:lnSpc>
            </a:pPr>
            <a:r>
              <a:rPr lang="en-US" b="true" sz="9339">
                <a:solidFill>
                  <a:srgbClr val="343434"/>
                </a:solidFill>
                <a:latin typeface="Calibri"/>
                <a:ea typeface="Telegraf Bold"/>
                <a:cs typeface="Telegraf Bold"/>
                <a:sym typeface="Telegraf Bold"/>
              </a:rPr>
              <a:t>THANK YOU</a:t>
            </a:r>
          </a:p>
        </p:txBody>
      </p:sp>
      <p:sp>
        <p:nvSpPr>
          <p:cNvPr name="TextBox 7" id="7"/>
          <p:cNvSpPr txBox="true"/>
          <p:nvPr/>
        </p:nvSpPr>
        <p:spPr>
          <a:xfrm rot="0">
            <a:off x="5435577" y="5566396"/>
            <a:ext cx="7416846" cy="1431417"/>
          </a:xfrm>
          <a:prstGeom prst="rect">
            <a:avLst/>
          </a:prstGeom>
        </p:spPr>
        <p:txBody>
          <a:bodyPr anchor="t" rtlCol="false" tIns="0" lIns="0" bIns="0" rIns="0">
            <a:spAutoFit/>
          </a:bodyPr>
          <a:lstStyle/>
          <a:p>
            <a:pPr algn="ctr">
              <a:lnSpc>
                <a:spcPts val="5544"/>
              </a:lnSpc>
            </a:pPr>
            <a:r>
              <a:rPr lang="en-US" sz="4200" spc="100">
                <a:solidFill>
                  <a:srgbClr val="F2F7FA"/>
                </a:solidFill>
                <a:latin typeface="Calibri"/>
                <a:ea typeface="Telegraf"/>
                <a:cs typeface="Telegraf"/>
                <a:sym typeface="Telegraf"/>
              </a:rPr>
              <a:t>QUESTIONS AND DISCUSSION</a:t>
            </a:r>
          </a:p>
        </p:txBody>
      </p:sp>
      <p:sp>
        <p:nvSpPr>
          <p:cNvPr name="TextBox 8" id="8"/>
          <p:cNvSpPr txBox="true"/>
          <p:nvPr/>
        </p:nvSpPr>
        <p:spPr>
          <a:xfrm rot="0">
            <a:off x="2286000" y="8911970"/>
            <a:ext cx="13716000" cy="346330"/>
          </a:xfrm>
          <a:prstGeom prst="rect">
            <a:avLst/>
          </a:prstGeom>
        </p:spPr>
        <p:txBody>
          <a:bodyPr anchor="t" rtlCol="false" tIns="0" lIns="0" bIns="0" rIns="0">
            <a:spAutoFit/>
          </a:bodyPr>
          <a:lstStyle/>
          <a:p>
            <a:pPr algn="ctr">
              <a:lnSpc>
                <a:spcPts val="2328"/>
              </a:lnSpc>
            </a:pPr>
            <a:r>
              <a:rPr lang="en-US" sz="2400">
                <a:solidFill>
                  <a:srgbClr val="F2F7FA"/>
                </a:solidFill>
                <a:latin typeface="Calibri"/>
                <a:ea typeface="Telegraf"/>
                <a:cs typeface="Telegraf"/>
                <a:sym typeface="Telegraf"/>
              </a:rPr>
              <a:t>Souparno Nag · Abhinav Renjith · Krishna Sharma 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Problem Statement and Motivation</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2 / 22</a:t>
            </a:r>
          </a:p>
        </p:txBody>
      </p:sp>
      <p:sp>
        <p:nvSpPr>
          <p:cNvPr id="15" name="TextBox 14"/>
          <p:cNvSpPr txBox="1"/>
          <p:nvPr/>
        </p:nvSpPr>
        <p:spPr>
          <a:xfrm>
            <a:off x="1005840" y="2834640"/>
            <a:ext cx="8503920" cy="4206240"/>
          </a:xfrm>
          <a:prstGeom prst="rect">
            <a:avLst/>
          </a:prstGeom>
          <a:noFill/>
        </p:spPr>
        <p:txBody>
          <a:bodyPr wrap="square" lIns="0" rIns="0" tIns="0" bIns="0">
            <a:spAutoFit/>
          </a:bodyPr>
          <a:lstStyle/>
          <a:p>
            <a:pPr marL="384048" indent="-384048">
              <a:spcAft>
                <a:spcPts val="1400"/>
              </a:spcAft>
              <a:buClr>
                <a:srgbClr val="2F679F"/>
              </a:buClr>
              <a:buFont typeface="Arial"/>
              <a:buChar char="•"/>
            </a:pPr>
            <a:r>
              <a:rPr sz="3276" b="0">
                <a:solidFill>
                  <a:srgbClr val="343434"/>
                </a:solidFill>
                <a:latin typeface="Calibri"/>
              </a:rPr>
              <a:t>Finance NLP is mostly English</a:t>
            </a:r>
          </a:p>
          <a:p>
            <a:pPr marL="384048" indent="-384048">
              <a:spcAft>
                <a:spcPts val="1400"/>
              </a:spcAft>
              <a:buClr>
                <a:srgbClr val="2F679F"/>
              </a:buClr>
              <a:buFont typeface="Arial"/>
              <a:buChar char="•"/>
            </a:pPr>
            <a:r>
              <a:rPr sz="3276" b="0">
                <a:solidFill>
                  <a:srgbClr val="343434"/>
                </a:solidFill>
                <a:latin typeface="Calibri"/>
              </a:rPr>
              <a:t>Labelled Indic financial data is scarce</a:t>
            </a:r>
          </a:p>
          <a:p>
            <a:pPr marL="384048" indent="-384048">
              <a:spcAft>
                <a:spcPts val="1400"/>
              </a:spcAft>
              <a:buClr>
                <a:srgbClr val="2F679F"/>
              </a:buClr>
              <a:buFont typeface="Arial"/>
              <a:buChar char="•"/>
            </a:pPr>
            <a:r>
              <a:rPr sz="3276" b="0">
                <a:solidFill>
                  <a:srgbClr val="343434"/>
                </a:solidFill>
                <a:latin typeface="Calibri"/>
              </a:rPr>
              <a:t>Zero-shot transfer is the shortcut [7], [13]</a:t>
            </a:r>
          </a:p>
          <a:p>
            <a:pPr marL="384048" indent="-384048">
              <a:spcAft>
                <a:spcPts val="1400"/>
              </a:spcAft>
              <a:buClr>
                <a:srgbClr val="2F679F"/>
              </a:buClr>
              <a:buFont typeface="Arial"/>
              <a:buChar char="•"/>
            </a:pPr>
            <a:r>
              <a:rPr sz="3276" b="0">
                <a:solidFill>
                  <a:srgbClr val="343434"/>
                </a:solidFill>
                <a:latin typeface="Calibri"/>
              </a:rPr>
              <a:t>It degrades for distant languages [19]</a:t>
            </a:r>
          </a:p>
          <a:p>
            <a:pPr marL="384048" indent="-384048">
              <a:spcAft>
                <a:spcPts val="1400"/>
              </a:spcAft>
              <a:buClr>
                <a:srgbClr val="2F679F"/>
              </a:buClr>
              <a:buFont typeface="Arial"/>
              <a:buChar char="•"/>
            </a:pPr>
            <a:r>
              <a:rPr sz="3276" b="0">
                <a:solidFill>
                  <a:srgbClr val="343434"/>
                </a:solidFill>
                <a:latin typeface="Calibri"/>
              </a:rPr>
              <a:t>IndicFinNLP gives only per-language baselines [12]</a:t>
            </a:r>
          </a:p>
        </p:txBody>
      </p:sp>
      <p:sp>
        <p:nvSpPr>
          <p:cNvPr id="16" name="Rounded Rectangle 15"/>
          <p:cNvSpPr/>
          <p:nvPr/>
        </p:nvSpPr>
        <p:spPr>
          <a:xfrm>
            <a:off x="9966960" y="2834640"/>
            <a:ext cx="6766560" cy="4114800"/>
          </a:xfrm>
          <a:prstGeom prst="roundRect">
            <a:avLst>
              <a:gd name="adj" fmla="val 6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0" y="3154680"/>
            <a:ext cx="5852160" cy="457200"/>
          </a:xfrm>
          <a:prstGeom prst="rect">
            <a:avLst/>
          </a:prstGeom>
          <a:noFill/>
        </p:spPr>
        <p:txBody>
          <a:bodyPr wrap="square" lIns="0" rIns="0" tIns="0" bIns="0" anchor="t">
            <a:spAutoFit/>
          </a:bodyPr>
          <a:lstStyle/>
          <a:p>
            <a:pPr algn="l"/>
            <a:r>
              <a:rPr sz="2106" b="1" i="0">
                <a:solidFill>
                  <a:srgbClr val="E4B795"/>
                </a:solidFill>
                <a:latin typeface="Calibri"/>
              </a:rPr>
              <a:t>RESEARCH QUESTION</a:t>
            </a:r>
          </a:p>
        </p:txBody>
      </p:sp>
      <p:sp>
        <p:nvSpPr>
          <p:cNvPr id="18" name="TextBox 17"/>
          <p:cNvSpPr txBox="1"/>
          <p:nvPr/>
        </p:nvSpPr>
        <p:spPr>
          <a:xfrm>
            <a:off x="10424160" y="3749039"/>
            <a:ext cx="5852160" cy="3017520"/>
          </a:xfrm>
          <a:prstGeom prst="rect">
            <a:avLst/>
          </a:prstGeom>
          <a:noFill/>
        </p:spPr>
        <p:txBody>
          <a:bodyPr wrap="square" lIns="0" rIns="0" tIns="0" bIns="0" anchor="t">
            <a:spAutoFit/>
          </a:bodyPr>
          <a:lstStyle/>
          <a:p>
            <a:pPr algn="l"/>
            <a:r>
              <a:rPr sz="3509" b="1" i="0">
                <a:solidFill>
                  <a:srgbClr val="FFFFFF"/>
                </a:solidFill>
                <a:latin typeface="Calibri"/>
              </a:rPr>
              <a:t>Do multilingual language models preserve financial meaning when knowledge transfers between Indic languages?</a:t>
            </a:r>
          </a:p>
        </p:txBody>
      </p:sp>
      <p:sp>
        <p:nvSpPr>
          <p:cNvPr id="19" name="Rounded Rectangle 18"/>
          <p:cNvSpPr/>
          <p:nvPr/>
        </p:nvSpPr>
        <p:spPr>
          <a:xfrm>
            <a:off x="1005840" y="7498079"/>
            <a:ext cx="15727680" cy="1737360"/>
          </a:xfrm>
          <a:prstGeom prst="roundRect">
            <a:avLst>
              <a:gd name="adj" fmla="val 6000"/>
            </a:avLst>
          </a:prstGeom>
          <a:solidFill>
            <a:srgbClr val="FFFFFF">
              <a:alpha val="88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7726679"/>
            <a:ext cx="3291840" cy="1280160"/>
          </a:xfrm>
          <a:prstGeom prst="rect">
            <a:avLst/>
          </a:prstGeom>
          <a:noFill/>
        </p:spPr>
        <p:txBody>
          <a:bodyPr wrap="square" lIns="0" rIns="0" tIns="0" bIns="0" anchor="ctr">
            <a:spAutoFit/>
          </a:bodyPr>
          <a:lstStyle/>
          <a:p>
            <a:pPr algn="l"/>
            <a:r>
              <a:rPr sz="3042" b="1" i="0">
                <a:solidFill>
                  <a:srgbClr val="164B82"/>
                </a:solidFill>
                <a:latin typeface="Calibri"/>
              </a:rPr>
              <a:t>Finance adds its own demands</a:t>
            </a:r>
          </a:p>
        </p:txBody>
      </p:sp>
      <p:sp>
        <p:nvSpPr>
          <p:cNvPr id="21" name="Rounded Rectangle 20"/>
          <p:cNvSpPr/>
          <p:nvPr/>
        </p:nvSpPr>
        <p:spPr>
          <a:xfrm>
            <a:off x="5120640" y="7863840"/>
            <a:ext cx="3566160" cy="100584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7863840"/>
            <a:ext cx="3200400" cy="1005840"/>
          </a:xfrm>
          <a:prstGeom prst="rect">
            <a:avLst/>
          </a:prstGeom>
          <a:noFill/>
        </p:spPr>
        <p:txBody>
          <a:bodyPr wrap="square" lIns="0" rIns="0" tIns="0" bIns="0" anchor="ctr">
            <a:spAutoFit/>
          </a:bodyPr>
          <a:lstStyle/>
          <a:p>
            <a:pPr algn="ctr"/>
            <a:r>
              <a:rPr sz="2574" b="1" i="0">
                <a:solidFill>
                  <a:srgbClr val="164B82"/>
                </a:solidFill>
                <a:latin typeface="Calibri"/>
              </a:rPr>
              <a:t>Lakh / crore numerals</a:t>
            </a:r>
          </a:p>
        </p:txBody>
      </p:sp>
      <p:sp>
        <p:nvSpPr>
          <p:cNvPr id="23" name="Rounded Rectangle 22"/>
          <p:cNvSpPr/>
          <p:nvPr/>
        </p:nvSpPr>
        <p:spPr>
          <a:xfrm>
            <a:off x="8961120" y="7863840"/>
            <a:ext cx="3566160" cy="100584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7863840"/>
            <a:ext cx="3200400" cy="1005840"/>
          </a:xfrm>
          <a:prstGeom prst="rect">
            <a:avLst/>
          </a:prstGeom>
          <a:noFill/>
        </p:spPr>
        <p:txBody>
          <a:bodyPr wrap="square" lIns="0" rIns="0" tIns="0" bIns="0" anchor="ctr">
            <a:spAutoFit/>
          </a:bodyPr>
          <a:lstStyle/>
          <a:p>
            <a:pPr algn="ctr"/>
            <a:r>
              <a:rPr sz="2574" b="1" i="0">
                <a:solidFill>
                  <a:srgbClr val="164B82"/>
                </a:solidFill>
                <a:latin typeface="Calibri"/>
              </a:rPr>
              <a:t>Domain terminology</a:t>
            </a:r>
          </a:p>
        </p:txBody>
      </p:sp>
      <p:sp>
        <p:nvSpPr>
          <p:cNvPr id="25" name="Rounded Rectangle 24"/>
          <p:cNvSpPr/>
          <p:nvPr/>
        </p:nvSpPr>
        <p:spPr>
          <a:xfrm>
            <a:off x="12801600" y="7863840"/>
            <a:ext cx="3566160" cy="100584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984480" y="7863840"/>
            <a:ext cx="3200400" cy="1005840"/>
          </a:xfrm>
          <a:prstGeom prst="rect">
            <a:avLst/>
          </a:prstGeom>
          <a:noFill/>
        </p:spPr>
        <p:txBody>
          <a:bodyPr wrap="square" lIns="0" rIns="0" tIns="0" bIns="0" anchor="ctr">
            <a:spAutoFit/>
          </a:bodyPr>
          <a:lstStyle/>
          <a:p>
            <a:pPr algn="ctr"/>
            <a:r>
              <a:rPr sz="2574" b="1" i="0">
                <a:solidFill>
                  <a:srgbClr val="164B82"/>
                </a:solidFill>
                <a:latin typeface="Calibri"/>
              </a:rPr>
              <a:t>Entities that must survive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Objectives and Scope</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3 / 22</a:t>
            </a:r>
          </a:p>
        </p:txBody>
      </p:sp>
      <p:sp>
        <p:nvSpPr>
          <p:cNvPr id="15" name="Rounded Rectangle 14"/>
          <p:cNvSpPr/>
          <p:nvPr/>
        </p:nvSpPr>
        <p:spPr>
          <a:xfrm>
            <a:off x="1005840" y="2834640"/>
            <a:ext cx="5029200" cy="3017520"/>
          </a:xfrm>
          <a:prstGeom prst="roundRect">
            <a:avLst>
              <a:gd name="adj" fmla="val 6000"/>
            </a:avLst>
          </a:prstGeom>
          <a:solidFill>
            <a:srgbClr val="FFFFFF">
              <a:alpha val="88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 y="3108960"/>
            <a:ext cx="731520" cy="731520"/>
          </a:xfrm>
          <a:prstGeom prst="ellipse">
            <a:avLst/>
          </a:prstGeom>
          <a:solidFill>
            <a:srgbClr val="164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731520" cy="731520"/>
          </a:xfrm>
          <a:prstGeom prst="rect">
            <a:avLst/>
          </a:prstGeom>
          <a:noFill/>
        </p:spPr>
        <p:txBody>
          <a:bodyPr wrap="square" lIns="0" rIns="0" tIns="0" bIns="0" anchor="ctr">
            <a:spAutoFit/>
          </a:bodyPr>
          <a:lstStyle/>
          <a:p>
            <a:pPr algn="ctr"/>
            <a:r>
              <a:rPr sz="3042" b="1" i="0">
                <a:solidFill>
                  <a:srgbClr val="FFFFFF"/>
                </a:solidFill>
                <a:latin typeface="Calibri"/>
              </a:rPr>
              <a:t>1</a:t>
            </a:r>
          </a:p>
        </p:txBody>
      </p:sp>
      <p:sp>
        <p:nvSpPr>
          <p:cNvPr id="18" name="TextBox 17"/>
          <p:cNvSpPr txBox="1"/>
          <p:nvPr/>
        </p:nvSpPr>
        <p:spPr>
          <a:xfrm>
            <a:off x="1325880" y="4023360"/>
            <a:ext cx="4480560" cy="548640"/>
          </a:xfrm>
          <a:prstGeom prst="rect">
            <a:avLst/>
          </a:prstGeom>
          <a:noFill/>
        </p:spPr>
        <p:txBody>
          <a:bodyPr wrap="square" lIns="0" rIns="0" tIns="0" bIns="0" anchor="t">
            <a:spAutoFit/>
          </a:bodyPr>
          <a:lstStyle/>
          <a:p>
            <a:pPr algn="l"/>
            <a:r>
              <a:rPr sz="2925" b="1" i="0">
                <a:solidFill>
                  <a:srgbClr val="164B82"/>
                </a:solidFill>
                <a:latin typeface="Calibri"/>
              </a:rPr>
              <a:t>Build a controlled corpus</a:t>
            </a:r>
          </a:p>
        </p:txBody>
      </p:sp>
      <p:sp>
        <p:nvSpPr>
          <p:cNvPr id="19" name="TextBox 18"/>
          <p:cNvSpPr txBox="1"/>
          <p:nvPr/>
        </p:nvSpPr>
        <p:spPr>
          <a:xfrm>
            <a:off x="1325880" y="4617720"/>
            <a:ext cx="4389120" cy="1188720"/>
          </a:xfrm>
          <a:prstGeom prst="rect">
            <a:avLst/>
          </a:prstGeom>
          <a:noFill/>
        </p:spPr>
        <p:txBody>
          <a:bodyPr wrap="square" lIns="0" rIns="0" tIns="0" bIns="0" anchor="t">
            <a:spAutoFit/>
          </a:bodyPr>
          <a:lstStyle/>
          <a:p>
            <a:pPr algn="l"/>
            <a:r>
              <a:rPr sz="2222" b="0" i="0">
                <a:solidFill>
                  <a:srgbClr val="343434"/>
                </a:solidFill>
                <a:latin typeface="Calibri"/>
              </a:rPr>
              <a:t>Four-way parallel financial text in Hindi, Bengali, Telugu, Malayalam</a:t>
            </a:r>
          </a:p>
        </p:txBody>
      </p:sp>
      <p:sp>
        <p:nvSpPr>
          <p:cNvPr id="20" name="Rounded Rectangle 19"/>
          <p:cNvSpPr/>
          <p:nvPr/>
        </p:nvSpPr>
        <p:spPr>
          <a:xfrm>
            <a:off x="6355079" y="2834640"/>
            <a:ext cx="5029200" cy="3017520"/>
          </a:xfrm>
          <a:prstGeom prst="roundRect">
            <a:avLst>
              <a:gd name="adj" fmla="val 6000"/>
            </a:avLst>
          </a:prstGeom>
          <a:solidFill>
            <a:srgbClr val="FFFFFF">
              <a:alpha val="88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19" y="3108960"/>
            <a:ext cx="731520" cy="731520"/>
          </a:xfrm>
          <a:prstGeom prst="ellipse">
            <a:avLst/>
          </a:prstGeom>
          <a:solidFill>
            <a:srgbClr val="164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19" y="3108960"/>
            <a:ext cx="731520" cy="731520"/>
          </a:xfrm>
          <a:prstGeom prst="rect">
            <a:avLst/>
          </a:prstGeom>
          <a:noFill/>
        </p:spPr>
        <p:txBody>
          <a:bodyPr wrap="square" lIns="0" rIns="0" tIns="0" bIns="0" anchor="ctr">
            <a:spAutoFit/>
          </a:bodyPr>
          <a:lstStyle/>
          <a:p>
            <a:pPr algn="ctr"/>
            <a:r>
              <a:rPr sz="3042" b="1" i="0">
                <a:solidFill>
                  <a:srgbClr val="FFFFFF"/>
                </a:solidFill>
                <a:latin typeface="Calibri"/>
              </a:rPr>
              <a:t>2</a:t>
            </a:r>
          </a:p>
        </p:txBody>
      </p:sp>
      <p:sp>
        <p:nvSpPr>
          <p:cNvPr id="23" name="TextBox 22"/>
          <p:cNvSpPr txBox="1"/>
          <p:nvPr/>
        </p:nvSpPr>
        <p:spPr>
          <a:xfrm>
            <a:off x="6675119" y="4023360"/>
            <a:ext cx="4480560" cy="548640"/>
          </a:xfrm>
          <a:prstGeom prst="rect">
            <a:avLst/>
          </a:prstGeom>
          <a:noFill/>
        </p:spPr>
        <p:txBody>
          <a:bodyPr wrap="square" lIns="0" rIns="0" tIns="0" bIns="0" anchor="t">
            <a:spAutoFit/>
          </a:bodyPr>
          <a:lstStyle/>
          <a:p>
            <a:pPr algn="l"/>
            <a:r>
              <a:rPr sz="2925" b="1" i="0">
                <a:solidFill>
                  <a:srgbClr val="164B82"/>
                </a:solidFill>
                <a:latin typeface="Calibri"/>
              </a:rPr>
              <a:t>Measure zero-shot transfer</a:t>
            </a:r>
          </a:p>
        </p:txBody>
      </p:sp>
      <p:sp>
        <p:nvSpPr>
          <p:cNvPr id="24" name="TextBox 23"/>
          <p:cNvSpPr txBox="1"/>
          <p:nvPr/>
        </p:nvSpPr>
        <p:spPr>
          <a:xfrm>
            <a:off x="6675119" y="4617720"/>
            <a:ext cx="4389120" cy="1188720"/>
          </a:xfrm>
          <a:prstGeom prst="rect">
            <a:avLst/>
          </a:prstGeom>
          <a:noFill/>
        </p:spPr>
        <p:txBody>
          <a:bodyPr wrap="square" lIns="0" rIns="0" tIns="0" bIns="0" anchor="t">
            <a:spAutoFit/>
          </a:bodyPr>
          <a:lstStyle/>
          <a:p>
            <a:pPr algn="l"/>
            <a:r>
              <a:rPr sz="2222" b="0" i="0">
                <a:solidFill>
                  <a:srgbClr val="343434"/>
                </a:solidFill>
                <a:latin typeface="Calibri"/>
              </a:rPr>
              <a:t>IndicBERT and mBERT trained on one language, tested on the others</a:t>
            </a:r>
          </a:p>
        </p:txBody>
      </p:sp>
      <p:sp>
        <p:nvSpPr>
          <p:cNvPr id="25" name="Rounded Rectangle 24"/>
          <p:cNvSpPr/>
          <p:nvPr/>
        </p:nvSpPr>
        <p:spPr>
          <a:xfrm>
            <a:off x="11704319" y="2834640"/>
            <a:ext cx="5029200" cy="3017520"/>
          </a:xfrm>
          <a:prstGeom prst="roundRect">
            <a:avLst>
              <a:gd name="adj" fmla="val 6000"/>
            </a:avLst>
          </a:prstGeom>
          <a:solidFill>
            <a:srgbClr val="FFFFFF">
              <a:alpha val="88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2024359" y="3108960"/>
            <a:ext cx="731520" cy="731520"/>
          </a:xfrm>
          <a:prstGeom prst="ellipse">
            <a:avLst/>
          </a:prstGeom>
          <a:solidFill>
            <a:srgbClr val="164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24359" y="3108960"/>
            <a:ext cx="731520" cy="731520"/>
          </a:xfrm>
          <a:prstGeom prst="rect">
            <a:avLst/>
          </a:prstGeom>
          <a:noFill/>
        </p:spPr>
        <p:txBody>
          <a:bodyPr wrap="square" lIns="0" rIns="0" tIns="0" bIns="0" anchor="ctr">
            <a:spAutoFit/>
          </a:bodyPr>
          <a:lstStyle/>
          <a:p>
            <a:pPr algn="ctr"/>
            <a:r>
              <a:rPr sz="3042" b="1" i="0">
                <a:solidFill>
                  <a:srgbClr val="FFFFFF"/>
                </a:solidFill>
                <a:latin typeface="Calibri"/>
              </a:rPr>
              <a:t>3</a:t>
            </a:r>
          </a:p>
        </p:txBody>
      </p:sp>
      <p:sp>
        <p:nvSpPr>
          <p:cNvPr id="28" name="TextBox 27"/>
          <p:cNvSpPr txBox="1"/>
          <p:nvPr/>
        </p:nvSpPr>
        <p:spPr>
          <a:xfrm>
            <a:off x="12024359" y="4023360"/>
            <a:ext cx="4480560" cy="548640"/>
          </a:xfrm>
          <a:prstGeom prst="rect">
            <a:avLst/>
          </a:prstGeom>
          <a:noFill/>
        </p:spPr>
        <p:txBody>
          <a:bodyPr wrap="square" lIns="0" rIns="0" tIns="0" bIns="0" anchor="t">
            <a:spAutoFit/>
          </a:bodyPr>
          <a:lstStyle/>
          <a:p>
            <a:pPr algn="l"/>
            <a:r>
              <a:rPr sz="2925" b="1" i="0">
                <a:solidFill>
                  <a:srgbClr val="164B82"/>
                </a:solidFill>
                <a:latin typeface="Calibri"/>
              </a:rPr>
              <a:t>Diagnose why transfer fails</a:t>
            </a:r>
          </a:p>
        </p:txBody>
      </p:sp>
      <p:sp>
        <p:nvSpPr>
          <p:cNvPr id="29" name="TextBox 28"/>
          <p:cNvSpPr txBox="1"/>
          <p:nvPr/>
        </p:nvSpPr>
        <p:spPr>
          <a:xfrm>
            <a:off x="12024359" y="4617720"/>
            <a:ext cx="4389120" cy="1188720"/>
          </a:xfrm>
          <a:prstGeom prst="rect">
            <a:avLst/>
          </a:prstGeom>
          <a:noFill/>
        </p:spPr>
        <p:txBody>
          <a:bodyPr wrap="square" lIns="0" rIns="0" tIns="0" bIns="0" anchor="t">
            <a:spAutoFit/>
          </a:bodyPr>
          <a:lstStyle/>
          <a:p>
            <a:pPr algn="l"/>
            <a:r>
              <a:rPr sz="2222" b="0" i="0">
                <a:solidFill>
                  <a:srgbClr val="343434"/>
                </a:solidFill>
                <a:latin typeface="Calibri"/>
              </a:rPr>
              <a:t>A three-stage router gives each failure exactly one cause</a:t>
            </a:r>
          </a:p>
        </p:txBody>
      </p:sp>
      <p:sp>
        <p:nvSpPr>
          <p:cNvPr id="30" name="Rounded Rectangle 29"/>
          <p:cNvSpPr/>
          <p:nvPr/>
        </p:nvSpPr>
        <p:spPr>
          <a:xfrm>
            <a:off x="1005840" y="6126480"/>
            <a:ext cx="7680960" cy="3200400"/>
          </a:xfrm>
          <a:prstGeom prst="roundRect">
            <a:avLst>
              <a:gd name="adj" fmla="val 6000"/>
            </a:avLst>
          </a:prstGeom>
          <a:solidFill>
            <a:srgbClr val="FFFFFF">
              <a:alpha val="88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71600" y="6355080"/>
            <a:ext cx="6400800" cy="320040"/>
          </a:xfrm>
          <a:prstGeom prst="rect">
            <a:avLst/>
          </a:prstGeom>
          <a:noFill/>
        </p:spPr>
        <p:txBody>
          <a:bodyPr wrap="square" lIns="0" rIns="0" tIns="0" bIns="0" anchor="t">
            <a:spAutoFit/>
          </a:bodyPr>
          <a:lstStyle/>
          <a:p>
            <a:pPr algn="l"/>
            <a:r>
              <a:rPr sz="1989" b="1" i="0">
                <a:solidFill>
                  <a:srgbClr val="2F679F"/>
                </a:solidFill>
                <a:latin typeface="Calibri"/>
              </a:rPr>
              <a:t>IN SCOPE</a:t>
            </a:r>
          </a:p>
        </p:txBody>
      </p:sp>
      <p:sp>
        <p:nvSpPr>
          <p:cNvPr id="32" name="TextBox 31"/>
          <p:cNvSpPr txBox="1"/>
          <p:nvPr/>
        </p:nvSpPr>
        <p:spPr>
          <a:xfrm>
            <a:off x="1371600" y="6812280"/>
            <a:ext cx="7040880" cy="2377440"/>
          </a:xfrm>
          <a:prstGeom prst="rect">
            <a:avLst/>
          </a:prstGeom>
          <a:noFill/>
        </p:spPr>
        <p:txBody>
          <a:bodyPr wrap="square" lIns="0" rIns="0" tIns="0" bIns="0">
            <a:spAutoFit/>
          </a:bodyPr>
          <a:lstStyle/>
          <a:p>
            <a:pPr marL="384048" indent="-384048">
              <a:spcAft>
                <a:spcPts val="800"/>
              </a:spcAft>
              <a:buClr>
                <a:srgbClr val="2F679F"/>
              </a:buClr>
              <a:buFont typeface="Arial"/>
              <a:buChar char="•"/>
            </a:pPr>
            <a:r>
              <a:rPr sz="2457" b="0">
                <a:solidFill>
                  <a:srgbClr val="343434"/>
                </a:solidFill>
                <a:latin typeface="Calibri"/>
              </a:rPr>
              <a:t>Two tasks: sustainability, ESG theme</a:t>
            </a:r>
          </a:p>
          <a:p>
            <a:pPr marL="384048" indent="-384048">
              <a:spcAft>
                <a:spcPts val="800"/>
              </a:spcAft>
              <a:buClr>
                <a:srgbClr val="2F679F"/>
              </a:buClr>
              <a:buFont typeface="Arial"/>
              <a:buChar char="•"/>
            </a:pPr>
            <a:r>
              <a:rPr sz="2457" b="0">
                <a:solidFill>
                  <a:srgbClr val="343434"/>
                </a:solidFill>
                <a:latin typeface="Calibri"/>
              </a:rPr>
              <a:t>Four languages, nine translation directions</a:t>
            </a:r>
          </a:p>
          <a:p>
            <a:pPr marL="384048" indent="-384048">
              <a:spcAft>
                <a:spcPts val="800"/>
              </a:spcAft>
              <a:buClr>
                <a:srgbClr val="2F679F"/>
              </a:buClr>
              <a:buFont typeface="Arial"/>
              <a:buChar char="•"/>
            </a:pPr>
            <a:r>
              <a:rPr sz="2457" b="0">
                <a:solidFill>
                  <a:srgbClr val="343434"/>
                </a:solidFill>
                <a:latin typeface="Calibri"/>
              </a:rPr>
              <a:t>Two encoders, three seeds each</a:t>
            </a:r>
          </a:p>
        </p:txBody>
      </p:sp>
      <p:sp>
        <p:nvSpPr>
          <p:cNvPr id="33" name="Rounded Rectangle 32"/>
          <p:cNvSpPr/>
          <p:nvPr/>
        </p:nvSpPr>
        <p:spPr>
          <a:xfrm>
            <a:off x="9052560" y="6126480"/>
            <a:ext cx="7680960" cy="3200400"/>
          </a:xfrm>
          <a:prstGeom prst="roundRect">
            <a:avLst>
              <a:gd name="adj" fmla="val 6000"/>
            </a:avLst>
          </a:prstGeom>
          <a:solidFill>
            <a:srgbClr val="FFFFFF">
              <a:alpha val="88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0" y="6355080"/>
            <a:ext cx="6400800" cy="320040"/>
          </a:xfrm>
          <a:prstGeom prst="rect">
            <a:avLst/>
          </a:prstGeom>
          <a:noFill/>
        </p:spPr>
        <p:txBody>
          <a:bodyPr wrap="square" lIns="0" rIns="0" tIns="0" bIns="0" anchor="t">
            <a:spAutoFit/>
          </a:bodyPr>
          <a:lstStyle/>
          <a:p>
            <a:pPr algn="l"/>
            <a:r>
              <a:rPr sz="1989" b="1" i="0">
                <a:solidFill>
                  <a:srgbClr val="E4B795"/>
                </a:solidFill>
                <a:latin typeface="Calibri"/>
              </a:rPr>
              <a:t>OUT OF SCOPE</a:t>
            </a:r>
          </a:p>
        </p:txBody>
      </p:sp>
      <p:sp>
        <p:nvSpPr>
          <p:cNvPr id="35" name="TextBox 34"/>
          <p:cNvSpPr txBox="1"/>
          <p:nvPr/>
        </p:nvSpPr>
        <p:spPr>
          <a:xfrm>
            <a:off x="9418320" y="6812280"/>
            <a:ext cx="7040880" cy="2377440"/>
          </a:xfrm>
          <a:prstGeom prst="rect">
            <a:avLst/>
          </a:prstGeom>
          <a:noFill/>
        </p:spPr>
        <p:txBody>
          <a:bodyPr wrap="square" lIns="0" rIns="0" tIns="0" bIns="0">
            <a:spAutoFit/>
          </a:bodyPr>
          <a:lstStyle/>
          <a:p>
            <a:pPr marL="384048" indent="-384048">
              <a:spcAft>
                <a:spcPts val="800"/>
              </a:spcAft>
              <a:buClr>
                <a:srgbClr val="C98F63"/>
              </a:buClr>
              <a:buFont typeface="Arial"/>
              <a:buChar char="•"/>
            </a:pPr>
            <a:r>
              <a:rPr sz="2457" b="0">
                <a:solidFill>
                  <a:srgbClr val="343434"/>
                </a:solidFill>
                <a:latin typeface="Calibri"/>
              </a:rPr>
              <a:t>Few-shot, translate-train, adapters</a:t>
            </a:r>
          </a:p>
          <a:p>
            <a:pPr marL="384048" indent="-384048">
              <a:spcAft>
                <a:spcPts val="800"/>
              </a:spcAft>
              <a:buClr>
                <a:srgbClr val="C98F63"/>
              </a:buClr>
              <a:buFont typeface="Arial"/>
              <a:buChar char="•"/>
            </a:pPr>
            <a:r>
              <a:rPr sz="2457" b="0">
                <a:solidFill>
                  <a:srgbClr val="343434"/>
                </a:solidFill>
                <a:latin typeface="Calibri"/>
              </a:rPr>
              <a:t>XLM-R (does not fit 4 GB GPU)</a:t>
            </a:r>
          </a:p>
          <a:p>
            <a:pPr marL="384048" indent="-384048">
              <a:spcAft>
                <a:spcPts val="800"/>
              </a:spcAft>
              <a:buClr>
                <a:srgbClr val="C98F63"/>
              </a:buClr>
              <a:buFont typeface="Arial"/>
              <a:buChar char="•"/>
            </a:pPr>
            <a:r>
              <a:rPr sz="2457" b="0">
                <a:solidFill>
                  <a:srgbClr val="343434"/>
                </a:solidFill>
                <a:latin typeface="Calibri"/>
              </a:rPr>
              <a:t>Native Malayalam text (none upstream)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Literature Survey: Gaps Found</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4 / 22</a:t>
            </a:r>
          </a:p>
        </p:txBody>
      </p:sp>
      <p:graphicFrame>
        <p:nvGraphicFramePr>
          <p:cNvPr id="15" name="Table 14"/>
          <p:cNvGraphicFramePr>
            <a:graphicFrameLocks noGrp="1"/>
          </p:cNvGraphicFramePr>
          <p:nvPr/>
        </p:nvGraphicFramePr>
        <p:xfrm>
          <a:off x="1005840" y="2834640"/>
          <a:ext cx="15727680" cy="5852160"/>
        </p:xfrm>
        <a:graphic>
          <a:graphicData uri="http://schemas.openxmlformats.org/drawingml/2006/table">
            <a:tbl>
              <a:tblPr firstRow="0" bandRow="0">
                <a:tableStyleId>{2D5ABB26-0587-4C30-8999-92F81FD0307C}</a:tableStyleId>
              </a:tblPr>
              <a:tblGrid>
                <a:gridCol w="4937760"/>
                <a:gridCol w="5577840"/>
                <a:gridCol w="5212080"/>
              </a:tblGrid>
              <a:tr h="731520">
                <a:tc>
                  <a:txBody>
                    <a:bodyPr wrap="square"/>
                    <a:lstStyle/>
                    <a:p>
                      <a:r>
                        <a:rPr sz="2222" b="1">
                          <a:solidFill>
                            <a:srgbClr val="FFFFFF"/>
                          </a:solidFill>
                          <a:latin typeface="Calibri"/>
                        </a:rPr>
                        <a:t>Work</a:t>
                      </a:r>
                    </a:p>
                  </a:txBody>
                  <a:tcPr marL="128016" marR="91440" marT="45720" marB="45720" anchor="ctr">
                    <a:solidFill>
                      <a:srgbClr val="164B82"/>
                    </a:solidFill>
                  </a:tcPr>
                </a:tc>
                <a:tc>
                  <a:txBody>
                    <a:bodyPr wrap="square"/>
                    <a:lstStyle/>
                    <a:p>
                      <a:r>
                        <a:rPr sz="2222" b="1">
                          <a:solidFill>
                            <a:srgbClr val="FFFFFF"/>
                          </a:solidFill>
                          <a:latin typeface="Calibri"/>
                        </a:rPr>
                        <a:t>What it provides</a:t>
                      </a:r>
                    </a:p>
                  </a:txBody>
                  <a:tcPr marL="128016" marR="91440" marT="45720" marB="45720" anchor="ctr">
                    <a:solidFill>
                      <a:srgbClr val="164B82"/>
                    </a:solidFill>
                  </a:tcPr>
                </a:tc>
                <a:tc>
                  <a:txBody>
                    <a:bodyPr wrap="square"/>
                    <a:lstStyle/>
                    <a:p>
                      <a:r>
                        <a:rPr sz="2222" b="1">
                          <a:solidFill>
                            <a:srgbClr val="FFFFFF"/>
                          </a:solidFill>
                          <a:latin typeface="Calibri"/>
                        </a:rPr>
                        <a:t>Gap for this study</a:t>
                      </a:r>
                    </a:p>
                  </a:txBody>
                  <a:tcPr marL="128016" marR="91440" marT="45720" marB="45720" anchor="ctr">
                    <a:solidFill>
                      <a:srgbClr val="164B82"/>
                    </a:solidFill>
                  </a:tcPr>
                </a:tc>
              </a:tr>
              <a:tr h="731520">
                <a:tc>
                  <a:txBody>
                    <a:bodyPr wrap="square"/>
                    <a:lstStyle/>
                    <a:p>
                      <a:r>
                        <a:rPr sz="2222" b="1">
                          <a:solidFill>
                            <a:srgbClr val="343434"/>
                          </a:solidFill>
                          <a:latin typeface="Calibri"/>
                        </a:rPr>
                        <a:t>IndicFinNLP [12]</a:t>
                      </a:r>
                    </a:p>
                  </a:txBody>
                  <a:tcPr marL="128016" marR="91440" marT="45720" marB="45720" anchor="ctr">
                    <a:solidFill>
                      <a:srgbClr val="FFFFFF"/>
                    </a:solidFill>
                  </a:tcPr>
                </a:tc>
                <a:tc>
                  <a:txBody>
                    <a:bodyPr wrap="square"/>
                    <a:lstStyle/>
                    <a:p>
                      <a:r>
                        <a:rPr sz="2222" b="0">
                          <a:solidFill>
                            <a:srgbClr val="343434"/>
                          </a:solidFill>
                          <a:latin typeface="Calibri"/>
                        </a:rPr>
                        <a:t>Three financial tasks, Hi / Bn / Te</a:t>
                      </a:r>
                    </a:p>
                  </a:txBody>
                  <a:tcPr marL="128016" marR="91440" marT="45720" marB="45720" anchor="ctr">
                    <a:solidFill>
                      <a:srgbClr val="FFFFFF"/>
                    </a:solidFill>
                  </a:tcPr>
                </a:tc>
                <a:tc>
                  <a:txBody>
                    <a:bodyPr wrap="square"/>
                    <a:lstStyle/>
                    <a:p>
                      <a:r>
                        <a:rPr sz="2222" b="0">
                          <a:solidFill>
                            <a:srgbClr val="343434"/>
                          </a:solidFill>
                          <a:latin typeface="Calibri"/>
                        </a:rPr>
                        <a:t>Single-language baselines only</a:t>
                      </a:r>
                    </a:p>
                  </a:txBody>
                  <a:tcPr marL="128016" marR="91440" marT="45720" marB="45720" anchor="ctr">
                    <a:solidFill>
                      <a:srgbClr val="FFFFFF"/>
                    </a:solidFill>
                  </a:tcPr>
                </a:tc>
              </a:tr>
              <a:tr h="731520">
                <a:tc>
                  <a:txBody>
                    <a:bodyPr wrap="square"/>
                    <a:lstStyle/>
                    <a:p>
                      <a:r>
                        <a:rPr sz="2222" b="1">
                          <a:solidFill>
                            <a:srgbClr val="343434"/>
                          </a:solidFill>
                          <a:latin typeface="Calibri"/>
                        </a:rPr>
                        <a:t>MultiFin [15]; ML-ESG-2 [6]</a:t>
                      </a:r>
                    </a:p>
                  </a:txBody>
                  <a:tcPr marL="128016" marR="91440" marT="45720" marB="45720" anchor="ctr">
                    <a:solidFill>
                      <a:srgbClr val="EEF4FA"/>
                    </a:solidFill>
                  </a:tcPr>
                </a:tc>
                <a:tc>
                  <a:txBody>
                    <a:bodyPr wrap="square"/>
                    <a:lstStyle/>
                    <a:p>
                      <a:r>
                        <a:rPr sz="2222" b="0">
                          <a:solidFill>
                            <a:srgbClr val="343434"/>
                          </a:solidFill>
                          <a:latin typeface="Calibri"/>
                        </a:rPr>
                        <a:t>Multilingual finance and ESG headlines</a:t>
                      </a:r>
                    </a:p>
                  </a:txBody>
                  <a:tcPr marL="128016" marR="91440" marT="45720" marB="45720" anchor="ctr">
                    <a:solidFill>
                      <a:srgbClr val="EEF4FA"/>
                    </a:solidFill>
                  </a:tcPr>
                </a:tc>
                <a:tc>
                  <a:txBody>
                    <a:bodyPr wrap="square"/>
                    <a:lstStyle/>
                    <a:p>
                      <a:r>
                        <a:rPr sz="2222" b="0">
                          <a:solidFill>
                            <a:srgbClr val="343434"/>
                          </a:solidFill>
                          <a:latin typeface="Calibri"/>
                        </a:rPr>
                        <a:t>No Indic ESG text</a:t>
                      </a:r>
                    </a:p>
                  </a:txBody>
                  <a:tcPr marL="128016" marR="91440" marT="45720" marB="45720" anchor="ctr">
                    <a:solidFill>
                      <a:srgbClr val="EEF4FA"/>
                    </a:solidFill>
                  </a:tcPr>
                </a:tc>
              </a:tr>
              <a:tr h="731520">
                <a:tc>
                  <a:txBody>
                    <a:bodyPr wrap="square"/>
                    <a:lstStyle/>
                    <a:p>
                      <a:r>
                        <a:rPr sz="2222" b="1">
                          <a:solidFill>
                            <a:srgbClr val="343434"/>
                          </a:solidFill>
                          <a:latin typeface="Calibri"/>
                        </a:rPr>
                        <a:t>IndicXTREME [9]; IndicXNLI [1]</a:t>
                      </a:r>
                    </a:p>
                  </a:txBody>
                  <a:tcPr marL="128016" marR="91440" marT="45720" marB="45720" anchor="ctr">
                    <a:solidFill>
                      <a:srgbClr val="FFFFFF"/>
                    </a:solidFill>
                  </a:tcPr>
                </a:tc>
                <a:tc>
                  <a:txBody>
                    <a:bodyPr wrap="square"/>
                    <a:lstStyle/>
                    <a:p>
                      <a:r>
                        <a:rPr sz="2222" b="0">
                          <a:solidFill>
                            <a:srgbClr val="343434"/>
                          </a:solidFill>
                          <a:latin typeface="Calibri"/>
                        </a:rPr>
                        <a:t>Parallel Indic NLU benchmarks</a:t>
                      </a:r>
                    </a:p>
                  </a:txBody>
                  <a:tcPr marL="128016" marR="91440" marT="45720" marB="45720" anchor="ctr">
                    <a:solidFill>
                      <a:srgbClr val="FFFFFF"/>
                    </a:solidFill>
                  </a:tcPr>
                </a:tc>
                <a:tc>
                  <a:txBody>
                    <a:bodyPr wrap="square"/>
                    <a:lstStyle/>
                    <a:p>
                      <a:r>
                        <a:rPr sz="2222" b="0">
                          <a:solidFill>
                            <a:srgbClr val="343434"/>
                          </a:solidFill>
                          <a:latin typeface="Calibri"/>
                        </a:rPr>
                        <a:t>No finance, no ESG</a:t>
                      </a:r>
                    </a:p>
                  </a:txBody>
                  <a:tcPr marL="128016" marR="91440" marT="45720" marB="45720" anchor="ctr">
                    <a:solidFill>
                      <a:srgbClr val="FFFFFF"/>
                    </a:solidFill>
                  </a:tcPr>
                </a:tc>
              </a:tr>
              <a:tr h="731520">
                <a:tc>
                  <a:txBody>
                    <a:bodyPr wrap="square"/>
                    <a:lstStyle/>
                    <a:p>
                      <a:r>
                        <a:rPr sz="2222" b="1">
                          <a:solidFill>
                            <a:srgbClr val="343434"/>
                          </a:solidFill>
                          <a:latin typeface="Calibri"/>
                        </a:rPr>
                        <a:t>XTREME [13]; Lauscher et al. [19]</a:t>
                      </a:r>
                    </a:p>
                  </a:txBody>
                  <a:tcPr marL="128016" marR="91440" marT="45720" marB="45720" anchor="ctr">
                    <a:solidFill>
                      <a:srgbClr val="EEF4FA"/>
                    </a:solidFill>
                  </a:tcPr>
                </a:tc>
                <a:tc>
                  <a:txBody>
                    <a:bodyPr wrap="square"/>
                    <a:lstStyle/>
                    <a:p>
                      <a:r>
                        <a:rPr sz="2222" b="0">
                          <a:solidFill>
                            <a:srgbClr val="343434"/>
                          </a:solidFill>
                          <a:latin typeface="Calibri"/>
                        </a:rPr>
                        <a:t>Transfer gap; worse for distant languages</a:t>
                      </a:r>
                    </a:p>
                  </a:txBody>
                  <a:tcPr marL="128016" marR="91440" marT="45720" marB="45720" anchor="ctr">
                    <a:solidFill>
                      <a:srgbClr val="EEF4FA"/>
                    </a:solidFill>
                  </a:tcPr>
                </a:tc>
                <a:tc>
                  <a:txBody>
                    <a:bodyPr wrap="square"/>
                    <a:lstStyle/>
                    <a:p>
                      <a:r>
                        <a:rPr sz="2222" b="0">
                          <a:solidFill>
                            <a:srgbClr val="343434"/>
                          </a:solidFill>
                          <a:latin typeface="Calibri"/>
                        </a:rPr>
                        <a:t>Reported in aggregate</a:t>
                      </a:r>
                    </a:p>
                  </a:txBody>
                  <a:tcPr marL="128016" marR="91440" marT="45720" marB="45720" anchor="ctr">
                    <a:solidFill>
                      <a:srgbClr val="EEF4FA"/>
                    </a:solidFill>
                  </a:tcPr>
                </a:tc>
              </a:tr>
              <a:tr h="731520">
                <a:tc>
                  <a:txBody>
                    <a:bodyPr wrap="square"/>
                    <a:lstStyle/>
                    <a:p>
                      <a:r>
                        <a:rPr sz="2222" b="1">
                          <a:solidFill>
                            <a:srgbClr val="343434"/>
                          </a:solidFill>
                          <a:latin typeface="Calibri"/>
                        </a:rPr>
                        <a:t>Pires et al. [26]; Lin et al. [22]</a:t>
                      </a:r>
                    </a:p>
                  </a:txBody>
                  <a:tcPr marL="128016" marR="91440" marT="45720" marB="45720" anchor="ctr">
                    <a:solidFill>
                      <a:srgbClr val="FFFFFF"/>
                    </a:solidFill>
                  </a:tcPr>
                </a:tc>
                <a:tc>
                  <a:txBody>
                    <a:bodyPr wrap="square"/>
                    <a:lstStyle/>
                    <a:p>
                      <a:r>
                        <a:rPr sz="2222" b="0">
                          <a:solidFill>
                            <a:srgbClr val="343434"/>
                          </a:solidFill>
                          <a:latin typeface="Calibri"/>
                        </a:rPr>
                        <a:t>Language similarity predicts transfer</a:t>
                      </a:r>
                    </a:p>
                  </a:txBody>
                  <a:tcPr marL="128016" marR="91440" marT="45720" marB="45720" anchor="ctr">
                    <a:solidFill>
                      <a:srgbClr val="FFFFFF"/>
                    </a:solidFill>
                  </a:tcPr>
                </a:tc>
                <a:tc>
                  <a:txBody>
                    <a:bodyPr wrap="square"/>
                    <a:lstStyle/>
                    <a:p>
                      <a:r>
                        <a:rPr sz="2222" b="0">
                          <a:solidFill>
                            <a:srgbClr val="343434"/>
                          </a:solidFill>
                          <a:latin typeface="Calibri"/>
                        </a:rPr>
                        <a:t>Not tested on financial text</a:t>
                      </a:r>
                    </a:p>
                  </a:txBody>
                  <a:tcPr marL="128016" marR="91440" marT="45720" marB="45720" anchor="ctr">
                    <a:solidFill>
                      <a:srgbClr val="FFFFFF"/>
                    </a:solidFill>
                  </a:tcPr>
                </a:tc>
              </a:tr>
              <a:tr h="731520">
                <a:tc>
                  <a:txBody>
                    <a:bodyPr wrap="square"/>
                    <a:lstStyle/>
                    <a:p>
                      <a:r>
                        <a:rPr sz="2222" b="1">
                          <a:solidFill>
                            <a:srgbClr val="343434"/>
                          </a:solidFill>
                          <a:latin typeface="Calibri"/>
                        </a:rPr>
                        <a:t>Agrawal [2]; Artetxe [3]</a:t>
                      </a:r>
                    </a:p>
                  </a:txBody>
                  <a:tcPr marL="128016" marR="91440" marT="45720" marB="45720" anchor="ctr">
                    <a:solidFill>
                      <a:srgbClr val="EEF4FA"/>
                    </a:solidFill>
                  </a:tcPr>
                </a:tc>
                <a:tc>
                  <a:txBody>
                    <a:bodyPr wrap="square"/>
                    <a:lstStyle/>
                    <a:p>
                      <a:r>
                        <a:rPr sz="2222" b="0">
                          <a:solidFill>
                            <a:srgbClr val="343434"/>
                          </a:solidFill>
                          <a:latin typeface="Calibri"/>
                        </a:rPr>
                        <a:t>MT-built test sets can mislead</a:t>
                      </a:r>
                    </a:p>
                  </a:txBody>
                  <a:tcPr marL="128016" marR="91440" marT="45720" marB="45720" anchor="ctr">
                    <a:solidFill>
                      <a:srgbClr val="EEF4FA"/>
                    </a:solidFill>
                  </a:tcPr>
                </a:tc>
                <a:tc>
                  <a:txBody>
                    <a:bodyPr wrap="square"/>
                    <a:lstStyle/>
                    <a:p>
                      <a:r>
                        <a:rPr sz="2222" b="0">
                          <a:solidFill>
                            <a:srgbClr val="343434"/>
                          </a:solidFill>
                          <a:latin typeface="Calibri"/>
                        </a:rPr>
                        <a:t>Translation quality must be measured</a:t>
                      </a:r>
                    </a:p>
                  </a:txBody>
                  <a:tcPr marL="128016" marR="91440" marT="45720" marB="45720" anchor="ctr">
                    <a:solidFill>
                      <a:srgbClr val="EEF4FA"/>
                    </a:solidFill>
                  </a:tcPr>
                </a:tc>
              </a:tr>
              <a:tr h="731520">
                <a:tc>
                  <a:txBody>
                    <a:bodyPr wrap="square"/>
                    <a:lstStyle/>
                    <a:p>
                      <a:r>
                        <a:rPr sz="2222" b="1">
                          <a:solidFill>
                            <a:srgbClr val="343434"/>
                          </a:solidFill>
                          <a:latin typeface="Calibri"/>
                        </a:rPr>
                        <a:t>This study</a:t>
                      </a:r>
                    </a:p>
                  </a:txBody>
                  <a:tcPr marL="128016" marR="91440" marT="45720" marB="45720" anchor="ctr">
                    <a:solidFill>
                      <a:srgbClr val="E4B795"/>
                    </a:solidFill>
                  </a:tcPr>
                </a:tc>
                <a:tc>
                  <a:txBody>
                    <a:bodyPr wrap="square"/>
                    <a:lstStyle/>
                    <a:p>
                      <a:r>
                        <a:rPr sz="2222" b="1">
                          <a:solidFill>
                            <a:srgbClr val="343434"/>
                          </a:solidFill>
                          <a:latin typeface="Calibri"/>
                        </a:rPr>
                        <a:t>Parallel financial corpus + failure diagnosis</a:t>
                      </a:r>
                    </a:p>
                  </a:txBody>
                  <a:tcPr marL="128016" marR="91440" marT="45720" marB="45720" anchor="ctr">
                    <a:solidFill>
                      <a:srgbClr val="E4B795"/>
                    </a:solidFill>
                  </a:tcPr>
                </a:tc>
                <a:tc>
                  <a:txBody>
                    <a:bodyPr wrap="square"/>
                    <a:lstStyle/>
                    <a:p>
                      <a:r>
                        <a:rPr sz="2222" b="1">
                          <a:solidFill>
                            <a:srgbClr val="343434"/>
                          </a:solidFill>
                          <a:latin typeface="Calibri"/>
                        </a:rPr>
                        <a:t>Closes these gaps together</a:t>
                      </a:r>
                    </a:p>
                  </a:txBody>
                  <a:tcPr marL="128016" marR="91440" marT="45720" marB="45720" anchor="ctr">
                    <a:solidFill>
                      <a:srgbClr val="E4B795"/>
                    </a:solidFill>
                  </a:tcPr>
                </a:tc>
              </a:tr>
            </a:tbl>
          </a:graphicData>
        </a:graphic>
      </p:graphicFrame>
      <p:sp>
        <p:nvSpPr>
          <p:cNvPr id="16" name="TextBox 15"/>
          <p:cNvSpPr txBox="1"/>
          <p:nvPr/>
        </p:nvSpPr>
        <p:spPr>
          <a:xfrm>
            <a:off x="1005840" y="8823960"/>
            <a:ext cx="15727680" cy="365760"/>
          </a:xfrm>
          <a:prstGeom prst="rect">
            <a:avLst/>
          </a:prstGeom>
          <a:noFill/>
        </p:spPr>
        <p:txBody>
          <a:bodyPr wrap="square" lIns="0" rIns="0" tIns="0" bIns="0" anchor="t">
            <a:spAutoFit/>
          </a:bodyPr>
          <a:lstStyle/>
          <a:p>
            <a:pPr algn="l"/>
            <a:r>
              <a:rPr sz="1872" b="0" i="1">
                <a:solidFill>
                  <a:srgbClr val="8A94A0"/>
                </a:solidFill>
                <a:latin typeface="Calibri"/>
              </a:rPr>
              <a:t>28 studies reviewed in the report; the numbers refer to the reference list at the end.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Proposed System and Architecture</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5 / 22</a:t>
            </a:r>
          </a:p>
        </p:txBody>
      </p:sp>
      <p:sp>
        <p:nvSpPr>
          <p:cNvPr id="15" name="Rounded Rectangle 14"/>
          <p:cNvSpPr/>
          <p:nvPr/>
        </p:nvSpPr>
        <p:spPr>
          <a:xfrm>
            <a:off x="1005840" y="2834640"/>
            <a:ext cx="3566160" cy="1783080"/>
          </a:xfrm>
          <a:prstGeom prst="roundRect">
            <a:avLst>
              <a:gd name="adj" fmla="val 7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 y="3017520"/>
            <a:ext cx="3108960" cy="548640"/>
          </a:xfrm>
          <a:prstGeom prst="rect">
            <a:avLst/>
          </a:prstGeom>
          <a:noFill/>
        </p:spPr>
        <p:txBody>
          <a:bodyPr wrap="square" lIns="0" rIns="0" tIns="0" bIns="0" anchor="t">
            <a:spAutoFit/>
          </a:bodyPr>
          <a:lstStyle/>
          <a:p>
            <a:pPr algn="l"/>
            <a:r>
              <a:rPr sz="2690" b="1" i="0">
                <a:solidFill>
                  <a:srgbClr val="FFFFFF"/>
                </a:solidFill>
                <a:latin typeface="Calibri"/>
              </a:rPr>
              <a:t>1 · Corpus</a:t>
            </a:r>
          </a:p>
        </p:txBody>
      </p:sp>
      <p:sp>
        <p:nvSpPr>
          <p:cNvPr id="17" name="TextBox 16"/>
          <p:cNvSpPr txBox="1"/>
          <p:nvPr/>
        </p:nvSpPr>
        <p:spPr>
          <a:xfrm>
            <a:off x="1234440" y="3611880"/>
            <a:ext cx="3108960" cy="914400"/>
          </a:xfrm>
          <a:prstGeom prst="rect">
            <a:avLst/>
          </a:prstGeom>
          <a:noFill/>
        </p:spPr>
        <p:txBody>
          <a:bodyPr wrap="square" lIns="0" rIns="0" tIns="0" bIns="0" anchor="t">
            <a:spAutoFit/>
          </a:bodyPr>
          <a:lstStyle/>
          <a:p>
            <a:pPr algn="l"/>
            <a:r>
              <a:rPr sz="2106" b="0" i="0">
                <a:solidFill>
                  <a:srgbClr val="DCE8F5"/>
                </a:solidFill>
                <a:latin typeface="Calibri"/>
              </a:rPr>
              <a:t>Audit, align, translate, gate, freeze</a:t>
            </a:r>
          </a:p>
        </p:txBody>
      </p:sp>
      <p:sp>
        <p:nvSpPr>
          <p:cNvPr id="18" name="Rounded Rectangle 17"/>
          <p:cNvSpPr/>
          <p:nvPr/>
        </p:nvSpPr>
        <p:spPr>
          <a:xfrm>
            <a:off x="5059649" y="2834640"/>
            <a:ext cx="3566160" cy="1783080"/>
          </a:xfrm>
          <a:prstGeom prst="roundRect">
            <a:avLst>
              <a:gd name="adj" fmla="val 7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88249" y="3017520"/>
            <a:ext cx="3108960" cy="548640"/>
          </a:xfrm>
          <a:prstGeom prst="rect">
            <a:avLst/>
          </a:prstGeom>
          <a:noFill/>
        </p:spPr>
        <p:txBody>
          <a:bodyPr wrap="square" lIns="0" rIns="0" tIns="0" bIns="0" anchor="t">
            <a:spAutoFit/>
          </a:bodyPr>
          <a:lstStyle/>
          <a:p>
            <a:pPr algn="l"/>
            <a:r>
              <a:rPr sz="2690" b="1" i="0">
                <a:solidFill>
                  <a:srgbClr val="FFFFFF"/>
                </a:solidFill>
                <a:latin typeface="Calibri"/>
              </a:rPr>
              <a:t>2 · Training</a:t>
            </a:r>
          </a:p>
        </p:txBody>
      </p:sp>
      <p:sp>
        <p:nvSpPr>
          <p:cNvPr id="20" name="TextBox 19"/>
          <p:cNvSpPr txBox="1"/>
          <p:nvPr/>
        </p:nvSpPr>
        <p:spPr>
          <a:xfrm>
            <a:off x="5288249" y="3611880"/>
            <a:ext cx="3108960" cy="914400"/>
          </a:xfrm>
          <a:prstGeom prst="rect">
            <a:avLst/>
          </a:prstGeom>
          <a:noFill/>
        </p:spPr>
        <p:txBody>
          <a:bodyPr wrap="square" lIns="0" rIns="0" tIns="0" bIns="0" anchor="t">
            <a:spAutoFit/>
          </a:bodyPr>
          <a:lstStyle/>
          <a:p>
            <a:pPr algn="l"/>
            <a:r>
              <a:rPr sz="2106" b="0" i="0">
                <a:solidFill>
                  <a:srgbClr val="DCE8F5"/>
                </a:solidFill>
                <a:latin typeface="Calibri"/>
              </a:rPr>
              <a:t>Two encoders, 3 seeds, baseline gate</a:t>
            </a:r>
          </a:p>
        </p:txBody>
      </p:sp>
      <p:sp>
        <p:nvSpPr>
          <p:cNvPr id="21" name="Rounded Rectangle 20"/>
          <p:cNvSpPr/>
          <p:nvPr/>
        </p:nvSpPr>
        <p:spPr>
          <a:xfrm>
            <a:off x="9113459" y="2834640"/>
            <a:ext cx="3566160" cy="1783080"/>
          </a:xfrm>
          <a:prstGeom prst="roundRect">
            <a:avLst>
              <a:gd name="adj" fmla="val 7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42059" y="3017520"/>
            <a:ext cx="3108960" cy="548640"/>
          </a:xfrm>
          <a:prstGeom prst="rect">
            <a:avLst/>
          </a:prstGeom>
          <a:noFill/>
        </p:spPr>
        <p:txBody>
          <a:bodyPr wrap="square" lIns="0" rIns="0" tIns="0" bIns="0" anchor="t">
            <a:spAutoFit/>
          </a:bodyPr>
          <a:lstStyle/>
          <a:p>
            <a:pPr algn="l"/>
            <a:r>
              <a:rPr sz="2690" b="1" i="0">
                <a:solidFill>
                  <a:srgbClr val="FFFFFF"/>
                </a:solidFill>
                <a:latin typeface="Calibri"/>
              </a:rPr>
              <a:t>3 · Zero-shot transfer</a:t>
            </a:r>
          </a:p>
        </p:txBody>
      </p:sp>
      <p:sp>
        <p:nvSpPr>
          <p:cNvPr id="23" name="TextBox 22"/>
          <p:cNvSpPr txBox="1"/>
          <p:nvPr/>
        </p:nvSpPr>
        <p:spPr>
          <a:xfrm>
            <a:off x="9342059" y="3611880"/>
            <a:ext cx="3108960" cy="914400"/>
          </a:xfrm>
          <a:prstGeom prst="rect">
            <a:avLst/>
          </a:prstGeom>
          <a:noFill/>
        </p:spPr>
        <p:txBody>
          <a:bodyPr wrap="square" lIns="0" rIns="0" tIns="0" bIns="0" anchor="t">
            <a:spAutoFit/>
          </a:bodyPr>
          <a:lstStyle/>
          <a:p>
            <a:pPr algn="l"/>
            <a:r>
              <a:rPr sz="2106" b="0" i="0">
                <a:solidFill>
                  <a:srgbClr val="DCE8F5"/>
                </a:solidFill>
                <a:latin typeface="Calibri"/>
              </a:rPr>
              <a:t>21 conditions per task, transfer gap</a:t>
            </a:r>
          </a:p>
        </p:txBody>
      </p:sp>
      <p:sp>
        <p:nvSpPr>
          <p:cNvPr id="24" name="Rounded Rectangle 23"/>
          <p:cNvSpPr/>
          <p:nvPr/>
        </p:nvSpPr>
        <p:spPr>
          <a:xfrm>
            <a:off x="13167268" y="2834640"/>
            <a:ext cx="3566160" cy="1783080"/>
          </a:xfrm>
          <a:prstGeom prst="roundRect">
            <a:avLst>
              <a:gd name="adj" fmla="val 7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395868" y="3017520"/>
            <a:ext cx="3108960" cy="548640"/>
          </a:xfrm>
          <a:prstGeom prst="rect">
            <a:avLst/>
          </a:prstGeom>
          <a:noFill/>
        </p:spPr>
        <p:txBody>
          <a:bodyPr wrap="square" lIns="0" rIns="0" tIns="0" bIns="0" anchor="t">
            <a:spAutoFit/>
          </a:bodyPr>
          <a:lstStyle/>
          <a:p>
            <a:pPr algn="l"/>
            <a:r>
              <a:rPr sz="2690" b="1" i="0">
                <a:solidFill>
                  <a:srgbClr val="FFFFFF"/>
                </a:solidFill>
                <a:latin typeface="Calibri"/>
              </a:rPr>
              <a:t>4 · Source choice</a:t>
            </a:r>
          </a:p>
        </p:txBody>
      </p:sp>
      <p:sp>
        <p:nvSpPr>
          <p:cNvPr id="26" name="TextBox 25"/>
          <p:cNvSpPr txBox="1"/>
          <p:nvPr/>
        </p:nvSpPr>
        <p:spPr>
          <a:xfrm>
            <a:off x="13395868" y="3611880"/>
            <a:ext cx="3108960" cy="914400"/>
          </a:xfrm>
          <a:prstGeom prst="rect">
            <a:avLst/>
          </a:prstGeom>
          <a:noFill/>
        </p:spPr>
        <p:txBody>
          <a:bodyPr wrap="square" lIns="0" rIns="0" tIns="0" bIns="0" anchor="t">
            <a:spAutoFit/>
          </a:bodyPr>
          <a:lstStyle/>
          <a:p>
            <a:pPr algn="l"/>
            <a:r>
              <a:rPr sz="2106" b="0" i="0">
                <a:solidFill>
                  <a:srgbClr val="DCE8F5"/>
                </a:solidFill>
                <a:latin typeface="Calibri"/>
              </a:rPr>
              <a:t>Hindi, Bengali, Telugu as source</a:t>
            </a:r>
          </a:p>
        </p:txBody>
      </p:sp>
      <p:sp>
        <p:nvSpPr>
          <p:cNvPr id="27" name="Rounded Rectangle 26"/>
          <p:cNvSpPr/>
          <p:nvPr/>
        </p:nvSpPr>
        <p:spPr>
          <a:xfrm>
            <a:off x="13167268" y="5257800"/>
            <a:ext cx="3566160" cy="1783080"/>
          </a:xfrm>
          <a:prstGeom prst="roundRect">
            <a:avLst>
              <a:gd name="adj" fmla="val 7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395868" y="5440680"/>
            <a:ext cx="3108960" cy="548640"/>
          </a:xfrm>
          <a:prstGeom prst="rect">
            <a:avLst/>
          </a:prstGeom>
          <a:noFill/>
        </p:spPr>
        <p:txBody>
          <a:bodyPr wrap="square" lIns="0" rIns="0" tIns="0" bIns="0" anchor="t">
            <a:spAutoFit/>
          </a:bodyPr>
          <a:lstStyle/>
          <a:p>
            <a:pPr algn="l"/>
            <a:r>
              <a:rPr sz="2690" b="1" i="0">
                <a:solidFill>
                  <a:srgbClr val="FFFFFF"/>
                </a:solidFill>
                <a:latin typeface="Calibri"/>
              </a:rPr>
              <a:t>5 · Encoders</a:t>
            </a:r>
          </a:p>
        </p:txBody>
      </p:sp>
      <p:sp>
        <p:nvSpPr>
          <p:cNvPr id="29" name="TextBox 28"/>
          <p:cNvSpPr txBox="1"/>
          <p:nvPr/>
        </p:nvSpPr>
        <p:spPr>
          <a:xfrm>
            <a:off x="13395868" y="6035040"/>
            <a:ext cx="3108960" cy="914400"/>
          </a:xfrm>
          <a:prstGeom prst="rect">
            <a:avLst/>
          </a:prstGeom>
          <a:noFill/>
        </p:spPr>
        <p:txBody>
          <a:bodyPr wrap="square" lIns="0" rIns="0" tIns="0" bIns="0" anchor="t">
            <a:spAutoFit/>
          </a:bodyPr>
          <a:lstStyle/>
          <a:p>
            <a:pPr algn="l"/>
            <a:r>
              <a:rPr sz="2106" b="0" i="0">
                <a:solidFill>
                  <a:srgbClr val="DCE8F5"/>
                </a:solidFill>
                <a:latin typeface="Calibri"/>
              </a:rPr>
              <a:t>IndicBERT against mBERT</a:t>
            </a:r>
          </a:p>
        </p:txBody>
      </p:sp>
      <p:sp>
        <p:nvSpPr>
          <p:cNvPr id="30" name="Rounded Rectangle 29"/>
          <p:cNvSpPr/>
          <p:nvPr/>
        </p:nvSpPr>
        <p:spPr>
          <a:xfrm>
            <a:off x="9113459" y="5257800"/>
            <a:ext cx="3566160" cy="1783080"/>
          </a:xfrm>
          <a:prstGeom prst="roundRect">
            <a:avLst>
              <a:gd name="adj" fmla="val 7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42059" y="5440680"/>
            <a:ext cx="3108960" cy="548640"/>
          </a:xfrm>
          <a:prstGeom prst="rect">
            <a:avLst/>
          </a:prstGeom>
          <a:noFill/>
        </p:spPr>
        <p:txBody>
          <a:bodyPr wrap="square" lIns="0" rIns="0" tIns="0" bIns="0" anchor="t">
            <a:spAutoFit/>
          </a:bodyPr>
          <a:lstStyle/>
          <a:p>
            <a:pPr algn="l"/>
            <a:r>
              <a:rPr sz="2690" b="1" i="0">
                <a:solidFill>
                  <a:srgbClr val="FFFFFF"/>
                </a:solidFill>
                <a:latin typeface="Calibri"/>
              </a:rPr>
              <a:t>6 · Failure diagnosis</a:t>
            </a:r>
          </a:p>
        </p:txBody>
      </p:sp>
      <p:sp>
        <p:nvSpPr>
          <p:cNvPr id="32" name="TextBox 31"/>
          <p:cNvSpPr txBox="1"/>
          <p:nvPr/>
        </p:nvSpPr>
        <p:spPr>
          <a:xfrm>
            <a:off x="9342059" y="6035040"/>
            <a:ext cx="3108960" cy="914400"/>
          </a:xfrm>
          <a:prstGeom prst="rect">
            <a:avLst/>
          </a:prstGeom>
          <a:noFill/>
        </p:spPr>
        <p:txBody>
          <a:bodyPr wrap="square" lIns="0" rIns="0" tIns="0" bIns="0" anchor="t">
            <a:spAutoFit/>
          </a:bodyPr>
          <a:lstStyle/>
          <a:p>
            <a:pPr algn="l"/>
            <a:r>
              <a:rPr sz="2106" b="0" i="0">
                <a:solidFill>
                  <a:srgbClr val="DCE8F5"/>
                </a:solidFill>
                <a:latin typeface="Calibri"/>
              </a:rPr>
              <a:t>Three-stage router, one cause each</a:t>
            </a:r>
          </a:p>
        </p:txBody>
      </p:sp>
      <p:sp>
        <p:nvSpPr>
          <p:cNvPr id="33" name="Rounded Rectangle 32"/>
          <p:cNvSpPr/>
          <p:nvPr/>
        </p:nvSpPr>
        <p:spPr>
          <a:xfrm>
            <a:off x="5059649" y="5257800"/>
            <a:ext cx="3566160" cy="1783080"/>
          </a:xfrm>
          <a:prstGeom prst="roundRect">
            <a:avLst>
              <a:gd name="adj" fmla="val 7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88249" y="5440680"/>
            <a:ext cx="3108960" cy="548640"/>
          </a:xfrm>
          <a:prstGeom prst="rect">
            <a:avLst/>
          </a:prstGeom>
          <a:noFill/>
        </p:spPr>
        <p:txBody>
          <a:bodyPr wrap="square" lIns="0" rIns="0" tIns="0" bIns="0" anchor="t">
            <a:spAutoFit/>
          </a:bodyPr>
          <a:lstStyle/>
          <a:p>
            <a:pPr algn="l"/>
            <a:r>
              <a:rPr sz="2690" b="1" i="0">
                <a:solidFill>
                  <a:srgbClr val="FFFFFF"/>
                </a:solidFill>
                <a:latin typeface="Calibri"/>
              </a:rPr>
              <a:t>7 · Findings</a:t>
            </a:r>
          </a:p>
        </p:txBody>
      </p:sp>
      <p:sp>
        <p:nvSpPr>
          <p:cNvPr id="35" name="TextBox 34"/>
          <p:cNvSpPr txBox="1"/>
          <p:nvPr/>
        </p:nvSpPr>
        <p:spPr>
          <a:xfrm>
            <a:off x="5288249" y="6035040"/>
            <a:ext cx="3108960" cy="914400"/>
          </a:xfrm>
          <a:prstGeom prst="rect">
            <a:avLst/>
          </a:prstGeom>
          <a:noFill/>
        </p:spPr>
        <p:txBody>
          <a:bodyPr wrap="square" lIns="0" rIns="0" tIns="0" bIns="0" anchor="t">
            <a:spAutoFit/>
          </a:bodyPr>
          <a:lstStyle/>
          <a:p>
            <a:pPr algn="l"/>
            <a:r>
              <a:rPr sz="2106" b="0" i="0">
                <a:solidFill>
                  <a:srgbClr val="DCE8F5"/>
                </a:solidFill>
                <a:latin typeface="Calibri"/>
              </a:rPr>
              <a:t>Shares, intervals, finding rule</a:t>
            </a:r>
          </a:p>
        </p:txBody>
      </p:sp>
      <p:cxnSp>
        <p:nvCxnSpPr>
          <p:cNvPr id="36" name="Connector 35"/>
          <p:cNvCxnSpPr/>
          <p:nvPr/>
        </p:nvCxnSpPr>
        <p:spPr>
          <a:xfrm>
            <a:off x="4599432" y="3721608"/>
            <a:ext cx="432785"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53241" y="3721608"/>
            <a:ext cx="432786"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707051" y="3721608"/>
            <a:ext cx="432785"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950348" y="4645152"/>
            <a:ext cx="0" cy="585216"/>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2707051" y="6144768"/>
            <a:ext cx="432785"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653241" y="6144768"/>
            <a:ext cx="432786"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05840" y="5349240"/>
            <a:ext cx="3383280" cy="2011680"/>
          </a:xfrm>
          <a:prstGeom prst="rect">
            <a:avLst/>
          </a:prstGeom>
          <a:noFill/>
        </p:spPr>
        <p:txBody>
          <a:bodyPr wrap="square" lIns="0" rIns="0" tIns="0" bIns="0" anchor="t">
            <a:spAutoFit/>
          </a:bodyPr>
          <a:lstStyle/>
          <a:p>
            <a:pPr algn="l"/>
            <a:r>
              <a:rPr sz="2457" b="1" i="0">
                <a:solidFill>
                  <a:srgbClr val="164B82"/>
                </a:solidFill>
                <a:latin typeface="Calibri"/>
              </a:rPr>
              <a:t>Frozen artefact between phases: </a:t>
            </a:r>
            <a:r>
              <a:rPr sz="2457" b="0" i="0">
                <a:solidFill>
                  <a:srgbClr val="343434"/>
                </a:solidFill>
                <a:latin typeface="Calibri"/>
              </a:rPr>
              <a:t>corpus → checkpoints → predictions → failure sets → cause labels</a:t>
            </a:r>
          </a:p>
        </p:txBody>
      </p:sp>
      <p:sp>
        <p:nvSpPr>
          <p:cNvPr id="43" name="Rounded Rectangle 42"/>
          <p:cNvSpPr/>
          <p:nvPr/>
        </p:nvSpPr>
        <p:spPr>
          <a:xfrm>
            <a:off x="1005840" y="7772400"/>
            <a:ext cx="5029200" cy="118872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88720" y="7772400"/>
            <a:ext cx="4663440" cy="1188720"/>
          </a:xfrm>
          <a:prstGeom prst="rect">
            <a:avLst/>
          </a:prstGeom>
          <a:noFill/>
        </p:spPr>
        <p:txBody>
          <a:bodyPr wrap="square" lIns="0" rIns="0" tIns="0" bIns="0" anchor="ctr">
            <a:spAutoFit/>
          </a:bodyPr>
          <a:lstStyle/>
          <a:p>
            <a:pPr algn="ctr"/>
            <a:r>
              <a:rPr sz="2690" b="1" i="0">
                <a:solidFill>
                  <a:srgbClr val="164B82"/>
                </a:solidFill>
                <a:latin typeface="Calibri"/>
              </a:rPr>
              <a:t>Never drop a row: flag it</a:t>
            </a:r>
          </a:p>
        </p:txBody>
      </p:sp>
      <p:sp>
        <p:nvSpPr>
          <p:cNvPr id="45" name="Rounded Rectangle 44"/>
          <p:cNvSpPr/>
          <p:nvPr/>
        </p:nvSpPr>
        <p:spPr>
          <a:xfrm>
            <a:off x="6355079" y="7772400"/>
            <a:ext cx="5029200" cy="118872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37959" y="7772400"/>
            <a:ext cx="4663440" cy="1188720"/>
          </a:xfrm>
          <a:prstGeom prst="rect">
            <a:avLst/>
          </a:prstGeom>
          <a:noFill/>
        </p:spPr>
        <p:txBody>
          <a:bodyPr wrap="square" lIns="0" rIns="0" tIns="0" bIns="0" anchor="ctr">
            <a:spAutoFit/>
          </a:bodyPr>
          <a:lstStyle/>
          <a:p>
            <a:pPr algn="ctr"/>
            <a:r>
              <a:rPr sz="2690" b="1" i="0">
                <a:solidFill>
                  <a:srgbClr val="164B82"/>
                </a:solidFill>
                <a:latin typeface="Calibri"/>
              </a:rPr>
              <a:t>Seeded and config-hashed</a:t>
            </a:r>
          </a:p>
        </p:txBody>
      </p:sp>
      <p:sp>
        <p:nvSpPr>
          <p:cNvPr id="47" name="Rounded Rectangle 46"/>
          <p:cNvSpPr/>
          <p:nvPr/>
        </p:nvSpPr>
        <p:spPr>
          <a:xfrm>
            <a:off x="11704319" y="7772400"/>
            <a:ext cx="5029200" cy="118872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887199" y="7772400"/>
            <a:ext cx="4663440" cy="1188720"/>
          </a:xfrm>
          <a:prstGeom prst="rect">
            <a:avLst/>
          </a:prstGeom>
          <a:noFill/>
        </p:spPr>
        <p:txBody>
          <a:bodyPr wrap="square" lIns="0" rIns="0" tIns="0" bIns="0" anchor="ctr">
            <a:spAutoFit/>
          </a:bodyPr>
          <a:lstStyle/>
          <a:p>
            <a:pPr algn="ctr"/>
            <a:r>
              <a:rPr sz="2690" b="1" i="0">
                <a:solidFill>
                  <a:srgbClr val="164B82"/>
                </a:solidFill>
                <a:latin typeface="Calibri"/>
              </a:rPr>
              <a:t>Frozen artefacts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Tools, Technologies and Dataset</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6 / 22</a:t>
            </a:r>
          </a:p>
        </p:txBody>
      </p:sp>
      <p:sp>
        <p:nvSpPr>
          <p:cNvPr id="15" name="TextBox 14"/>
          <p:cNvSpPr txBox="1"/>
          <p:nvPr/>
        </p:nvSpPr>
        <p:spPr>
          <a:xfrm>
            <a:off x="1005840" y="2743200"/>
            <a:ext cx="8229600" cy="320040"/>
          </a:xfrm>
          <a:prstGeom prst="rect">
            <a:avLst/>
          </a:prstGeom>
          <a:noFill/>
        </p:spPr>
        <p:txBody>
          <a:bodyPr wrap="square" lIns="0" rIns="0" tIns="0" bIns="0" anchor="t">
            <a:spAutoFit/>
          </a:bodyPr>
          <a:lstStyle/>
          <a:p>
            <a:pPr algn="l"/>
            <a:r>
              <a:rPr sz="1989" b="1" i="0">
                <a:solidFill>
                  <a:srgbClr val="2F679F"/>
                </a:solidFill>
                <a:latin typeface="Calibri"/>
              </a:rPr>
              <a:t>DATASET: INDICFINNLP [12]</a:t>
            </a:r>
          </a:p>
        </p:txBody>
      </p:sp>
      <p:graphicFrame>
        <p:nvGraphicFramePr>
          <p:cNvPr id="16" name="Table 15"/>
          <p:cNvGraphicFramePr>
            <a:graphicFrameLocks noGrp="1"/>
          </p:cNvGraphicFramePr>
          <p:nvPr/>
        </p:nvGraphicFramePr>
        <p:xfrm>
          <a:off x="1005840" y="3154680"/>
          <a:ext cx="8503920" cy="1920240"/>
        </p:xfrm>
        <a:graphic>
          <a:graphicData uri="http://schemas.openxmlformats.org/drawingml/2006/table">
            <a:tbl>
              <a:tblPr firstRow="0" bandRow="0">
                <a:tableStyleId>{2D5ABB26-0587-4C30-8999-92F81FD0307C}</a:tableStyleId>
              </a:tblPr>
              <a:tblGrid>
                <a:gridCol w="1371600"/>
                <a:gridCol w="3566160"/>
                <a:gridCol w="1097280"/>
                <a:gridCol w="1280160"/>
                <a:gridCol w="1188720"/>
              </a:tblGrid>
              <a:tr h="640080">
                <a:tc>
                  <a:txBody>
                    <a:bodyPr wrap="square"/>
                    <a:lstStyle/>
                    <a:p>
                      <a:r>
                        <a:rPr sz="2222" b="1">
                          <a:solidFill>
                            <a:srgbClr val="FFFFFF"/>
                          </a:solidFill>
                          <a:latin typeface="Calibri"/>
                        </a:rPr>
                        <a:t>Task</a:t>
                      </a:r>
                    </a:p>
                  </a:txBody>
                  <a:tcPr marL="128016" marR="91440" marT="45720" marB="45720" anchor="ctr">
                    <a:solidFill>
                      <a:srgbClr val="164B82"/>
                    </a:solidFill>
                  </a:tcPr>
                </a:tc>
                <a:tc>
                  <a:txBody>
                    <a:bodyPr wrap="square"/>
                    <a:lstStyle/>
                    <a:p>
                      <a:r>
                        <a:rPr sz="2222" b="1">
                          <a:solidFill>
                            <a:srgbClr val="FFFFFF"/>
                          </a:solidFill>
                          <a:latin typeface="Calibri"/>
                        </a:rPr>
                        <a:t>Content</a:t>
                      </a:r>
                    </a:p>
                  </a:txBody>
                  <a:tcPr marL="128016" marR="91440" marT="45720" marB="45720" anchor="ctr">
                    <a:solidFill>
                      <a:srgbClr val="164B82"/>
                    </a:solidFill>
                  </a:tcPr>
                </a:tc>
                <a:tc>
                  <a:txBody>
                    <a:bodyPr wrap="square"/>
                    <a:lstStyle/>
                    <a:p>
                      <a:r>
                        <a:rPr sz="2222" b="1">
                          <a:solidFill>
                            <a:srgbClr val="FFFFFF"/>
                          </a:solidFill>
                          <a:latin typeface="Calibri"/>
                        </a:rPr>
                        <a:t>Hindi</a:t>
                      </a:r>
                    </a:p>
                  </a:txBody>
                  <a:tcPr marL="128016" marR="91440" marT="45720" marB="45720" anchor="ctr">
                    <a:solidFill>
                      <a:srgbClr val="164B82"/>
                    </a:solidFill>
                  </a:tcPr>
                </a:tc>
                <a:tc>
                  <a:txBody>
                    <a:bodyPr wrap="square"/>
                    <a:lstStyle/>
                    <a:p>
                      <a:r>
                        <a:rPr sz="2222" b="1">
                          <a:solidFill>
                            <a:srgbClr val="FFFFFF"/>
                          </a:solidFill>
                          <a:latin typeface="Calibri"/>
                        </a:rPr>
                        <a:t>Bengali</a:t>
                      </a:r>
                    </a:p>
                  </a:txBody>
                  <a:tcPr marL="128016" marR="91440" marT="45720" marB="45720" anchor="ctr">
                    <a:solidFill>
                      <a:srgbClr val="164B82"/>
                    </a:solidFill>
                  </a:tcPr>
                </a:tc>
                <a:tc>
                  <a:txBody>
                    <a:bodyPr wrap="square"/>
                    <a:lstStyle/>
                    <a:p>
                      <a:r>
                        <a:rPr sz="2222" b="1">
                          <a:solidFill>
                            <a:srgbClr val="FFFFFF"/>
                          </a:solidFill>
                          <a:latin typeface="Calibri"/>
                        </a:rPr>
                        <a:t>Telugu</a:t>
                      </a:r>
                    </a:p>
                  </a:txBody>
                  <a:tcPr marL="128016" marR="91440" marT="45720" marB="45720" anchor="ctr">
                    <a:solidFill>
                      <a:srgbClr val="164B82"/>
                    </a:solidFill>
                  </a:tcPr>
                </a:tc>
              </a:tr>
              <a:tr h="640080">
                <a:tc>
                  <a:txBody>
                    <a:bodyPr wrap="square"/>
                    <a:lstStyle/>
                    <a:p>
                      <a:r>
                        <a:rPr sz="2222" b="0">
                          <a:solidFill>
                            <a:srgbClr val="343434"/>
                          </a:solidFill>
                          <a:latin typeface="Calibri"/>
                        </a:rPr>
                        <a:t>2</a:t>
                      </a:r>
                    </a:p>
                  </a:txBody>
                  <a:tcPr marL="128016" marR="91440" marT="45720" marB="45720" anchor="ctr">
                    <a:solidFill>
                      <a:srgbClr val="FFFFFF"/>
                    </a:solidFill>
                  </a:tcPr>
                </a:tc>
                <a:tc>
                  <a:txBody>
                    <a:bodyPr wrap="square"/>
                    <a:lstStyle/>
                    <a:p>
                      <a:r>
                        <a:rPr sz="2222" b="0">
                          <a:solidFill>
                            <a:srgbClr val="343434"/>
                          </a:solidFill>
                          <a:latin typeface="Calibri"/>
                        </a:rPr>
                        <a:t>Sustainability (2 classes)</a:t>
                      </a:r>
                    </a:p>
                  </a:txBody>
                  <a:tcPr marL="128016" marR="91440" marT="45720" marB="45720" anchor="ctr">
                    <a:solidFill>
                      <a:srgbClr val="FFFFFF"/>
                    </a:solidFill>
                  </a:tcPr>
                </a:tc>
                <a:tc>
                  <a:txBody>
                    <a:bodyPr wrap="square"/>
                    <a:lstStyle/>
                    <a:p>
                      <a:r>
                        <a:rPr sz="2222" b="0">
                          <a:solidFill>
                            <a:srgbClr val="343434"/>
                          </a:solidFill>
                          <a:latin typeface="Calibri"/>
                        </a:rPr>
                        <a:t>2,238</a:t>
                      </a:r>
                    </a:p>
                  </a:txBody>
                  <a:tcPr marL="128016" marR="91440" marT="45720" marB="45720" anchor="ctr">
                    <a:solidFill>
                      <a:srgbClr val="FFFFFF"/>
                    </a:solidFill>
                  </a:tcPr>
                </a:tc>
                <a:tc>
                  <a:txBody>
                    <a:bodyPr wrap="square"/>
                    <a:lstStyle/>
                    <a:p>
                      <a:r>
                        <a:rPr sz="2222" b="0">
                          <a:solidFill>
                            <a:srgbClr val="343434"/>
                          </a:solidFill>
                          <a:latin typeface="Calibri"/>
                        </a:rPr>
                        <a:t>2,228</a:t>
                      </a:r>
                    </a:p>
                  </a:txBody>
                  <a:tcPr marL="128016" marR="91440" marT="45720" marB="45720" anchor="ctr">
                    <a:solidFill>
                      <a:srgbClr val="FFFFFF"/>
                    </a:solidFill>
                  </a:tcPr>
                </a:tc>
                <a:tc>
                  <a:txBody>
                    <a:bodyPr wrap="square"/>
                    <a:lstStyle/>
                    <a:p>
                      <a:r>
                        <a:rPr sz="2222" b="0">
                          <a:solidFill>
                            <a:srgbClr val="343434"/>
                          </a:solidFill>
                          <a:latin typeface="Calibri"/>
                        </a:rPr>
                        <a:t>2,072</a:t>
                      </a:r>
                    </a:p>
                  </a:txBody>
                  <a:tcPr marL="128016" marR="91440" marT="45720" marB="45720" anchor="ctr">
                    <a:solidFill>
                      <a:srgbClr val="FFFFFF"/>
                    </a:solidFill>
                  </a:tcPr>
                </a:tc>
              </a:tr>
              <a:tr h="640080">
                <a:tc>
                  <a:txBody>
                    <a:bodyPr wrap="square"/>
                    <a:lstStyle/>
                    <a:p>
                      <a:r>
                        <a:rPr sz="2222" b="0">
                          <a:solidFill>
                            <a:srgbClr val="343434"/>
                          </a:solidFill>
                          <a:latin typeface="Calibri"/>
                        </a:rPr>
                        <a:t>3</a:t>
                      </a:r>
                    </a:p>
                  </a:txBody>
                  <a:tcPr marL="128016" marR="91440" marT="45720" marB="45720" anchor="ctr">
                    <a:solidFill>
                      <a:srgbClr val="EEF4FA"/>
                    </a:solidFill>
                  </a:tcPr>
                </a:tc>
                <a:tc>
                  <a:txBody>
                    <a:bodyPr wrap="square"/>
                    <a:lstStyle/>
                    <a:p>
                      <a:r>
                        <a:rPr sz="2222" b="0">
                          <a:solidFill>
                            <a:srgbClr val="343434"/>
                          </a:solidFill>
                          <a:latin typeface="Calibri"/>
                        </a:rPr>
                        <a:t>ESG theme (10 classes)</a:t>
                      </a:r>
                    </a:p>
                  </a:txBody>
                  <a:tcPr marL="128016" marR="91440" marT="45720" marB="45720" anchor="ctr">
                    <a:solidFill>
                      <a:srgbClr val="EEF4FA"/>
                    </a:solidFill>
                  </a:tcPr>
                </a:tc>
                <a:tc>
                  <a:txBody>
                    <a:bodyPr wrap="square"/>
                    <a:lstStyle/>
                    <a:p>
                      <a:r>
                        <a:rPr sz="2222" b="0">
                          <a:solidFill>
                            <a:srgbClr val="343434"/>
                          </a:solidFill>
                          <a:latin typeface="Calibri"/>
                        </a:rPr>
                        <a:t>532</a:t>
                      </a:r>
                    </a:p>
                  </a:txBody>
                  <a:tcPr marL="128016" marR="91440" marT="45720" marB="45720" anchor="ctr">
                    <a:solidFill>
                      <a:srgbClr val="EEF4FA"/>
                    </a:solidFill>
                  </a:tcPr>
                </a:tc>
                <a:tc>
                  <a:txBody>
                    <a:bodyPr wrap="square"/>
                    <a:lstStyle/>
                    <a:p>
                      <a:r>
                        <a:rPr sz="2222" b="0">
                          <a:solidFill>
                            <a:srgbClr val="343434"/>
                          </a:solidFill>
                          <a:latin typeface="Calibri"/>
                        </a:rPr>
                        <a:t>532</a:t>
                      </a:r>
                    </a:p>
                  </a:txBody>
                  <a:tcPr marL="128016" marR="91440" marT="45720" marB="45720" anchor="ctr">
                    <a:solidFill>
                      <a:srgbClr val="EEF4FA"/>
                    </a:solidFill>
                  </a:tcPr>
                </a:tc>
                <a:tc>
                  <a:txBody>
                    <a:bodyPr wrap="square"/>
                    <a:lstStyle/>
                    <a:p>
                      <a:r>
                        <a:rPr sz="2222" b="0">
                          <a:solidFill>
                            <a:srgbClr val="343434"/>
                          </a:solidFill>
                          <a:latin typeface="Calibri"/>
                        </a:rPr>
                        <a:t>532</a:t>
                      </a:r>
                    </a:p>
                  </a:txBody>
                  <a:tcPr marL="128016" marR="91440" marT="45720" marB="45720" anchor="ctr">
                    <a:solidFill>
                      <a:srgbClr val="EEF4FA"/>
                    </a:solidFill>
                  </a:tcPr>
                </a:tc>
              </a:tr>
            </a:tbl>
          </a:graphicData>
        </a:graphic>
      </p:graphicFrame>
      <p:sp>
        <p:nvSpPr>
          <p:cNvPr id="17" name="TextBox 16"/>
          <p:cNvSpPr txBox="1"/>
          <p:nvPr/>
        </p:nvSpPr>
        <p:spPr>
          <a:xfrm>
            <a:off x="1005840" y="5486400"/>
            <a:ext cx="8503920" cy="3474720"/>
          </a:xfrm>
          <a:prstGeom prst="rect">
            <a:avLst/>
          </a:prstGeom>
          <a:noFill/>
        </p:spPr>
        <p:txBody>
          <a:bodyPr wrap="square" lIns="0" rIns="0" tIns="0" bIns="0">
            <a:spAutoFit/>
          </a:bodyPr>
          <a:lstStyle/>
          <a:p>
            <a:pPr marL="384048" indent="-384048">
              <a:spcAft>
                <a:spcPts val="1200"/>
              </a:spcAft>
              <a:buClr>
                <a:srgbClr val="2F679F"/>
              </a:buClr>
              <a:buFont typeface="Arial"/>
              <a:buChar char="•"/>
            </a:pPr>
            <a:r>
              <a:rPr sz="2808" b="0">
                <a:solidFill>
                  <a:srgbClr val="343434"/>
                </a:solidFill>
                <a:latin typeface="Calibri"/>
              </a:rPr>
              <a:t>Malayalam: machine translation only</a:t>
            </a:r>
          </a:p>
          <a:p>
            <a:pPr marL="384048" indent="-384048">
              <a:spcAft>
                <a:spcPts val="1200"/>
              </a:spcAft>
              <a:buClr>
                <a:srgbClr val="2F679F"/>
              </a:buClr>
              <a:buFont typeface="Arial"/>
              <a:buChar char="•"/>
            </a:pPr>
            <a:r>
              <a:rPr sz="2808" b="0">
                <a:solidFill>
                  <a:srgbClr val="343434"/>
                </a:solidFill>
                <a:latin typeface="Calibri"/>
              </a:rPr>
              <a:t>Upstream files kept byte for byte, SHA-256</a:t>
            </a:r>
          </a:p>
          <a:p>
            <a:pPr marL="384048" indent="-384048">
              <a:spcAft>
                <a:spcPts val="1200"/>
              </a:spcAft>
              <a:buClr>
                <a:srgbClr val="2F679F"/>
              </a:buClr>
              <a:buFont typeface="Arial"/>
              <a:buChar char="•"/>
            </a:pPr>
            <a:r>
              <a:rPr sz="2808" b="0">
                <a:solidFill>
                  <a:srgbClr val="343434"/>
                </a:solidFill>
                <a:latin typeface="Calibri"/>
              </a:rPr>
              <a:t>Row counts: native rows, none dropped</a:t>
            </a:r>
          </a:p>
          <a:p>
            <a:pPr marL="384048" indent="-384048">
              <a:spcAft>
                <a:spcPts val="1200"/>
              </a:spcAft>
              <a:buClr>
                <a:srgbClr val="2F679F"/>
              </a:buClr>
              <a:buFont typeface="Arial"/>
              <a:buChar char="•"/>
            </a:pPr>
            <a:r>
              <a:rPr sz="2808" b="0">
                <a:solidFill>
                  <a:srgbClr val="343434"/>
                </a:solidFill>
                <a:latin typeface="Calibri"/>
              </a:rPr>
              <a:t>Licence: CC BY-NC-SA 4.0</a:t>
            </a:r>
          </a:p>
        </p:txBody>
      </p:sp>
      <p:sp>
        <p:nvSpPr>
          <p:cNvPr id="18" name="TextBox 17"/>
          <p:cNvSpPr txBox="1"/>
          <p:nvPr/>
        </p:nvSpPr>
        <p:spPr>
          <a:xfrm>
            <a:off x="9966960" y="2743200"/>
            <a:ext cx="6400800" cy="320040"/>
          </a:xfrm>
          <a:prstGeom prst="rect">
            <a:avLst/>
          </a:prstGeom>
          <a:noFill/>
        </p:spPr>
        <p:txBody>
          <a:bodyPr wrap="square" lIns="0" rIns="0" tIns="0" bIns="0" anchor="t">
            <a:spAutoFit/>
          </a:bodyPr>
          <a:lstStyle/>
          <a:p>
            <a:pPr algn="l"/>
            <a:r>
              <a:rPr sz="1989" b="1" i="0">
                <a:solidFill>
                  <a:srgbClr val="2F679F"/>
                </a:solidFill>
                <a:latin typeface="Calibri"/>
              </a:rPr>
              <a:t>TOOLS</a:t>
            </a:r>
          </a:p>
        </p:txBody>
      </p:sp>
      <p:graphicFrame>
        <p:nvGraphicFramePr>
          <p:cNvPr id="19" name="Table 18"/>
          <p:cNvGraphicFramePr>
            <a:graphicFrameLocks noGrp="1"/>
          </p:cNvGraphicFramePr>
          <p:nvPr/>
        </p:nvGraphicFramePr>
        <p:xfrm>
          <a:off x="9966960" y="3154680"/>
          <a:ext cx="6766560" cy="5102352"/>
        </p:xfrm>
        <a:graphic>
          <a:graphicData uri="http://schemas.openxmlformats.org/drawingml/2006/table">
            <a:tbl>
              <a:tblPr firstRow="0" bandRow="0">
                <a:tableStyleId>{2D5ABB26-0587-4C30-8999-92F81FD0307C}</a:tableStyleId>
              </a:tblPr>
              <a:tblGrid>
                <a:gridCol w="2286000"/>
                <a:gridCol w="4480560"/>
              </a:tblGrid>
              <a:tr h="566928">
                <a:tc>
                  <a:txBody>
                    <a:bodyPr wrap="square"/>
                    <a:lstStyle/>
                    <a:p>
                      <a:r>
                        <a:rPr sz="2222" b="1">
                          <a:solidFill>
                            <a:srgbClr val="FFFFFF"/>
                          </a:solidFill>
                          <a:latin typeface="Calibri"/>
                        </a:rPr>
                        <a:t>Component</a:t>
                      </a:r>
                    </a:p>
                  </a:txBody>
                  <a:tcPr marL="128016" marR="91440" marT="45720" marB="45720" anchor="ctr">
                    <a:solidFill>
                      <a:srgbClr val="164B82"/>
                    </a:solidFill>
                  </a:tcPr>
                </a:tc>
                <a:tc>
                  <a:txBody>
                    <a:bodyPr wrap="square"/>
                    <a:lstStyle/>
                    <a:p>
                      <a:r>
                        <a:rPr sz="2222" b="1">
                          <a:solidFill>
                            <a:srgbClr val="FFFFFF"/>
                          </a:solidFill>
                          <a:latin typeface="Calibri"/>
                        </a:rPr>
                        <a:t>Choice</a:t>
                      </a:r>
                    </a:p>
                  </a:txBody>
                  <a:tcPr marL="128016" marR="91440" marT="45720" marB="45720" anchor="ctr">
                    <a:solidFill>
                      <a:srgbClr val="164B82"/>
                    </a:solidFill>
                  </a:tcPr>
                </a:tc>
              </a:tr>
              <a:tr h="566928">
                <a:tc>
                  <a:txBody>
                    <a:bodyPr wrap="square"/>
                    <a:lstStyle/>
                    <a:p>
                      <a:r>
                        <a:rPr sz="2222" b="1">
                          <a:solidFill>
                            <a:srgbClr val="343434"/>
                          </a:solidFill>
                          <a:latin typeface="Calibri"/>
                        </a:rPr>
                        <a:t>Translation</a:t>
                      </a:r>
                    </a:p>
                  </a:txBody>
                  <a:tcPr marL="128016" marR="91440" marT="45720" marB="45720" anchor="ctr">
                    <a:solidFill>
                      <a:srgbClr val="FFFFFF"/>
                    </a:solidFill>
                  </a:tcPr>
                </a:tc>
                <a:tc>
                  <a:txBody>
                    <a:bodyPr wrap="square"/>
                    <a:lstStyle/>
                    <a:p>
                      <a:r>
                        <a:rPr sz="2222" b="0">
                          <a:solidFill>
                            <a:srgbClr val="343434"/>
                          </a:solidFill>
                          <a:latin typeface="Calibri"/>
                        </a:rPr>
                        <a:t>IndicTrans2 1B [11]</a:t>
                      </a:r>
                    </a:p>
                  </a:txBody>
                  <a:tcPr marL="128016" marR="91440" marT="45720" marB="45720" anchor="ctr">
                    <a:solidFill>
                      <a:srgbClr val="FFFFFF"/>
                    </a:solidFill>
                  </a:tcPr>
                </a:tc>
              </a:tr>
              <a:tr h="566928">
                <a:tc>
                  <a:txBody>
                    <a:bodyPr wrap="square"/>
                    <a:lstStyle/>
                    <a:p>
                      <a:r>
                        <a:rPr sz="2222" b="1">
                          <a:solidFill>
                            <a:srgbClr val="343434"/>
                          </a:solidFill>
                          <a:latin typeface="Calibri"/>
                        </a:rPr>
                        <a:t>Similarity</a:t>
                      </a:r>
                    </a:p>
                  </a:txBody>
                  <a:tcPr marL="128016" marR="91440" marT="45720" marB="45720" anchor="ctr">
                    <a:solidFill>
                      <a:srgbClr val="EEF4FA"/>
                    </a:solidFill>
                  </a:tcPr>
                </a:tc>
                <a:tc>
                  <a:txBody>
                    <a:bodyPr wrap="square"/>
                    <a:lstStyle/>
                    <a:p>
                      <a:r>
                        <a:rPr sz="2222" b="0">
                          <a:solidFill>
                            <a:srgbClr val="343434"/>
                          </a:solidFill>
                          <a:latin typeface="Calibri"/>
                        </a:rPr>
                        <a:t>LaBSE [10]</a:t>
                      </a:r>
                    </a:p>
                  </a:txBody>
                  <a:tcPr marL="128016" marR="91440" marT="45720" marB="45720" anchor="ctr">
                    <a:solidFill>
                      <a:srgbClr val="EEF4FA"/>
                    </a:solidFill>
                  </a:tcPr>
                </a:tc>
              </a:tr>
              <a:tr h="566928">
                <a:tc>
                  <a:txBody>
                    <a:bodyPr wrap="square"/>
                    <a:lstStyle/>
                    <a:p>
                      <a:r>
                        <a:rPr sz="2222" b="1">
                          <a:solidFill>
                            <a:srgbClr val="343434"/>
                          </a:solidFill>
                          <a:latin typeface="Calibri"/>
                        </a:rPr>
                        <a:t>Encoders</a:t>
                      </a:r>
                    </a:p>
                  </a:txBody>
                  <a:tcPr marL="128016" marR="91440" marT="45720" marB="45720" anchor="ctr">
                    <a:solidFill>
                      <a:srgbClr val="FFFFFF"/>
                    </a:solidFill>
                  </a:tcPr>
                </a:tc>
                <a:tc>
                  <a:txBody>
                    <a:bodyPr wrap="square"/>
                    <a:lstStyle/>
                    <a:p>
                      <a:r>
                        <a:rPr sz="2222" b="0">
                          <a:solidFill>
                            <a:srgbClr val="343434"/>
                          </a:solidFill>
                          <a:latin typeface="Calibri"/>
                        </a:rPr>
                        <a:t>IndicBERT [17] · mBERT [26]</a:t>
                      </a:r>
                    </a:p>
                  </a:txBody>
                  <a:tcPr marL="128016" marR="91440" marT="45720" marB="45720" anchor="ctr">
                    <a:solidFill>
                      <a:srgbClr val="FFFFFF"/>
                    </a:solidFill>
                  </a:tcPr>
                </a:tc>
              </a:tr>
              <a:tr h="566928">
                <a:tc>
                  <a:txBody>
                    <a:bodyPr wrap="square"/>
                    <a:lstStyle/>
                    <a:p>
                      <a:r>
                        <a:rPr sz="2222" b="1">
                          <a:solidFill>
                            <a:srgbClr val="343434"/>
                          </a:solidFill>
                          <a:latin typeface="Calibri"/>
                        </a:rPr>
                        <a:t>Libraries</a:t>
                      </a:r>
                    </a:p>
                  </a:txBody>
                  <a:tcPr marL="128016" marR="91440" marT="45720" marB="45720" anchor="ctr">
                    <a:solidFill>
                      <a:srgbClr val="EEF4FA"/>
                    </a:solidFill>
                  </a:tcPr>
                </a:tc>
                <a:tc>
                  <a:txBody>
                    <a:bodyPr wrap="square"/>
                    <a:lstStyle/>
                    <a:p>
                      <a:r>
                        <a:rPr sz="2222" b="0">
                          <a:solidFill>
                            <a:srgbClr val="343434"/>
                          </a:solidFill>
                          <a:latin typeface="Calibri"/>
                        </a:rPr>
                        <a:t>transformers 4.57.6</a:t>
                      </a:r>
                    </a:p>
                  </a:txBody>
                  <a:tcPr marL="128016" marR="91440" marT="45720" marB="45720" anchor="ctr">
                    <a:solidFill>
                      <a:srgbClr val="EEF4FA"/>
                    </a:solidFill>
                  </a:tcPr>
                </a:tc>
              </a:tr>
              <a:tr h="566928">
                <a:tc>
                  <a:txBody>
                    <a:bodyPr wrap="square"/>
                    <a:lstStyle/>
                    <a:p>
                      <a:r>
                        <a:rPr sz="2222" b="1">
                          <a:solidFill>
                            <a:srgbClr val="343434"/>
                          </a:solidFill>
                          <a:latin typeface="Calibri"/>
                        </a:rPr>
                        <a:t>Storage</a:t>
                      </a:r>
                    </a:p>
                  </a:txBody>
                  <a:tcPr marL="128016" marR="91440" marT="45720" marB="45720" anchor="ctr">
                    <a:solidFill>
                      <a:srgbClr val="FFFFFF"/>
                    </a:solidFill>
                  </a:tcPr>
                </a:tc>
                <a:tc>
                  <a:txBody>
                    <a:bodyPr wrap="square"/>
                    <a:lstStyle/>
                    <a:p>
                      <a:r>
                        <a:rPr sz="2222" b="0">
                          <a:solidFill>
                            <a:srgbClr val="343434"/>
                          </a:solidFill>
                          <a:latin typeface="Calibri"/>
                        </a:rPr>
                        <a:t>Parquet · JSON configs</a:t>
                      </a:r>
                    </a:p>
                  </a:txBody>
                  <a:tcPr marL="128016" marR="91440" marT="45720" marB="45720" anchor="ctr">
                    <a:solidFill>
                      <a:srgbClr val="FFFFFF"/>
                    </a:solidFill>
                  </a:tcPr>
                </a:tc>
              </a:tr>
              <a:tr h="566928">
                <a:tc>
                  <a:txBody>
                    <a:bodyPr wrap="square"/>
                    <a:lstStyle/>
                    <a:p>
                      <a:r>
                        <a:rPr sz="2222" b="1">
                          <a:solidFill>
                            <a:srgbClr val="343434"/>
                          </a:solidFill>
                          <a:latin typeface="Calibri"/>
                        </a:rPr>
                        <a:t>GPU</a:t>
                      </a:r>
                    </a:p>
                  </a:txBody>
                  <a:tcPr marL="128016" marR="91440" marT="45720" marB="45720" anchor="ctr">
                    <a:solidFill>
                      <a:srgbClr val="EEF4FA"/>
                    </a:solidFill>
                  </a:tcPr>
                </a:tc>
                <a:tc>
                  <a:txBody>
                    <a:bodyPr wrap="square"/>
                    <a:lstStyle/>
                    <a:p>
                      <a:r>
                        <a:rPr sz="2222" b="0">
                          <a:solidFill>
                            <a:srgbClr val="343434"/>
                          </a:solidFill>
                          <a:latin typeface="Calibri"/>
                        </a:rPr>
                        <a:t>RTX 3050 Laptop, 4 GB</a:t>
                      </a:r>
                    </a:p>
                  </a:txBody>
                  <a:tcPr marL="128016" marR="91440" marT="45720" marB="45720" anchor="ctr">
                    <a:solidFill>
                      <a:srgbClr val="EEF4FA"/>
                    </a:solidFill>
                  </a:tcPr>
                </a:tc>
              </a:tr>
              <a:tr h="566928">
                <a:tc>
                  <a:txBody>
                    <a:bodyPr wrap="square"/>
                    <a:lstStyle/>
                    <a:p>
                      <a:r>
                        <a:rPr sz="2222" b="1">
                          <a:solidFill>
                            <a:srgbClr val="343434"/>
                          </a:solidFill>
                          <a:latin typeface="Calibri"/>
                        </a:rPr>
                        <a:t>Language</a:t>
                      </a:r>
                    </a:p>
                  </a:txBody>
                  <a:tcPr marL="128016" marR="91440" marT="45720" marB="45720" anchor="ctr">
                    <a:solidFill>
                      <a:srgbClr val="FFFFFF"/>
                    </a:solidFill>
                  </a:tcPr>
                </a:tc>
                <a:tc>
                  <a:txBody>
                    <a:bodyPr wrap="square"/>
                    <a:lstStyle/>
                    <a:p>
                      <a:r>
                        <a:rPr sz="2222" b="0">
                          <a:solidFill>
                            <a:srgbClr val="343434"/>
                          </a:solidFill>
                          <a:latin typeface="Calibri"/>
                        </a:rPr>
                        <a:t>Python 3.11</a:t>
                      </a:r>
                    </a:p>
                  </a:txBody>
                  <a:tcPr marL="128016" marR="91440" marT="45720" marB="45720" anchor="ctr">
                    <a:solidFill>
                      <a:srgbClr val="FFFFFF"/>
                    </a:solidFill>
                  </a:tcPr>
                </a:tc>
              </a:tr>
              <a:tr h="566928">
                <a:tc>
                  <a:txBody>
                    <a:bodyPr wrap="square"/>
                    <a:lstStyle/>
                    <a:p>
                      <a:r>
                        <a:rPr sz="2222" b="1">
                          <a:solidFill>
                            <a:srgbClr val="343434"/>
                          </a:solidFill>
                          <a:latin typeface="Calibri"/>
                        </a:rPr>
                        <a:t>Dashboard</a:t>
                      </a:r>
                    </a:p>
                  </a:txBody>
                  <a:tcPr marL="128016" marR="91440" marT="45720" marB="45720" anchor="ctr">
                    <a:solidFill>
                      <a:srgbClr val="EEF4FA"/>
                    </a:solidFill>
                  </a:tcPr>
                </a:tc>
                <a:tc>
                  <a:txBody>
                    <a:bodyPr wrap="square"/>
                    <a:lstStyle/>
                    <a:p>
                      <a:r>
                        <a:rPr sz="2222" b="0">
                          <a:solidFill>
                            <a:srgbClr val="343434"/>
                          </a:solidFill>
                          <a:latin typeface="Calibri"/>
                        </a:rPr>
                        <a:t>Streamlit</a:t>
                      </a:r>
                    </a:p>
                  </a:txBody>
                  <a:tcPr marL="128016" marR="91440" marT="45720" marB="45720" anchor="ctr">
                    <a:solidFill>
                      <a:srgbClr val="EEF4FA"/>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 1 Implementation: Building the Corpus</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7 / 22</a:t>
            </a:r>
          </a:p>
        </p:txBody>
      </p:sp>
      <p:sp>
        <p:nvSpPr>
          <p:cNvPr id="15" name="Pentagon 14"/>
          <p:cNvSpPr/>
          <p:nvPr/>
        </p:nvSpPr>
        <p:spPr>
          <a:xfrm>
            <a:off x="1005840" y="2834640"/>
            <a:ext cx="2834640" cy="1097280"/>
          </a:xfrm>
          <a:prstGeom prst="homePlate">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2340" b="1">
                <a:solidFill>
                  <a:srgbClr val="FFFFFF"/>
                </a:solidFill>
                <a:latin typeface="Calibri"/>
              </a:rPr>
              <a:t>Audit</a:t>
            </a:r>
          </a:p>
        </p:txBody>
      </p:sp>
      <p:sp>
        <p:nvSpPr>
          <p:cNvPr id="16" name="Rounded Rectangle 15"/>
          <p:cNvSpPr/>
          <p:nvPr/>
        </p:nvSpPr>
        <p:spPr>
          <a:xfrm>
            <a:off x="1051560" y="4114800"/>
            <a:ext cx="2487168" cy="2148840"/>
          </a:xfrm>
          <a:prstGeom prst="roundRect">
            <a:avLst>
              <a:gd name="adj" fmla="val 7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7008" y="4279392"/>
            <a:ext cx="2194560" cy="1920240"/>
          </a:xfrm>
          <a:prstGeom prst="rect">
            <a:avLst/>
          </a:prstGeom>
          <a:noFill/>
        </p:spPr>
        <p:txBody>
          <a:bodyPr wrap="square" lIns="0" rIns="0" tIns="0" bIns="0" anchor="t">
            <a:spAutoFit/>
          </a:bodyPr>
          <a:lstStyle/>
          <a:p>
            <a:pPr algn="l"/>
            <a:r>
              <a:rPr sz="1989" b="0" i="0">
                <a:solidFill>
                  <a:srgbClr val="343434"/>
                </a:solidFill>
                <a:latin typeface="Calibri"/>
              </a:rPr>
              <a:t>Three tests: structural, order-aligned, nearest-neighbour</a:t>
            </a:r>
          </a:p>
        </p:txBody>
      </p:sp>
      <p:sp>
        <p:nvSpPr>
          <p:cNvPr id="18" name="Chevron 17"/>
          <p:cNvSpPr/>
          <p:nvPr/>
        </p:nvSpPr>
        <p:spPr>
          <a:xfrm>
            <a:off x="3639312" y="2834640"/>
            <a:ext cx="2834640" cy="1097280"/>
          </a:xfrm>
          <a:prstGeom prst="chevron">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2340" b="1">
                <a:solidFill>
                  <a:srgbClr val="FFFFFF"/>
                </a:solidFill>
                <a:latin typeface="Calibri"/>
              </a:rPr>
              <a:t>Align</a:t>
            </a:r>
          </a:p>
        </p:txBody>
      </p:sp>
      <p:sp>
        <p:nvSpPr>
          <p:cNvPr id="19" name="Rounded Rectangle 18"/>
          <p:cNvSpPr/>
          <p:nvPr/>
        </p:nvSpPr>
        <p:spPr>
          <a:xfrm>
            <a:off x="3685032" y="4114800"/>
            <a:ext cx="2487168" cy="2148840"/>
          </a:xfrm>
          <a:prstGeom prst="roundRect">
            <a:avLst>
              <a:gd name="adj" fmla="val 7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4279392"/>
            <a:ext cx="2194560" cy="1920240"/>
          </a:xfrm>
          <a:prstGeom prst="rect">
            <a:avLst/>
          </a:prstGeom>
          <a:noFill/>
        </p:spPr>
        <p:txBody>
          <a:bodyPr wrap="square" lIns="0" rIns="0" tIns="0" bIns="0" anchor="t">
            <a:spAutoFit/>
          </a:bodyPr>
          <a:lstStyle/>
          <a:p>
            <a:pPr algn="l"/>
            <a:r>
              <a:rPr sz="1989" b="0" i="0">
                <a:solidFill>
                  <a:srgbClr val="343434"/>
                </a:solidFill>
                <a:latin typeface="Calibri"/>
              </a:rPr>
              <a:t>Task 3: URL join. Task 2: mutual nearest neighbour, 3-way</a:t>
            </a:r>
          </a:p>
        </p:txBody>
      </p:sp>
      <p:sp>
        <p:nvSpPr>
          <p:cNvPr id="21" name="Chevron 20"/>
          <p:cNvSpPr/>
          <p:nvPr/>
        </p:nvSpPr>
        <p:spPr>
          <a:xfrm>
            <a:off x="6272783" y="2834640"/>
            <a:ext cx="2834640" cy="1097280"/>
          </a:xfrm>
          <a:prstGeom prst="chevron">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2340" b="1">
                <a:solidFill>
                  <a:srgbClr val="FFFFFF"/>
                </a:solidFill>
                <a:latin typeface="Calibri"/>
              </a:rPr>
              <a:t>IDs and I/O</a:t>
            </a:r>
          </a:p>
        </p:txBody>
      </p:sp>
      <p:sp>
        <p:nvSpPr>
          <p:cNvPr id="22" name="Rounded Rectangle 21"/>
          <p:cNvSpPr/>
          <p:nvPr/>
        </p:nvSpPr>
        <p:spPr>
          <a:xfrm>
            <a:off x="6318503" y="4114800"/>
            <a:ext cx="2487168" cy="2148840"/>
          </a:xfrm>
          <a:prstGeom prst="roundRect">
            <a:avLst>
              <a:gd name="adj" fmla="val 7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1" y="4279392"/>
            <a:ext cx="2194560" cy="1920240"/>
          </a:xfrm>
          <a:prstGeom prst="rect">
            <a:avLst/>
          </a:prstGeom>
          <a:noFill/>
        </p:spPr>
        <p:txBody>
          <a:bodyPr wrap="square" lIns="0" rIns="0" tIns="0" bIns="0" anchor="t">
            <a:spAutoFit/>
          </a:bodyPr>
          <a:lstStyle/>
          <a:p>
            <a:pPr algn="l"/>
            <a:r>
              <a:rPr sz="1989" b="0" i="0">
                <a:solidFill>
                  <a:srgbClr val="343434"/>
                </a:solidFill>
                <a:latin typeface="Calibri"/>
              </a:rPr>
              <a:t>Content-derived IDs, Parquet only, one label schema</a:t>
            </a:r>
          </a:p>
        </p:txBody>
      </p:sp>
      <p:sp>
        <p:nvSpPr>
          <p:cNvPr id="24" name="Chevron 23"/>
          <p:cNvSpPr/>
          <p:nvPr/>
        </p:nvSpPr>
        <p:spPr>
          <a:xfrm>
            <a:off x="8906256" y="2834640"/>
            <a:ext cx="2834640" cy="1097280"/>
          </a:xfrm>
          <a:prstGeom prst="chevron">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2340" b="1">
                <a:solidFill>
                  <a:srgbClr val="FFFFFF"/>
                </a:solidFill>
                <a:latin typeface="Calibri"/>
              </a:rPr>
              <a:t>Translate</a:t>
            </a:r>
          </a:p>
        </p:txBody>
      </p:sp>
      <p:sp>
        <p:nvSpPr>
          <p:cNvPr id="25" name="Rounded Rectangle 24"/>
          <p:cNvSpPr/>
          <p:nvPr/>
        </p:nvSpPr>
        <p:spPr>
          <a:xfrm>
            <a:off x="8951976" y="4114800"/>
            <a:ext cx="2487168" cy="2148840"/>
          </a:xfrm>
          <a:prstGeom prst="roundRect">
            <a:avLst>
              <a:gd name="adj" fmla="val 7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07424" y="4279392"/>
            <a:ext cx="2194560" cy="1920240"/>
          </a:xfrm>
          <a:prstGeom prst="rect">
            <a:avLst/>
          </a:prstGeom>
          <a:noFill/>
        </p:spPr>
        <p:txBody>
          <a:bodyPr wrap="square" lIns="0" rIns="0" tIns="0" bIns="0" anchor="t">
            <a:spAutoFit/>
          </a:bodyPr>
          <a:lstStyle/>
          <a:p>
            <a:pPr algn="l"/>
            <a:r>
              <a:rPr sz="1989" b="0" i="0">
                <a:solidFill>
                  <a:srgbClr val="343434"/>
                </a:solidFill>
                <a:latin typeface="Calibri"/>
              </a:rPr>
              <a:t>IndicTrans2 1B, direct, beam 5, no English pivot</a:t>
            </a:r>
          </a:p>
        </p:txBody>
      </p:sp>
      <p:sp>
        <p:nvSpPr>
          <p:cNvPr id="27" name="Chevron 26"/>
          <p:cNvSpPr/>
          <p:nvPr/>
        </p:nvSpPr>
        <p:spPr>
          <a:xfrm>
            <a:off x="11539728" y="2834640"/>
            <a:ext cx="2834640" cy="1097280"/>
          </a:xfrm>
          <a:prstGeom prst="chevron">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2340" b="1">
                <a:solidFill>
                  <a:srgbClr val="FFFFFF"/>
                </a:solidFill>
                <a:latin typeface="Calibri"/>
              </a:rPr>
              <a:t>Gate</a:t>
            </a:r>
          </a:p>
        </p:txBody>
      </p:sp>
      <p:sp>
        <p:nvSpPr>
          <p:cNvPr id="28" name="Rounded Rectangle 27"/>
          <p:cNvSpPr/>
          <p:nvPr/>
        </p:nvSpPr>
        <p:spPr>
          <a:xfrm>
            <a:off x="11585448" y="4114800"/>
            <a:ext cx="2487168" cy="2148840"/>
          </a:xfrm>
          <a:prstGeom prst="roundRect">
            <a:avLst>
              <a:gd name="adj" fmla="val 7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740896" y="4279392"/>
            <a:ext cx="2194560" cy="1920240"/>
          </a:xfrm>
          <a:prstGeom prst="rect">
            <a:avLst/>
          </a:prstGeom>
          <a:noFill/>
        </p:spPr>
        <p:txBody>
          <a:bodyPr wrap="square" lIns="0" rIns="0" tIns="0" bIns="0" anchor="t">
            <a:spAutoFit/>
          </a:bodyPr>
          <a:lstStyle/>
          <a:p>
            <a:pPr algn="l"/>
            <a:r>
              <a:rPr sz="1989" b="0" i="0">
                <a:solidFill>
                  <a:srgbClr val="343434"/>
                </a:solidFill>
                <a:latin typeface="Calibri"/>
              </a:rPr>
              <a:t>Numerals by value, integrity, LaBSE against τ</a:t>
            </a:r>
          </a:p>
        </p:txBody>
      </p:sp>
      <p:sp>
        <p:nvSpPr>
          <p:cNvPr id="30" name="Chevron 29"/>
          <p:cNvSpPr/>
          <p:nvPr/>
        </p:nvSpPr>
        <p:spPr>
          <a:xfrm>
            <a:off x="14173199" y="2834640"/>
            <a:ext cx="2834640" cy="1097280"/>
          </a:xfrm>
          <a:prstGeom prst="chevron">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2340" b="1">
                <a:solidFill>
                  <a:srgbClr val="FFFFFF"/>
                </a:solidFill>
                <a:latin typeface="Calibri"/>
              </a:rPr>
              <a:t>Freeze</a:t>
            </a:r>
          </a:p>
        </p:txBody>
      </p:sp>
      <p:sp>
        <p:nvSpPr>
          <p:cNvPr id="31" name="Rounded Rectangle 30"/>
          <p:cNvSpPr/>
          <p:nvPr/>
        </p:nvSpPr>
        <p:spPr>
          <a:xfrm>
            <a:off x="14218919" y="4114800"/>
            <a:ext cx="2487168" cy="2148840"/>
          </a:xfrm>
          <a:prstGeom prst="roundRect">
            <a:avLst>
              <a:gd name="adj" fmla="val 7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374367" y="4279392"/>
            <a:ext cx="2194560" cy="1920240"/>
          </a:xfrm>
          <a:prstGeom prst="rect">
            <a:avLst/>
          </a:prstGeom>
          <a:noFill/>
        </p:spPr>
        <p:txBody>
          <a:bodyPr wrap="square" lIns="0" rIns="0" tIns="0" bIns="0" anchor="t">
            <a:spAutoFit/>
          </a:bodyPr>
          <a:lstStyle/>
          <a:p>
            <a:pPr algn="l"/>
            <a:r>
              <a:rPr sz="1989" b="0" i="0">
                <a:solidFill>
                  <a:srgbClr val="343434"/>
                </a:solidFill>
                <a:latin typeface="Calibri"/>
              </a:rPr>
              <a:t>SHA-256 manifest, read-only, generated datasheet</a:t>
            </a:r>
          </a:p>
        </p:txBody>
      </p:sp>
      <p:sp>
        <p:nvSpPr>
          <p:cNvPr id="33" name="TextBox 32"/>
          <p:cNvSpPr txBox="1"/>
          <p:nvPr/>
        </p:nvSpPr>
        <p:spPr>
          <a:xfrm>
            <a:off x="1005840" y="6537960"/>
            <a:ext cx="7315200" cy="320040"/>
          </a:xfrm>
          <a:prstGeom prst="rect">
            <a:avLst/>
          </a:prstGeom>
          <a:noFill/>
        </p:spPr>
        <p:txBody>
          <a:bodyPr wrap="square" lIns="0" rIns="0" tIns="0" bIns="0" anchor="t">
            <a:spAutoFit/>
          </a:bodyPr>
          <a:lstStyle/>
          <a:p>
            <a:pPr algn="l"/>
            <a:r>
              <a:rPr sz="1989" b="1" i="0">
                <a:solidFill>
                  <a:srgbClr val="2F679F"/>
                </a:solidFill>
                <a:latin typeface="Calibri"/>
              </a:rPr>
              <a:t>DEFECTS FOUND AND FIXED</a:t>
            </a:r>
          </a:p>
        </p:txBody>
      </p:sp>
      <p:sp>
        <p:nvSpPr>
          <p:cNvPr id="34" name="Rounded Rectangle 33"/>
          <p:cNvSpPr/>
          <p:nvPr/>
        </p:nvSpPr>
        <p:spPr>
          <a:xfrm>
            <a:off x="1005840" y="6949440"/>
            <a:ext cx="3749039" cy="2377440"/>
          </a:xfrm>
          <a:prstGeom prst="roundRect">
            <a:avLst>
              <a:gd name="adj" fmla="val 7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4440" y="7086600"/>
            <a:ext cx="3291840" cy="457200"/>
          </a:xfrm>
          <a:prstGeom prst="rect">
            <a:avLst/>
          </a:prstGeom>
          <a:noFill/>
        </p:spPr>
        <p:txBody>
          <a:bodyPr wrap="square" lIns="0" rIns="0" tIns="0" bIns="0" anchor="t">
            <a:spAutoFit/>
          </a:bodyPr>
          <a:lstStyle/>
          <a:p>
            <a:pPr algn="l"/>
            <a:r>
              <a:rPr sz="2457" b="1" i="0">
                <a:solidFill>
                  <a:srgbClr val="164B82"/>
                </a:solidFill>
                <a:latin typeface="Calibri"/>
              </a:rPr>
              <a:t>Resume bug</a:t>
            </a:r>
          </a:p>
        </p:txBody>
      </p:sp>
      <p:sp>
        <p:nvSpPr>
          <p:cNvPr id="36" name="TextBox 35"/>
          <p:cNvSpPr txBox="1"/>
          <p:nvPr/>
        </p:nvSpPr>
        <p:spPr>
          <a:xfrm>
            <a:off x="1234440" y="7635240"/>
            <a:ext cx="3337560" cy="1645920"/>
          </a:xfrm>
          <a:prstGeom prst="rect">
            <a:avLst/>
          </a:prstGeom>
          <a:noFill/>
        </p:spPr>
        <p:txBody>
          <a:bodyPr wrap="square" lIns="0" rIns="0" tIns="0" bIns="0" anchor="t">
            <a:spAutoFit/>
          </a:bodyPr>
          <a:lstStyle/>
          <a:p>
            <a:pPr algn="l"/>
            <a:r>
              <a:rPr sz="1989" b="0" i="0">
                <a:solidFill>
                  <a:srgbClr val="343434"/>
                </a:solidFill>
                <a:latin typeface="Calibri"/>
              </a:rPr>
              <a:t>700 of 4,788 rows wrongly flagged empty. Fixed; rebuilt from checkpoints</a:t>
            </a:r>
          </a:p>
        </p:txBody>
      </p:sp>
      <p:sp>
        <p:nvSpPr>
          <p:cNvPr id="37" name="Rounded Rectangle 36"/>
          <p:cNvSpPr/>
          <p:nvPr/>
        </p:nvSpPr>
        <p:spPr>
          <a:xfrm>
            <a:off x="5006340" y="6949440"/>
            <a:ext cx="3749039" cy="2377440"/>
          </a:xfrm>
          <a:prstGeom prst="roundRect">
            <a:avLst>
              <a:gd name="adj" fmla="val 7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34940" y="7086600"/>
            <a:ext cx="3291840" cy="457200"/>
          </a:xfrm>
          <a:prstGeom prst="rect">
            <a:avLst/>
          </a:prstGeom>
          <a:noFill/>
        </p:spPr>
        <p:txBody>
          <a:bodyPr wrap="square" lIns="0" rIns="0" tIns="0" bIns="0" anchor="t">
            <a:spAutoFit/>
          </a:bodyPr>
          <a:lstStyle/>
          <a:p>
            <a:pPr algn="l"/>
            <a:r>
              <a:rPr sz="2457" b="1" i="0">
                <a:solidFill>
                  <a:srgbClr val="164B82"/>
                </a:solidFill>
                <a:latin typeface="Calibri"/>
              </a:rPr>
              <a:t>Silent CPU fallback</a:t>
            </a:r>
          </a:p>
        </p:txBody>
      </p:sp>
      <p:sp>
        <p:nvSpPr>
          <p:cNvPr id="39" name="TextBox 38"/>
          <p:cNvSpPr txBox="1"/>
          <p:nvPr/>
        </p:nvSpPr>
        <p:spPr>
          <a:xfrm>
            <a:off x="5234940" y="7635240"/>
            <a:ext cx="3337560" cy="1645920"/>
          </a:xfrm>
          <a:prstGeom prst="rect">
            <a:avLst/>
          </a:prstGeom>
          <a:noFill/>
        </p:spPr>
        <p:txBody>
          <a:bodyPr wrap="square" lIns="0" rIns="0" tIns="0" bIns="0" anchor="t">
            <a:spAutoFit/>
          </a:bodyPr>
          <a:lstStyle/>
          <a:p>
            <a:pPr algn="l"/>
            <a:r>
              <a:rPr sz="1989" b="0" i="0">
                <a:solidFill>
                  <a:srgbClr val="343434"/>
                </a:solidFill>
                <a:latin typeface="Calibri"/>
              </a:rPr>
              <a:t>GPU lost mid-run, CPU output differs. Auto-fallback now refused</a:t>
            </a:r>
          </a:p>
        </p:txBody>
      </p:sp>
      <p:sp>
        <p:nvSpPr>
          <p:cNvPr id="40" name="Rounded Rectangle 39"/>
          <p:cNvSpPr/>
          <p:nvPr/>
        </p:nvSpPr>
        <p:spPr>
          <a:xfrm>
            <a:off x="9006840" y="6949440"/>
            <a:ext cx="3749039" cy="2377440"/>
          </a:xfrm>
          <a:prstGeom prst="roundRect">
            <a:avLst>
              <a:gd name="adj" fmla="val 7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0" y="7086600"/>
            <a:ext cx="3291840" cy="457200"/>
          </a:xfrm>
          <a:prstGeom prst="rect">
            <a:avLst/>
          </a:prstGeom>
          <a:noFill/>
        </p:spPr>
        <p:txBody>
          <a:bodyPr wrap="square" lIns="0" rIns="0" tIns="0" bIns="0" anchor="t">
            <a:spAutoFit/>
          </a:bodyPr>
          <a:lstStyle/>
          <a:p>
            <a:pPr algn="l"/>
            <a:r>
              <a:rPr sz="2457" b="1" i="0">
                <a:solidFill>
                  <a:srgbClr val="164B82"/>
                </a:solidFill>
                <a:latin typeface="Calibri"/>
              </a:rPr>
              <a:t>Stalled batch</a:t>
            </a:r>
          </a:p>
        </p:txBody>
      </p:sp>
      <p:sp>
        <p:nvSpPr>
          <p:cNvPr id="42" name="TextBox 41"/>
          <p:cNvSpPr txBox="1"/>
          <p:nvPr/>
        </p:nvSpPr>
        <p:spPr>
          <a:xfrm>
            <a:off x="9235440" y="7635240"/>
            <a:ext cx="3337560" cy="1645920"/>
          </a:xfrm>
          <a:prstGeom prst="rect">
            <a:avLst/>
          </a:prstGeom>
          <a:noFill/>
        </p:spPr>
        <p:txBody>
          <a:bodyPr wrap="square" lIns="0" rIns="0" tIns="0" bIns="0" anchor="t">
            <a:spAutoFit/>
          </a:bodyPr>
          <a:lstStyle/>
          <a:p>
            <a:pPr algn="l"/>
            <a:r>
              <a:rPr sz="1989" b="0" i="0">
                <a:solidFill>
                  <a:srgbClr val="343434"/>
                </a:solidFill>
                <a:latin typeface="Calibri"/>
              </a:rPr>
              <a:t>One batch hung 47 min. Now: deadline, halve, retry</a:t>
            </a:r>
          </a:p>
        </p:txBody>
      </p:sp>
      <p:sp>
        <p:nvSpPr>
          <p:cNvPr id="43" name="Rounded Rectangle 42"/>
          <p:cNvSpPr/>
          <p:nvPr/>
        </p:nvSpPr>
        <p:spPr>
          <a:xfrm>
            <a:off x="13007340" y="6949440"/>
            <a:ext cx="3749039" cy="2377440"/>
          </a:xfrm>
          <a:prstGeom prst="roundRect">
            <a:avLst>
              <a:gd name="adj" fmla="val 7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3235940" y="7086600"/>
            <a:ext cx="3291840" cy="457200"/>
          </a:xfrm>
          <a:prstGeom prst="rect">
            <a:avLst/>
          </a:prstGeom>
          <a:noFill/>
        </p:spPr>
        <p:txBody>
          <a:bodyPr wrap="square" lIns="0" rIns="0" tIns="0" bIns="0" anchor="t">
            <a:spAutoFit/>
          </a:bodyPr>
          <a:lstStyle/>
          <a:p>
            <a:pPr algn="l"/>
            <a:r>
              <a:rPr sz="2457" b="1" i="0">
                <a:solidFill>
                  <a:srgbClr val="164B82"/>
                </a:solidFill>
                <a:latin typeface="Calibri"/>
              </a:rPr>
              <a:t>Corruption modes</a:t>
            </a:r>
          </a:p>
        </p:txBody>
      </p:sp>
      <p:sp>
        <p:nvSpPr>
          <p:cNvPr id="45" name="TextBox 44"/>
          <p:cNvSpPr txBox="1"/>
          <p:nvPr/>
        </p:nvSpPr>
        <p:spPr>
          <a:xfrm>
            <a:off x="13235940" y="7635240"/>
            <a:ext cx="3337560" cy="1645920"/>
          </a:xfrm>
          <a:prstGeom prst="rect">
            <a:avLst/>
          </a:prstGeom>
          <a:noFill/>
        </p:spPr>
        <p:txBody>
          <a:bodyPr wrap="square" lIns="0" rIns="0" tIns="0" bIns="0" anchor="t">
            <a:spAutoFit/>
          </a:bodyPr>
          <a:lstStyle/>
          <a:p>
            <a:pPr algn="l"/>
            <a:r>
              <a:rPr sz="1989" b="0" i="0">
                <a:solidFill>
                  <a:srgbClr val="343434"/>
                </a:solidFill>
                <a:latin typeface="Calibri"/>
              </a:rPr>
              <a:t>Placeholder and nukta-escape leaks. Flagged, rows kept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 1 Results: The Corpus and Its Threshold</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8 / 22</a:t>
            </a:r>
          </a:p>
        </p:txBody>
      </p:sp>
      <p:sp>
        <p:nvSpPr>
          <p:cNvPr id="15" name="Rounded Rectangle 14"/>
          <p:cNvSpPr/>
          <p:nvPr/>
        </p:nvSpPr>
        <p:spPr>
          <a:xfrm>
            <a:off x="1005840" y="2743200"/>
            <a:ext cx="3749039" cy="155448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852928"/>
            <a:ext cx="3200399" cy="777240"/>
          </a:xfrm>
          <a:prstGeom prst="rect">
            <a:avLst/>
          </a:prstGeom>
          <a:noFill/>
        </p:spPr>
        <p:txBody>
          <a:bodyPr wrap="square" lIns="0" rIns="0" tIns="0" bIns="0" anchor="ctr">
            <a:spAutoFit/>
          </a:bodyPr>
          <a:lstStyle/>
          <a:p>
            <a:pPr algn="l"/>
            <a:r>
              <a:rPr sz="4445" b="1" i="0">
                <a:solidFill>
                  <a:srgbClr val="FFFFFF"/>
                </a:solidFill>
                <a:latin typeface="Calibri"/>
              </a:rPr>
              <a:t>24,402</a:t>
            </a:r>
          </a:p>
        </p:txBody>
      </p:sp>
      <p:sp>
        <p:nvSpPr>
          <p:cNvPr id="17" name="TextBox 16"/>
          <p:cNvSpPr txBox="1"/>
          <p:nvPr/>
        </p:nvSpPr>
        <p:spPr>
          <a:xfrm>
            <a:off x="1280160" y="3644798"/>
            <a:ext cx="3200399" cy="621792"/>
          </a:xfrm>
          <a:prstGeom prst="rect">
            <a:avLst/>
          </a:prstGeom>
          <a:noFill/>
        </p:spPr>
        <p:txBody>
          <a:bodyPr wrap="square" lIns="0" rIns="0" tIns="0" bIns="0" anchor="t">
            <a:spAutoFit/>
          </a:bodyPr>
          <a:lstStyle/>
          <a:p>
            <a:pPr algn="l"/>
            <a:r>
              <a:rPr sz="1989" b="0" i="0">
                <a:solidFill>
                  <a:srgbClr val="DCE8F5"/>
                </a:solidFill>
                <a:latin typeface="Calibri"/>
              </a:rPr>
              <a:t>machine-translated rows, none dropped</a:t>
            </a:r>
          </a:p>
        </p:txBody>
      </p:sp>
      <p:sp>
        <p:nvSpPr>
          <p:cNvPr id="18" name="Rounded Rectangle 17"/>
          <p:cNvSpPr/>
          <p:nvPr/>
        </p:nvSpPr>
        <p:spPr>
          <a:xfrm>
            <a:off x="5006340" y="2743200"/>
            <a:ext cx="3749039" cy="155448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80659" y="2852928"/>
            <a:ext cx="3200399" cy="777240"/>
          </a:xfrm>
          <a:prstGeom prst="rect">
            <a:avLst/>
          </a:prstGeom>
          <a:noFill/>
        </p:spPr>
        <p:txBody>
          <a:bodyPr wrap="square" lIns="0" rIns="0" tIns="0" bIns="0" anchor="ctr">
            <a:spAutoFit/>
          </a:bodyPr>
          <a:lstStyle/>
          <a:p>
            <a:pPr algn="l"/>
            <a:r>
              <a:rPr sz="4445" b="1" i="0">
                <a:solidFill>
                  <a:srgbClr val="FFFFFF"/>
                </a:solidFill>
                <a:latin typeface="Calibri"/>
              </a:rPr>
              <a:t>0</a:t>
            </a:r>
          </a:p>
        </p:txBody>
      </p:sp>
      <p:sp>
        <p:nvSpPr>
          <p:cNvPr id="20" name="TextBox 19"/>
          <p:cNvSpPr txBox="1"/>
          <p:nvPr/>
        </p:nvSpPr>
        <p:spPr>
          <a:xfrm>
            <a:off x="5280659" y="3644798"/>
            <a:ext cx="3200399" cy="621792"/>
          </a:xfrm>
          <a:prstGeom prst="rect">
            <a:avLst/>
          </a:prstGeom>
          <a:noFill/>
        </p:spPr>
        <p:txBody>
          <a:bodyPr wrap="square" lIns="0" rIns="0" tIns="0" bIns="0" anchor="t">
            <a:spAutoFit/>
          </a:bodyPr>
          <a:lstStyle/>
          <a:p>
            <a:pPr algn="l"/>
            <a:r>
              <a:rPr sz="1989" b="0" i="0">
                <a:solidFill>
                  <a:srgbClr val="DCE8F5"/>
                </a:solidFill>
                <a:latin typeface="Calibri"/>
              </a:rPr>
              <a:t>blocking failures, empty outputs, label changes</a:t>
            </a:r>
          </a:p>
        </p:txBody>
      </p:sp>
      <p:sp>
        <p:nvSpPr>
          <p:cNvPr id="21" name="Rounded Rectangle 20"/>
          <p:cNvSpPr/>
          <p:nvPr/>
        </p:nvSpPr>
        <p:spPr>
          <a:xfrm>
            <a:off x="9006840" y="2743200"/>
            <a:ext cx="3749039" cy="155448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2852928"/>
            <a:ext cx="3200399" cy="777240"/>
          </a:xfrm>
          <a:prstGeom prst="rect">
            <a:avLst/>
          </a:prstGeom>
          <a:noFill/>
        </p:spPr>
        <p:txBody>
          <a:bodyPr wrap="square" lIns="0" rIns="0" tIns="0" bIns="0" anchor="ctr">
            <a:spAutoFit/>
          </a:bodyPr>
          <a:lstStyle/>
          <a:p>
            <a:pPr algn="l"/>
            <a:r>
              <a:rPr sz="4445" b="1" i="0">
                <a:solidFill>
                  <a:srgbClr val="FFFFFF"/>
                </a:solidFill>
                <a:latin typeface="Calibri"/>
              </a:rPr>
              <a:t>9 × 2</a:t>
            </a:r>
          </a:p>
        </p:txBody>
      </p:sp>
      <p:sp>
        <p:nvSpPr>
          <p:cNvPr id="23" name="TextBox 22"/>
          <p:cNvSpPr txBox="1"/>
          <p:nvPr/>
        </p:nvSpPr>
        <p:spPr>
          <a:xfrm>
            <a:off x="9281160" y="3644798"/>
            <a:ext cx="3200399" cy="621792"/>
          </a:xfrm>
          <a:prstGeom prst="rect">
            <a:avLst/>
          </a:prstGeom>
          <a:noFill/>
        </p:spPr>
        <p:txBody>
          <a:bodyPr wrap="square" lIns="0" rIns="0" tIns="0" bIns="0" anchor="t">
            <a:spAutoFit/>
          </a:bodyPr>
          <a:lstStyle/>
          <a:p>
            <a:pPr algn="l"/>
            <a:r>
              <a:rPr sz="1989" b="0" i="0">
                <a:solidFill>
                  <a:srgbClr val="DCE8F5"/>
                </a:solidFill>
                <a:latin typeface="Calibri"/>
              </a:rPr>
              <a:t>directions × tasks, each block joins 4-way</a:t>
            </a:r>
          </a:p>
        </p:txBody>
      </p:sp>
      <p:sp>
        <p:nvSpPr>
          <p:cNvPr id="24" name="Rounded Rectangle 23"/>
          <p:cNvSpPr/>
          <p:nvPr/>
        </p:nvSpPr>
        <p:spPr>
          <a:xfrm>
            <a:off x="13007340" y="2743200"/>
            <a:ext cx="3749039" cy="155448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81660" y="2852928"/>
            <a:ext cx="3200399" cy="777240"/>
          </a:xfrm>
          <a:prstGeom prst="rect">
            <a:avLst/>
          </a:prstGeom>
          <a:noFill/>
        </p:spPr>
        <p:txBody>
          <a:bodyPr wrap="square" lIns="0" rIns="0" tIns="0" bIns="0" anchor="ctr">
            <a:spAutoFit/>
          </a:bodyPr>
          <a:lstStyle/>
          <a:p>
            <a:pPr algn="l"/>
            <a:r>
              <a:rPr sz="4445" b="1" i="0">
                <a:solidFill>
                  <a:srgbClr val="FFFFFF"/>
                </a:solidFill>
                <a:latin typeface="Calibri"/>
              </a:rPr>
              <a:t>0.82 / 0.73</a:t>
            </a:r>
          </a:p>
        </p:txBody>
      </p:sp>
      <p:sp>
        <p:nvSpPr>
          <p:cNvPr id="26" name="TextBox 25"/>
          <p:cNvSpPr txBox="1"/>
          <p:nvPr/>
        </p:nvSpPr>
        <p:spPr>
          <a:xfrm>
            <a:off x="13281660" y="3644798"/>
            <a:ext cx="3200399" cy="621792"/>
          </a:xfrm>
          <a:prstGeom prst="rect">
            <a:avLst/>
          </a:prstGeom>
          <a:noFill/>
        </p:spPr>
        <p:txBody>
          <a:bodyPr wrap="square" lIns="0" rIns="0" tIns="0" bIns="0" anchor="t">
            <a:spAutoFit/>
          </a:bodyPr>
          <a:lstStyle/>
          <a:p>
            <a:pPr algn="l"/>
            <a:r>
              <a:rPr sz="1989" b="0" i="0">
                <a:solidFill>
                  <a:srgbClr val="DCE8F5"/>
                </a:solidFill>
                <a:latin typeface="Calibri"/>
              </a:rPr>
              <a:t>similarity threshold τ, task 2 / task 3</a:t>
            </a:r>
          </a:p>
        </p:txBody>
      </p:sp>
      <p:sp>
        <p:nvSpPr>
          <p:cNvPr id="27" name="TextBox 26"/>
          <p:cNvSpPr txBox="1"/>
          <p:nvPr/>
        </p:nvSpPr>
        <p:spPr>
          <a:xfrm>
            <a:off x="1005840" y="4572000"/>
            <a:ext cx="7680960" cy="320040"/>
          </a:xfrm>
          <a:prstGeom prst="rect">
            <a:avLst/>
          </a:prstGeom>
          <a:noFill/>
        </p:spPr>
        <p:txBody>
          <a:bodyPr wrap="square" lIns="0" rIns="0" tIns="0" bIns="0" anchor="t">
            <a:spAutoFit/>
          </a:bodyPr>
          <a:lstStyle/>
          <a:p>
            <a:pPr algn="l"/>
            <a:r>
              <a:rPr sz="1989" b="1" i="0">
                <a:solidFill>
                  <a:srgbClr val="2F679F"/>
                </a:solidFill>
                <a:latin typeface="Calibri"/>
              </a:rPr>
              <a:t>TRANSLATION FINDINGS, FLAGGED AND KEPT</a:t>
            </a:r>
          </a:p>
        </p:txBody>
      </p:sp>
      <p:graphicFrame>
        <p:nvGraphicFramePr>
          <p:cNvPr id="28" name="Table 27"/>
          <p:cNvGraphicFramePr>
            <a:graphicFrameLocks noGrp="1"/>
          </p:cNvGraphicFramePr>
          <p:nvPr/>
        </p:nvGraphicFramePr>
        <p:xfrm>
          <a:off x="1005840" y="4937760"/>
          <a:ext cx="7680960" cy="3182112"/>
        </p:xfrm>
        <a:graphic>
          <a:graphicData uri="http://schemas.openxmlformats.org/drawingml/2006/table">
            <a:tbl>
              <a:tblPr firstRow="0" bandRow="0">
                <a:tableStyleId>{2D5ABB26-0587-4C30-8999-92F81FD0307C}</a:tableStyleId>
              </a:tblPr>
              <a:tblGrid>
                <a:gridCol w="3474720"/>
                <a:gridCol w="2103120"/>
                <a:gridCol w="2103120"/>
              </a:tblGrid>
              <a:tr h="530352">
                <a:tc>
                  <a:txBody>
                    <a:bodyPr wrap="square"/>
                    <a:lstStyle/>
                    <a:p>
                      <a:r>
                        <a:rPr sz="2106" b="1">
                          <a:solidFill>
                            <a:srgbClr val="FFFFFF"/>
                          </a:solidFill>
                          <a:latin typeface="Calibri"/>
                        </a:rPr>
                        <a:t>Measure</a:t>
                      </a:r>
                    </a:p>
                  </a:txBody>
                  <a:tcPr marL="128016" marR="91440" marT="45720" marB="45720" anchor="ctr">
                    <a:solidFill>
                      <a:srgbClr val="164B82"/>
                    </a:solidFill>
                  </a:tcPr>
                </a:tc>
                <a:tc>
                  <a:txBody>
                    <a:bodyPr wrap="square"/>
                    <a:lstStyle/>
                    <a:p>
                      <a:r>
                        <a:rPr sz="2106" b="1">
                          <a:solidFill>
                            <a:srgbClr val="FFFFFF"/>
                          </a:solidFill>
                          <a:latin typeface="Calibri"/>
                        </a:rPr>
                        <a:t>Task 2</a:t>
                      </a:r>
                    </a:p>
                  </a:txBody>
                  <a:tcPr marL="128016" marR="91440" marT="45720" marB="45720" anchor="ctr">
                    <a:solidFill>
                      <a:srgbClr val="164B82"/>
                    </a:solidFill>
                  </a:tcPr>
                </a:tc>
                <a:tc>
                  <a:txBody>
                    <a:bodyPr wrap="square"/>
                    <a:lstStyle/>
                    <a:p>
                      <a:r>
                        <a:rPr sz="2106" b="1">
                          <a:solidFill>
                            <a:srgbClr val="FFFFFF"/>
                          </a:solidFill>
                          <a:latin typeface="Calibri"/>
                        </a:rPr>
                        <a:t>Task 3</a:t>
                      </a:r>
                    </a:p>
                  </a:txBody>
                  <a:tcPr marL="128016" marR="91440" marT="45720" marB="45720" anchor="ctr">
                    <a:solidFill>
                      <a:srgbClr val="164B82"/>
                    </a:solidFill>
                  </a:tcPr>
                </a:tc>
              </a:tr>
              <a:tr h="530352">
                <a:tc>
                  <a:txBody>
                    <a:bodyPr wrap="square"/>
                    <a:lstStyle/>
                    <a:p>
                      <a:r>
                        <a:rPr sz="2106" b="1">
                          <a:solidFill>
                            <a:srgbClr val="343434"/>
                          </a:solidFill>
                          <a:latin typeface="Calibri"/>
                        </a:rPr>
                        <a:t>Placeholder leakage</a:t>
                      </a:r>
                    </a:p>
                  </a:txBody>
                  <a:tcPr marL="128016" marR="91440" marT="45720" marB="45720" anchor="ctr">
                    <a:solidFill>
                      <a:srgbClr val="FFFFFF"/>
                    </a:solidFill>
                  </a:tcPr>
                </a:tc>
                <a:tc>
                  <a:txBody>
                    <a:bodyPr wrap="square"/>
                    <a:lstStyle/>
                    <a:p>
                      <a:r>
                        <a:rPr sz="2106" b="0">
                          <a:solidFill>
                            <a:srgbClr val="343434"/>
                          </a:solidFill>
                          <a:latin typeface="Calibri"/>
                        </a:rPr>
                        <a:t>18 (0.1%)</a:t>
                      </a:r>
                    </a:p>
                  </a:txBody>
                  <a:tcPr marL="128016" marR="91440" marT="45720" marB="45720" anchor="ctr">
                    <a:solidFill>
                      <a:srgbClr val="FFFFFF"/>
                    </a:solidFill>
                  </a:tcPr>
                </a:tc>
                <a:tc>
                  <a:txBody>
                    <a:bodyPr wrap="square"/>
                    <a:lstStyle/>
                    <a:p>
                      <a:r>
                        <a:rPr sz="2106" b="0">
                          <a:solidFill>
                            <a:srgbClr val="343434"/>
                          </a:solidFill>
                          <a:latin typeface="Calibri"/>
                        </a:rPr>
                        <a:t>4 (0.1%)</a:t>
                      </a:r>
                    </a:p>
                  </a:txBody>
                  <a:tcPr marL="128016" marR="91440" marT="45720" marB="45720" anchor="ctr">
                    <a:solidFill>
                      <a:srgbClr val="FFFFFF"/>
                    </a:solidFill>
                  </a:tcPr>
                </a:tc>
              </a:tr>
              <a:tr h="530352">
                <a:tc>
                  <a:txBody>
                    <a:bodyPr wrap="square"/>
                    <a:lstStyle/>
                    <a:p>
                      <a:r>
                        <a:rPr sz="2106" b="1">
                          <a:solidFill>
                            <a:srgbClr val="343434"/>
                          </a:solidFill>
                          <a:latin typeface="Calibri"/>
                        </a:rPr>
                        <a:t>Escape leakage</a:t>
                      </a:r>
                    </a:p>
                  </a:txBody>
                  <a:tcPr marL="128016" marR="91440" marT="45720" marB="45720" anchor="ctr">
                    <a:solidFill>
                      <a:srgbClr val="EEF4FA"/>
                    </a:solidFill>
                  </a:tcPr>
                </a:tc>
                <a:tc>
                  <a:txBody>
                    <a:bodyPr wrap="square"/>
                    <a:lstStyle/>
                    <a:p>
                      <a:r>
                        <a:rPr sz="2106" b="0">
                          <a:solidFill>
                            <a:srgbClr val="343434"/>
                          </a:solidFill>
                          <a:latin typeface="Calibri"/>
                        </a:rPr>
                        <a:t>1</a:t>
                      </a:r>
                    </a:p>
                  </a:txBody>
                  <a:tcPr marL="128016" marR="91440" marT="45720" marB="45720" anchor="ctr">
                    <a:solidFill>
                      <a:srgbClr val="EEF4FA"/>
                    </a:solidFill>
                  </a:tcPr>
                </a:tc>
                <a:tc>
                  <a:txBody>
                    <a:bodyPr wrap="square"/>
                    <a:lstStyle/>
                    <a:p>
                      <a:r>
                        <a:rPr sz="2106" b="0">
                          <a:solidFill>
                            <a:srgbClr val="343434"/>
                          </a:solidFill>
                          <a:latin typeface="Calibri"/>
                        </a:rPr>
                        <a:t>1</a:t>
                      </a:r>
                    </a:p>
                  </a:txBody>
                  <a:tcPr marL="128016" marR="91440" marT="45720" marB="45720" anchor="ctr">
                    <a:solidFill>
                      <a:srgbClr val="EEF4FA"/>
                    </a:solidFill>
                  </a:tcPr>
                </a:tc>
              </a:tr>
              <a:tr h="530352">
                <a:tc>
                  <a:txBody>
                    <a:bodyPr wrap="square"/>
                    <a:lstStyle/>
                    <a:p>
                      <a:r>
                        <a:rPr sz="2106" b="1">
                          <a:solidFill>
                            <a:srgbClr val="343434"/>
                          </a:solidFill>
                          <a:latin typeface="Calibri"/>
                        </a:rPr>
                        <a:t>Script leakage</a:t>
                      </a:r>
                    </a:p>
                  </a:txBody>
                  <a:tcPr marL="128016" marR="91440" marT="45720" marB="45720" anchor="ctr">
                    <a:solidFill>
                      <a:srgbClr val="FFFFFF"/>
                    </a:solidFill>
                  </a:tcPr>
                </a:tc>
                <a:tc>
                  <a:txBody>
                    <a:bodyPr wrap="square"/>
                    <a:lstStyle/>
                    <a:p>
                      <a:r>
                        <a:rPr sz="2106" b="0">
                          <a:solidFill>
                            <a:srgbClr val="343434"/>
                          </a:solidFill>
                          <a:latin typeface="Calibri"/>
                        </a:rPr>
                        <a:t>3</a:t>
                      </a:r>
                    </a:p>
                  </a:txBody>
                  <a:tcPr marL="128016" marR="91440" marT="45720" marB="45720" anchor="ctr">
                    <a:solidFill>
                      <a:srgbClr val="FFFFFF"/>
                    </a:solidFill>
                  </a:tcPr>
                </a:tc>
                <a:tc>
                  <a:txBody>
                    <a:bodyPr wrap="square"/>
                    <a:lstStyle/>
                    <a:p>
                      <a:r>
                        <a:rPr sz="2106" b="0">
                          <a:solidFill>
                            <a:srgbClr val="343434"/>
                          </a:solidFill>
                          <a:latin typeface="Calibri"/>
                        </a:rPr>
                        <a:t>17 (0.4%)</a:t>
                      </a:r>
                    </a:p>
                  </a:txBody>
                  <a:tcPr marL="128016" marR="91440" marT="45720" marB="45720" anchor="ctr">
                    <a:solidFill>
                      <a:srgbClr val="FFFFFF"/>
                    </a:solidFill>
                  </a:tcPr>
                </a:tc>
              </a:tr>
              <a:tr h="530352">
                <a:tc>
                  <a:txBody>
                    <a:bodyPr wrap="square"/>
                    <a:lstStyle/>
                    <a:p>
                      <a:r>
                        <a:rPr sz="2106" b="1">
                          <a:solidFill>
                            <a:srgbClr val="343434"/>
                          </a:solidFill>
                          <a:latin typeface="Calibri"/>
                        </a:rPr>
                        <a:t>Suspected truncation</a:t>
                      </a:r>
                    </a:p>
                  </a:txBody>
                  <a:tcPr marL="128016" marR="91440" marT="45720" marB="45720" anchor="ctr">
                    <a:solidFill>
                      <a:srgbClr val="EEF4FA"/>
                    </a:solidFill>
                  </a:tcPr>
                </a:tc>
                <a:tc>
                  <a:txBody>
                    <a:bodyPr wrap="square"/>
                    <a:lstStyle/>
                    <a:p>
                      <a:r>
                        <a:rPr sz="2106" b="0">
                          <a:solidFill>
                            <a:srgbClr val="343434"/>
                          </a:solidFill>
                          <a:latin typeface="Calibri"/>
                        </a:rPr>
                        <a:t>2</a:t>
                      </a:r>
                    </a:p>
                  </a:txBody>
                  <a:tcPr marL="128016" marR="91440" marT="45720" marB="45720" anchor="ctr">
                    <a:solidFill>
                      <a:srgbClr val="EEF4FA"/>
                    </a:solidFill>
                  </a:tcPr>
                </a:tc>
                <a:tc>
                  <a:txBody>
                    <a:bodyPr wrap="square"/>
                    <a:lstStyle/>
                    <a:p>
                      <a:r>
                        <a:rPr sz="2106" b="0">
                          <a:solidFill>
                            <a:srgbClr val="343434"/>
                          </a:solidFill>
                          <a:latin typeface="Calibri"/>
                        </a:rPr>
                        <a:t>0</a:t>
                      </a:r>
                    </a:p>
                  </a:txBody>
                  <a:tcPr marL="128016" marR="91440" marT="45720" marB="45720" anchor="ctr">
                    <a:solidFill>
                      <a:srgbClr val="EEF4FA"/>
                    </a:solidFill>
                  </a:tcPr>
                </a:tc>
              </a:tr>
              <a:tr h="530352">
                <a:tc>
                  <a:txBody>
                    <a:bodyPr wrap="square"/>
                    <a:lstStyle/>
                    <a:p>
                      <a:r>
                        <a:rPr sz="2106" b="1">
                          <a:solidFill>
                            <a:srgbClr val="343434"/>
                          </a:solidFill>
                          <a:latin typeface="Calibri"/>
                        </a:rPr>
                        <a:t>Below τ (drift)</a:t>
                      </a:r>
                    </a:p>
                  </a:txBody>
                  <a:tcPr marL="128016" marR="91440" marT="45720" marB="45720" anchor="ctr">
                    <a:solidFill>
                      <a:srgbClr val="FFFFFF"/>
                    </a:solidFill>
                  </a:tcPr>
                </a:tc>
                <a:tc>
                  <a:txBody>
                    <a:bodyPr wrap="square"/>
                    <a:lstStyle/>
                    <a:p>
                      <a:r>
                        <a:rPr sz="2106" b="0">
                          <a:solidFill>
                            <a:srgbClr val="343434"/>
                          </a:solidFill>
                          <a:latin typeface="Calibri"/>
                        </a:rPr>
                        <a:t>357 (1.8%)</a:t>
                      </a:r>
                    </a:p>
                  </a:txBody>
                  <a:tcPr marL="128016" marR="91440" marT="45720" marB="45720" anchor="ctr">
                    <a:solidFill>
                      <a:srgbClr val="FFFFFF"/>
                    </a:solidFill>
                  </a:tcPr>
                </a:tc>
                <a:tc>
                  <a:txBody>
                    <a:bodyPr wrap="square"/>
                    <a:lstStyle/>
                    <a:p>
                      <a:r>
                        <a:rPr sz="2106" b="0">
                          <a:solidFill>
                            <a:srgbClr val="343434"/>
                          </a:solidFill>
                          <a:latin typeface="Calibri"/>
                        </a:rPr>
                        <a:t>85 (1.8%)</a:t>
                      </a:r>
                    </a:p>
                  </a:txBody>
                  <a:tcPr marL="128016" marR="91440" marT="45720" marB="45720" anchor="ctr">
                    <a:solidFill>
                      <a:srgbClr val="FFFFFF"/>
                    </a:solidFill>
                  </a:tcPr>
                </a:tc>
              </a:tr>
            </a:tbl>
          </a:graphicData>
        </a:graphic>
      </p:graphicFrame>
      <p:sp>
        <p:nvSpPr>
          <p:cNvPr id="29" name="TextBox 28"/>
          <p:cNvSpPr txBox="1"/>
          <p:nvPr/>
        </p:nvSpPr>
        <p:spPr>
          <a:xfrm>
            <a:off x="9052560" y="4572000"/>
            <a:ext cx="7680960" cy="320040"/>
          </a:xfrm>
          <a:prstGeom prst="rect">
            <a:avLst/>
          </a:prstGeom>
          <a:noFill/>
        </p:spPr>
        <p:txBody>
          <a:bodyPr wrap="square" lIns="0" rIns="0" tIns="0" bIns="0" anchor="t">
            <a:spAutoFit/>
          </a:bodyPr>
          <a:lstStyle/>
          <a:p>
            <a:pPr algn="l"/>
            <a:r>
              <a:rPr sz="1989" b="1" i="0">
                <a:solidFill>
                  <a:srgbClr val="2F679F"/>
                </a:solidFill>
                <a:latin typeface="Calibri"/>
              </a:rPr>
              <a:t>CALIBRATING Τ ON HUMAN TRANSLATIONS</a:t>
            </a:r>
          </a:p>
        </p:txBody>
      </p:sp>
      <p:graphicFrame>
        <p:nvGraphicFramePr>
          <p:cNvPr id="30" name="Table 29"/>
          <p:cNvGraphicFramePr>
            <a:graphicFrameLocks noGrp="1"/>
          </p:cNvGraphicFramePr>
          <p:nvPr/>
        </p:nvGraphicFramePr>
        <p:xfrm>
          <a:off x="9052560" y="4937760"/>
          <a:ext cx="7680960" cy="3182112"/>
        </p:xfrm>
        <a:graphic>
          <a:graphicData uri="http://schemas.openxmlformats.org/drawingml/2006/table">
            <a:tbl>
              <a:tblPr firstRow="0" bandRow="0">
                <a:tableStyleId>{2D5ABB26-0587-4C30-8999-92F81FD0307C}</a:tableStyleId>
              </a:tblPr>
              <a:tblGrid>
                <a:gridCol w="3474720"/>
                <a:gridCol w="2103120"/>
                <a:gridCol w="2103120"/>
              </a:tblGrid>
              <a:tr h="530352">
                <a:tc>
                  <a:txBody>
                    <a:bodyPr wrap="square"/>
                    <a:lstStyle/>
                    <a:p>
                      <a:r>
                        <a:rPr sz="2106" b="1">
                          <a:solidFill>
                            <a:srgbClr val="FFFFFF"/>
                          </a:solidFill>
                          <a:latin typeface="Calibri"/>
                        </a:rPr>
                        <a:t>Measure</a:t>
                      </a:r>
                    </a:p>
                  </a:txBody>
                  <a:tcPr marL="128016" marR="91440" marT="45720" marB="45720" anchor="ctr">
                    <a:solidFill>
                      <a:srgbClr val="164B82"/>
                    </a:solidFill>
                  </a:tcPr>
                </a:tc>
                <a:tc>
                  <a:txBody>
                    <a:bodyPr wrap="square"/>
                    <a:lstStyle/>
                    <a:p>
                      <a:r>
                        <a:rPr sz="2106" b="1">
                          <a:solidFill>
                            <a:srgbClr val="FFFFFF"/>
                          </a:solidFill>
                          <a:latin typeface="Calibri"/>
                        </a:rPr>
                        <a:t>Task 2</a:t>
                      </a:r>
                    </a:p>
                  </a:txBody>
                  <a:tcPr marL="128016" marR="91440" marT="45720" marB="45720" anchor="ctr">
                    <a:solidFill>
                      <a:srgbClr val="164B82"/>
                    </a:solidFill>
                  </a:tcPr>
                </a:tc>
                <a:tc>
                  <a:txBody>
                    <a:bodyPr wrap="square"/>
                    <a:lstStyle/>
                    <a:p>
                      <a:r>
                        <a:rPr sz="2106" b="1">
                          <a:solidFill>
                            <a:srgbClr val="FFFFFF"/>
                          </a:solidFill>
                          <a:latin typeface="Calibri"/>
                        </a:rPr>
                        <a:t>Task 3</a:t>
                      </a:r>
                    </a:p>
                  </a:txBody>
                  <a:tcPr marL="128016" marR="91440" marT="45720" marB="45720" anchor="ctr">
                    <a:solidFill>
                      <a:srgbClr val="164B82"/>
                    </a:solidFill>
                  </a:tcPr>
                </a:tc>
              </a:tr>
              <a:tr h="530352">
                <a:tc>
                  <a:txBody>
                    <a:bodyPr wrap="square"/>
                    <a:lstStyle/>
                    <a:p>
                      <a:r>
                        <a:rPr sz="2106" b="1">
                          <a:solidFill>
                            <a:srgbClr val="343434"/>
                          </a:solidFill>
                          <a:latin typeface="Calibri"/>
                        </a:rPr>
                        <a:t>Median human pair</a:t>
                      </a:r>
                    </a:p>
                  </a:txBody>
                  <a:tcPr marL="128016" marR="91440" marT="45720" marB="45720" anchor="ctr">
                    <a:solidFill>
                      <a:srgbClr val="FFFFFF"/>
                    </a:solidFill>
                  </a:tcPr>
                </a:tc>
                <a:tc>
                  <a:txBody>
                    <a:bodyPr wrap="square"/>
                    <a:lstStyle/>
                    <a:p>
                      <a:r>
                        <a:rPr sz="2106" b="0">
                          <a:solidFill>
                            <a:srgbClr val="343434"/>
                          </a:solidFill>
                          <a:latin typeface="Calibri"/>
                        </a:rPr>
                        <a:t>0.921</a:t>
                      </a:r>
                    </a:p>
                  </a:txBody>
                  <a:tcPr marL="128016" marR="91440" marT="45720" marB="45720" anchor="ctr">
                    <a:solidFill>
                      <a:srgbClr val="FFFFFF"/>
                    </a:solidFill>
                  </a:tcPr>
                </a:tc>
                <a:tc>
                  <a:txBody>
                    <a:bodyPr wrap="square"/>
                    <a:lstStyle/>
                    <a:p>
                      <a:r>
                        <a:rPr sz="2106" b="0">
                          <a:solidFill>
                            <a:srgbClr val="343434"/>
                          </a:solidFill>
                          <a:latin typeface="Calibri"/>
                        </a:rPr>
                        <a:t>0.870</a:t>
                      </a:r>
                    </a:p>
                  </a:txBody>
                  <a:tcPr marL="128016" marR="91440" marT="45720" marB="45720" anchor="ctr">
                    <a:solidFill>
                      <a:srgbClr val="FFFFFF"/>
                    </a:solidFill>
                  </a:tcPr>
                </a:tc>
              </a:tr>
              <a:tr h="530352">
                <a:tc>
                  <a:txBody>
                    <a:bodyPr wrap="square"/>
                    <a:lstStyle/>
                    <a:p>
                      <a:r>
                        <a:rPr sz="2106" b="1">
                          <a:solidFill>
                            <a:srgbClr val="343434"/>
                          </a:solidFill>
                          <a:latin typeface="Calibri"/>
                        </a:rPr>
                        <a:t>5th percentile</a:t>
                      </a:r>
                    </a:p>
                  </a:txBody>
                  <a:tcPr marL="128016" marR="91440" marT="45720" marB="45720" anchor="ctr">
                    <a:solidFill>
                      <a:srgbClr val="EEF4FA"/>
                    </a:solidFill>
                  </a:tcPr>
                </a:tc>
                <a:tc>
                  <a:txBody>
                    <a:bodyPr wrap="square"/>
                    <a:lstStyle/>
                    <a:p>
                      <a:r>
                        <a:rPr sz="2106" b="0">
                          <a:solidFill>
                            <a:srgbClr val="343434"/>
                          </a:solidFill>
                          <a:latin typeface="Calibri"/>
                        </a:rPr>
                        <a:t>0.846</a:t>
                      </a:r>
                    </a:p>
                  </a:txBody>
                  <a:tcPr marL="128016" marR="91440" marT="45720" marB="45720" anchor="ctr">
                    <a:solidFill>
                      <a:srgbClr val="EEF4FA"/>
                    </a:solidFill>
                  </a:tcPr>
                </a:tc>
                <a:tc>
                  <a:txBody>
                    <a:bodyPr wrap="square"/>
                    <a:lstStyle/>
                    <a:p>
                      <a:r>
                        <a:rPr sz="2106" b="0">
                          <a:solidFill>
                            <a:srgbClr val="343434"/>
                          </a:solidFill>
                          <a:latin typeface="Calibri"/>
                        </a:rPr>
                        <a:t>0.729</a:t>
                      </a:r>
                    </a:p>
                  </a:txBody>
                  <a:tcPr marL="128016" marR="91440" marT="45720" marB="45720" anchor="ctr">
                    <a:solidFill>
                      <a:srgbClr val="EEF4FA"/>
                    </a:solidFill>
                  </a:tcPr>
                </a:tc>
              </a:tr>
              <a:tr h="530352">
                <a:tc>
                  <a:txBody>
                    <a:bodyPr wrap="square"/>
                    <a:lstStyle/>
                    <a:p>
                      <a:r>
                        <a:rPr sz="2106" b="1">
                          <a:solidFill>
                            <a:srgbClr val="343434"/>
                          </a:solidFill>
                          <a:latin typeface="Calibri"/>
                        </a:rPr>
                        <a:t>Rejected at τ = 0.82</a:t>
                      </a:r>
                    </a:p>
                  </a:txBody>
                  <a:tcPr marL="128016" marR="91440" marT="45720" marB="45720" anchor="ctr">
                    <a:solidFill>
                      <a:srgbClr val="FFFFFF"/>
                    </a:solidFill>
                  </a:tcPr>
                </a:tc>
                <a:tc>
                  <a:txBody>
                    <a:bodyPr wrap="square"/>
                    <a:lstStyle/>
                    <a:p>
                      <a:r>
                        <a:rPr sz="2106" b="0">
                          <a:solidFill>
                            <a:srgbClr val="343434"/>
                          </a:solidFill>
                          <a:latin typeface="Calibri"/>
                        </a:rPr>
                        <a:t>0.0%</a:t>
                      </a:r>
                    </a:p>
                  </a:txBody>
                  <a:tcPr marL="128016" marR="91440" marT="45720" marB="45720" anchor="ctr">
                    <a:solidFill>
                      <a:srgbClr val="FFFFFF"/>
                    </a:solidFill>
                  </a:tcPr>
                </a:tc>
                <a:tc>
                  <a:txBody>
                    <a:bodyPr wrap="square"/>
                    <a:lstStyle/>
                    <a:p>
                      <a:r>
                        <a:rPr sz="2106" b="0">
                          <a:solidFill>
                            <a:srgbClr val="343434"/>
                          </a:solidFill>
                          <a:latin typeface="Calibri"/>
                        </a:rPr>
                        <a:t>23.4%</a:t>
                      </a:r>
                    </a:p>
                  </a:txBody>
                  <a:tcPr marL="128016" marR="91440" marT="45720" marB="45720" anchor="ctr">
                    <a:solidFill>
                      <a:srgbClr val="FFFFFF"/>
                    </a:solidFill>
                  </a:tcPr>
                </a:tc>
              </a:tr>
              <a:tr h="530352">
                <a:tc>
                  <a:txBody>
                    <a:bodyPr wrap="square"/>
                    <a:lstStyle/>
                    <a:p>
                      <a:r>
                        <a:rPr sz="2106" b="1">
                          <a:solidFill>
                            <a:srgbClr val="343434"/>
                          </a:solidFill>
                          <a:latin typeface="Calibri"/>
                        </a:rPr>
                        <a:t>Median text length</a:t>
                      </a:r>
                    </a:p>
                  </a:txBody>
                  <a:tcPr marL="128016" marR="91440" marT="45720" marB="45720" anchor="ctr">
                    <a:solidFill>
                      <a:srgbClr val="EEF4FA"/>
                    </a:solidFill>
                  </a:tcPr>
                </a:tc>
                <a:tc>
                  <a:txBody>
                    <a:bodyPr wrap="square"/>
                    <a:lstStyle/>
                    <a:p>
                      <a:r>
                        <a:rPr sz="2106" b="0">
                          <a:solidFill>
                            <a:srgbClr val="343434"/>
                          </a:solidFill>
                          <a:latin typeface="Calibri"/>
                        </a:rPr>
                        <a:t>148 chars</a:t>
                      </a:r>
                    </a:p>
                  </a:txBody>
                  <a:tcPr marL="128016" marR="91440" marT="45720" marB="45720" anchor="ctr">
                    <a:solidFill>
                      <a:srgbClr val="EEF4FA"/>
                    </a:solidFill>
                  </a:tcPr>
                </a:tc>
                <a:tc>
                  <a:txBody>
                    <a:bodyPr wrap="square"/>
                    <a:lstStyle/>
                    <a:p>
                      <a:r>
                        <a:rPr sz="2106" b="0">
                          <a:solidFill>
                            <a:srgbClr val="343434"/>
                          </a:solidFill>
                          <a:latin typeface="Calibri"/>
                        </a:rPr>
                        <a:t>86 chars</a:t>
                      </a:r>
                    </a:p>
                  </a:txBody>
                  <a:tcPr marL="128016" marR="91440" marT="45720" marB="45720" anchor="ctr">
                    <a:solidFill>
                      <a:srgbClr val="EEF4FA"/>
                    </a:solidFill>
                  </a:tcPr>
                </a:tc>
              </a:tr>
              <a:tr h="530352">
                <a:tc>
                  <a:txBody>
                    <a:bodyPr wrap="square"/>
                    <a:lstStyle/>
                    <a:p>
                      <a:r>
                        <a:rPr sz="2106" b="1">
                          <a:solidFill>
                            <a:srgbClr val="343434"/>
                          </a:solidFill>
                          <a:latin typeface="Calibri"/>
                        </a:rPr>
                        <a:t>Chosen τ</a:t>
                      </a:r>
                    </a:p>
                  </a:txBody>
                  <a:tcPr marL="128016" marR="91440" marT="45720" marB="45720" anchor="ctr">
                    <a:solidFill>
                      <a:srgbClr val="E4B795"/>
                    </a:solidFill>
                  </a:tcPr>
                </a:tc>
                <a:tc>
                  <a:txBody>
                    <a:bodyPr wrap="square"/>
                    <a:lstStyle/>
                    <a:p>
                      <a:r>
                        <a:rPr sz="2106" b="1">
                          <a:solidFill>
                            <a:srgbClr val="343434"/>
                          </a:solidFill>
                          <a:latin typeface="Calibri"/>
                        </a:rPr>
                        <a:t>0.82</a:t>
                      </a:r>
                    </a:p>
                  </a:txBody>
                  <a:tcPr marL="128016" marR="91440" marT="45720" marB="45720" anchor="ctr">
                    <a:solidFill>
                      <a:srgbClr val="E4B795"/>
                    </a:solidFill>
                  </a:tcPr>
                </a:tc>
                <a:tc>
                  <a:txBody>
                    <a:bodyPr wrap="square"/>
                    <a:lstStyle/>
                    <a:p>
                      <a:r>
                        <a:rPr sz="2106" b="1">
                          <a:solidFill>
                            <a:srgbClr val="343434"/>
                          </a:solidFill>
                          <a:latin typeface="Calibri"/>
                        </a:rPr>
                        <a:t>0.73</a:t>
                      </a:r>
                    </a:p>
                  </a:txBody>
                  <a:tcPr marL="128016" marR="91440" marT="45720" marB="45720" anchor="ctr">
                    <a:solidFill>
                      <a:srgbClr val="E4B795"/>
                    </a:solidFill>
                  </a:tcPr>
                </a:tc>
              </a:tr>
            </a:tbl>
          </a:graphicData>
        </a:graphic>
      </p:graphicFrame>
      <p:sp>
        <p:nvSpPr>
          <p:cNvPr id="31" name="TextBox 30"/>
          <p:cNvSpPr txBox="1"/>
          <p:nvPr/>
        </p:nvSpPr>
        <p:spPr>
          <a:xfrm>
            <a:off x="1005840" y="8412480"/>
            <a:ext cx="15727680" cy="822960"/>
          </a:xfrm>
          <a:prstGeom prst="rect">
            <a:avLst/>
          </a:prstGeom>
          <a:noFill/>
        </p:spPr>
        <p:txBody>
          <a:bodyPr wrap="square" lIns="0" rIns="0" tIns="0" bIns="0" anchor="t">
            <a:spAutoFit/>
          </a:bodyPr>
          <a:lstStyle/>
          <a:p>
            <a:pPr algn="l"/>
            <a:r>
              <a:rPr sz="2222" b="0" i="1">
                <a:solidFill>
                  <a:srgbClr val="343434"/>
                </a:solidFill>
                <a:latin typeface="Calibri"/>
              </a:rPr>
              <a:t>LaBSE scores machine translation above human translation (0.950 vs 0.918, task 2 Hindi→Bengali): it ranks directions well but is a poor absolute quality score.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 1 Results: Quality by Direction</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9 / 22</a:t>
            </a:r>
          </a:p>
        </p:txBody>
      </p:sp>
      <p:graphicFrame>
        <p:nvGraphicFramePr>
          <p:cNvPr id="15" name="Chart 14"/>
          <p:cNvGraphicFramePr>
            <a:graphicFrameLocks noGrp="1"/>
          </p:cNvGraphicFramePr>
          <p:nvPr/>
        </p:nvGraphicFramePr>
        <p:xfrm>
          <a:off x="1005840" y="2743200"/>
          <a:ext cx="7772400" cy="5029200"/>
        </p:xfrm>
        <a:graphic>
          <a:graphicData uri="http://schemas.openxmlformats.org/drawingml/2006/chart">
            <c:chart xmlns:c="http://schemas.openxmlformats.org/drawingml/2006/chart" r:id="rId5"/>
          </a:graphicData>
        </a:graphic>
      </p:graphicFrame>
      <p:graphicFrame>
        <p:nvGraphicFramePr>
          <p:cNvPr id="16" name="Chart 15"/>
          <p:cNvGraphicFramePr>
            <a:graphicFrameLocks noGrp="1"/>
          </p:cNvGraphicFramePr>
          <p:nvPr/>
        </p:nvGraphicFramePr>
        <p:xfrm>
          <a:off x="8961120" y="2743200"/>
          <a:ext cx="7772400" cy="5029200"/>
        </p:xfrm>
        <a:graphic>
          <a:graphicData uri="http://schemas.openxmlformats.org/drawingml/2006/chart">
            <c:chart xmlns:c="http://schemas.openxmlformats.org/drawingml/2006/chart" r:id="rId6"/>
          </a:graphicData>
        </a:graphic>
      </p:graphicFrame>
      <p:sp>
        <p:nvSpPr>
          <p:cNvPr id="17" name="Rounded Rectangle 16"/>
          <p:cNvSpPr/>
          <p:nvPr/>
        </p:nvSpPr>
        <p:spPr>
          <a:xfrm>
            <a:off x="1005840" y="8046720"/>
            <a:ext cx="5029200" cy="118872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8046720"/>
            <a:ext cx="4663440" cy="1188720"/>
          </a:xfrm>
          <a:prstGeom prst="rect">
            <a:avLst/>
          </a:prstGeom>
          <a:noFill/>
        </p:spPr>
        <p:txBody>
          <a:bodyPr wrap="square" lIns="0" rIns="0" tIns="0" bIns="0" anchor="ctr">
            <a:spAutoFit/>
          </a:bodyPr>
          <a:lstStyle/>
          <a:p>
            <a:pPr algn="ctr"/>
            <a:r>
              <a:rPr sz="2340" b="1" i="0">
                <a:solidFill>
                  <a:srgbClr val="164B82"/>
                </a:solidFill>
                <a:latin typeface="Calibri"/>
              </a:rPr>
              <a:t>Only 2 of 18 cells reach 95%</a:t>
            </a:r>
          </a:p>
        </p:txBody>
      </p:sp>
      <p:sp>
        <p:nvSpPr>
          <p:cNvPr id="19" name="Rounded Rectangle 18"/>
          <p:cNvSpPr/>
          <p:nvPr/>
        </p:nvSpPr>
        <p:spPr>
          <a:xfrm>
            <a:off x="6355079" y="8046720"/>
            <a:ext cx="5029200" cy="118872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59" y="8046720"/>
            <a:ext cx="4663440" cy="1188720"/>
          </a:xfrm>
          <a:prstGeom prst="rect">
            <a:avLst/>
          </a:prstGeom>
          <a:noFill/>
        </p:spPr>
        <p:txBody>
          <a:bodyPr wrap="square" lIns="0" rIns="0" tIns="0" bIns="0" anchor="ctr">
            <a:spAutoFit/>
          </a:bodyPr>
          <a:lstStyle/>
          <a:p>
            <a:pPr algn="ctr"/>
            <a:r>
              <a:rPr sz="2340" b="1" i="0">
                <a:solidFill>
                  <a:srgbClr val="164B82"/>
                </a:solidFill>
                <a:latin typeface="Calibri"/>
              </a:rPr>
              <a:t>Weakest: Hindi→Malayalam, both tasks</a:t>
            </a:r>
          </a:p>
        </p:txBody>
      </p:sp>
      <p:sp>
        <p:nvSpPr>
          <p:cNvPr id="21" name="Rounded Rectangle 20"/>
          <p:cNvSpPr/>
          <p:nvPr/>
        </p:nvSpPr>
        <p:spPr>
          <a:xfrm>
            <a:off x="11704319" y="8046720"/>
            <a:ext cx="5029200" cy="1188720"/>
          </a:xfrm>
          <a:prstGeom prst="roundRect">
            <a:avLst>
              <a:gd name="adj" fmla="val 3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199" y="8046720"/>
            <a:ext cx="4663440" cy="1188720"/>
          </a:xfrm>
          <a:prstGeom prst="rect">
            <a:avLst/>
          </a:prstGeom>
          <a:noFill/>
        </p:spPr>
        <p:txBody>
          <a:bodyPr wrap="square" lIns="0" rIns="0" tIns="0" bIns="0" anchor="ctr">
            <a:spAutoFit/>
          </a:bodyPr>
          <a:lstStyle/>
          <a:p>
            <a:pPr algn="ctr"/>
            <a:r>
              <a:rPr sz="2340" b="1" i="0">
                <a:solidFill>
                  <a:srgbClr val="164B82"/>
                </a:solidFill>
                <a:latin typeface="Calibri"/>
              </a:rPr>
              <a:t>Into Dravidian drifts more (3.1% vs 0.5%)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 2 Implementation: Training Pipeline</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10 / 22</a:t>
            </a:r>
          </a:p>
        </p:txBody>
      </p:sp>
      <p:sp>
        <p:nvSpPr>
          <p:cNvPr id="15" name="Rounded Rectangle 14"/>
          <p:cNvSpPr/>
          <p:nvPr/>
        </p:nvSpPr>
        <p:spPr>
          <a:xfrm>
            <a:off x="1005840" y="2834640"/>
            <a:ext cx="2560320" cy="1280160"/>
          </a:xfrm>
          <a:prstGeom prst="roundRect">
            <a:avLst>
              <a:gd name="adj" fmla="val 12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834640"/>
            <a:ext cx="2377440" cy="1280160"/>
          </a:xfrm>
          <a:prstGeom prst="rect">
            <a:avLst/>
          </a:prstGeom>
          <a:noFill/>
        </p:spPr>
        <p:txBody>
          <a:bodyPr wrap="square" lIns="0" rIns="0" tIns="0" bIns="0" anchor="ctr">
            <a:spAutoFit/>
          </a:bodyPr>
          <a:lstStyle/>
          <a:p>
            <a:pPr algn="ctr"/>
            <a:r>
              <a:rPr sz="2457" b="1" i="0">
                <a:solidFill>
                  <a:srgbClr val="FFFFFF"/>
                </a:solidFill>
                <a:latin typeface="Calibri"/>
              </a:rPr>
              <a:t>Sentence</a:t>
            </a:r>
          </a:p>
        </p:txBody>
      </p:sp>
      <p:cxnSp>
        <p:nvCxnSpPr>
          <p:cNvPr id="17" name="Connector 16"/>
          <p:cNvCxnSpPr/>
          <p:nvPr/>
        </p:nvCxnSpPr>
        <p:spPr>
          <a:xfrm>
            <a:off x="3593592" y="3474720"/>
            <a:ext cx="676656"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97680" y="2834640"/>
            <a:ext cx="2560320" cy="1280160"/>
          </a:xfrm>
          <a:prstGeom prst="roundRect">
            <a:avLst>
              <a:gd name="adj" fmla="val 12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2834640"/>
            <a:ext cx="2377440" cy="1280160"/>
          </a:xfrm>
          <a:prstGeom prst="rect">
            <a:avLst/>
          </a:prstGeom>
          <a:noFill/>
        </p:spPr>
        <p:txBody>
          <a:bodyPr wrap="square" lIns="0" rIns="0" tIns="0" bIns="0" anchor="ctr">
            <a:spAutoFit/>
          </a:bodyPr>
          <a:lstStyle/>
          <a:p>
            <a:pPr algn="ctr"/>
            <a:r>
              <a:rPr sz="2457" b="1" i="0">
                <a:solidFill>
                  <a:srgbClr val="FFFFFF"/>
                </a:solidFill>
                <a:latin typeface="Calibri"/>
              </a:rPr>
              <a:t>Encoder</a:t>
            </a:r>
          </a:p>
          <a:p>
            <a:pPr algn="ctr"/>
            <a:r>
              <a:rPr sz="2457" b="1" i="0">
                <a:solidFill>
                  <a:srgbClr val="FFFFFF"/>
                </a:solidFill>
                <a:latin typeface="Calibri"/>
              </a:rPr>
              <a:t>IndicBERT / mBERT</a:t>
            </a:r>
          </a:p>
        </p:txBody>
      </p:sp>
      <p:cxnSp>
        <p:nvCxnSpPr>
          <p:cNvPr id="20" name="Connector 19"/>
          <p:cNvCxnSpPr/>
          <p:nvPr/>
        </p:nvCxnSpPr>
        <p:spPr>
          <a:xfrm>
            <a:off x="6885432" y="3474720"/>
            <a:ext cx="676656"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89520" y="2834640"/>
            <a:ext cx="2560320" cy="1280160"/>
          </a:xfrm>
          <a:prstGeom prst="roundRect">
            <a:avLst>
              <a:gd name="adj" fmla="val 12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2834640"/>
            <a:ext cx="2377440" cy="1280160"/>
          </a:xfrm>
          <a:prstGeom prst="rect">
            <a:avLst/>
          </a:prstGeom>
          <a:noFill/>
        </p:spPr>
        <p:txBody>
          <a:bodyPr wrap="square" lIns="0" rIns="0" tIns="0" bIns="0" anchor="ctr">
            <a:spAutoFit/>
          </a:bodyPr>
          <a:lstStyle/>
          <a:p>
            <a:pPr algn="ctr"/>
            <a:r>
              <a:rPr sz="2457" b="1" i="0">
                <a:solidFill>
                  <a:srgbClr val="FFFFFF"/>
                </a:solidFill>
                <a:latin typeface="Calibri"/>
              </a:rPr>
              <a:t>[CLS] vector</a:t>
            </a:r>
          </a:p>
        </p:txBody>
      </p:sp>
      <p:cxnSp>
        <p:nvCxnSpPr>
          <p:cNvPr id="23" name="Connector 22"/>
          <p:cNvCxnSpPr/>
          <p:nvPr/>
        </p:nvCxnSpPr>
        <p:spPr>
          <a:xfrm>
            <a:off x="10177272" y="3474720"/>
            <a:ext cx="676656"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881360" y="2834640"/>
            <a:ext cx="2560320" cy="1280160"/>
          </a:xfrm>
          <a:prstGeom prst="roundRect">
            <a:avLst>
              <a:gd name="adj" fmla="val 12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0" y="2834640"/>
            <a:ext cx="2377440" cy="1280160"/>
          </a:xfrm>
          <a:prstGeom prst="rect">
            <a:avLst/>
          </a:prstGeom>
          <a:noFill/>
        </p:spPr>
        <p:txBody>
          <a:bodyPr wrap="square" lIns="0" rIns="0" tIns="0" bIns="0" anchor="ctr">
            <a:spAutoFit/>
          </a:bodyPr>
          <a:lstStyle/>
          <a:p>
            <a:pPr algn="ctr"/>
            <a:r>
              <a:rPr sz="2457" b="1" i="0">
                <a:solidFill>
                  <a:srgbClr val="FFFFFF"/>
                </a:solidFill>
                <a:latin typeface="Calibri"/>
              </a:rPr>
              <a:t>Linear head</a:t>
            </a:r>
          </a:p>
        </p:txBody>
      </p:sp>
      <p:cxnSp>
        <p:nvCxnSpPr>
          <p:cNvPr id="26" name="Connector 25"/>
          <p:cNvCxnSpPr/>
          <p:nvPr/>
        </p:nvCxnSpPr>
        <p:spPr>
          <a:xfrm>
            <a:off x="13469112" y="3474720"/>
            <a:ext cx="676656" cy="0"/>
          </a:xfrm>
          <a:prstGeom prst="line">
            <a:avLst/>
          </a:prstGeom>
          <a:ln w="31750">
            <a:solidFill>
              <a:srgbClr val="2F679F"/>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4173200" y="2834640"/>
            <a:ext cx="2560320" cy="1280160"/>
          </a:xfrm>
          <a:prstGeom prst="roundRect">
            <a:avLst>
              <a:gd name="adj" fmla="val 12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64640" y="2834640"/>
            <a:ext cx="2377440" cy="1280160"/>
          </a:xfrm>
          <a:prstGeom prst="rect">
            <a:avLst/>
          </a:prstGeom>
          <a:noFill/>
        </p:spPr>
        <p:txBody>
          <a:bodyPr wrap="square" lIns="0" rIns="0" tIns="0" bIns="0" anchor="ctr">
            <a:spAutoFit/>
          </a:bodyPr>
          <a:lstStyle/>
          <a:p>
            <a:pPr algn="ctr"/>
            <a:r>
              <a:rPr sz="2457" b="1" i="0">
                <a:solidFill>
                  <a:srgbClr val="FFFFFF"/>
                </a:solidFill>
                <a:latin typeface="Calibri"/>
              </a:rPr>
              <a:t>Label</a:t>
            </a:r>
          </a:p>
        </p:txBody>
      </p:sp>
      <p:sp>
        <p:nvSpPr>
          <p:cNvPr id="29" name="TextBox 28"/>
          <p:cNvSpPr txBox="1"/>
          <p:nvPr/>
        </p:nvSpPr>
        <p:spPr>
          <a:xfrm>
            <a:off x="1005840" y="4572000"/>
            <a:ext cx="7680960" cy="4389120"/>
          </a:xfrm>
          <a:prstGeom prst="rect">
            <a:avLst/>
          </a:prstGeom>
          <a:noFill/>
        </p:spPr>
        <p:txBody>
          <a:bodyPr wrap="square" lIns="0" rIns="0" tIns="0" bIns="0">
            <a:spAutoFit/>
          </a:bodyPr>
          <a:lstStyle/>
          <a:p>
            <a:pPr marL="384048" indent="-384048">
              <a:spcAft>
                <a:spcPts val="1200"/>
              </a:spcAft>
              <a:buClr>
                <a:srgbClr val="2F679F"/>
              </a:buClr>
              <a:buFont typeface="Arial"/>
              <a:buChar char="•"/>
            </a:pPr>
            <a:r>
              <a:rPr sz="2808" b="0">
                <a:solidFill>
                  <a:srgbClr val="343434"/>
                </a:solidFill>
                <a:latin typeface="Calibri"/>
              </a:rPr>
              <a:t>Hashed YAML config per run</a:t>
            </a:r>
          </a:p>
          <a:p>
            <a:pPr marL="384048" indent="-384048">
              <a:spcAft>
                <a:spcPts val="1200"/>
              </a:spcAft>
              <a:buClr>
                <a:srgbClr val="2F679F"/>
              </a:buClr>
              <a:buFont typeface="Arial"/>
              <a:buChar char="•"/>
            </a:pPr>
            <a:r>
              <a:rPr sz="2808" b="0">
                <a:solidFill>
                  <a:srgbClr val="343434"/>
                </a:solidFill>
                <a:latin typeface="Calibri"/>
              </a:rPr>
              <a:t>New source or encoder = config change</a:t>
            </a:r>
          </a:p>
          <a:p>
            <a:pPr marL="384048" indent="-384048">
              <a:spcAft>
                <a:spcPts val="1200"/>
              </a:spcAft>
              <a:buClr>
                <a:srgbClr val="2F679F"/>
              </a:buClr>
              <a:buFont typeface="Arial"/>
              <a:buChar char="•"/>
            </a:pPr>
            <a:r>
              <a:rPr sz="2808" b="0">
                <a:solidFill>
                  <a:srgbClr val="343434"/>
                </a:solidFill>
                <a:latin typeface="Calibri"/>
              </a:rPr>
              <a:t>Native human text only, 3 seeds</a:t>
            </a:r>
          </a:p>
          <a:p>
            <a:pPr marL="384048" indent="-384048">
              <a:spcAft>
                <a:spcPts val="1200"/>
              </a:spcAft>
              <a:buClr>
                <a:srgbClr val="2F679F"/>
              </a:buClr>
              <a:buFont typeface="Arial"/>
              <a:buChar char="•"/>
            </a:pPr>
            <a:r>
              <a:rPr sz="2808" b="0">
                <a:solidFill>
                  <a:srgbClr val="343434"/>
                </a:solidFill>
                <a:latin typeface="Calibri"/>
              </a:rPr>
              <a:t>Gate: within ±0.02 of published F1</a:t>
            </a:r>
          </a:p>
          <a:p>
            <a:pPr marL="384048" indent="-384048">
              <a:spcAft>
                <a:spcPts val="1200"/>
              </a:spcAft>
              <a:buClr>
                <a:srgbClr val="2F679F"/>
              </a:buClr>
              <a:buFont typeface="Arial"/>
              <a:buChar char="•"/>
            </a:pPr>
            <a:r>
              <a:rPr sz="2808" b="0">
                <a:solidFill>
                  <a:srgbClr val="343434"/>
                </a:solidFill>
                <a:latin typeface="Calibri"/>
              </a:rPr>
              <a:t>AdamW, fp16, 2×10⁻⁵ (task 2)</a:t>
            </a:r>
          </a:p>
        </p:txBody>
      </p:sp>
      <p:sp>
        <p:nvSpPr>
          <p:cNvPr id="30" name="TextBox 29"/>
          <p:cNvSpPr txBox="1"/>
          <p:nvPr/>
        </p:nvSpPr>
        <p:spPr>
          <a:xfrm>
            <a:off x="9052560" y="4572000"/>
            <a:ext cx="7680960" cy="320040"/>
          </a:xfrm>
          <a:prstGeom prst="rect">
            <a:avLst/>
          </a:prstGeom>
          <a:noFill/>
        </p:spPr>
        <p:txBody>
          <a:bodyPr wrap="square" lIns="0" rIns="0" tIns="0" bIns="0" anchor="t">
            <a:spAutoFit/>
          </a:bodyPr>
          <a:lstStyle/>
          <a:p>
            <a:pPr algn="l"/>
            <a:r>
              <a:rPr sz="1989" b="1" i="0">
                <a:solidFill>
                  <a:srgbClr val="2F679F"/>
                </a:solidFill>
                <a:latin typeface="Calibri"/>
              </a:rPr>
              <a:t>MEMORY BUDGET ON THE 4 GB GPU</a:t>
            </a:r>
          </a:p>
        </p:txBody>
      </p:sp>
      <p:graphicFrame>
        <p:nvGraphicFramePr>
          <p:cNvPr id="31" name="Table 30"/>
          <p:cNvGraphicFramePr>
            <a:graphicFrameLocks noGrp="1"/>
          </p:cNvGraphicFramePr>
          <p:nvPr/>
        </p:nvGraphicFramePr>
        <p:xfrm>
          <a:off x="9052560" y="4937760"/>
          <a:ext cx="7680960" cy="2560320"/>
        </p:xfrm>
        <a:graphic>
          <a:graphicData uri="http://schemas.openxmlformats.org/drawingml/2006/table">
            <a:tbl>
              <a:tblPr firstRow="0" bandRow="0">
                <a:tableStyleId>{2D5ABB26-0587-4C30-8999-92F81FD0307C}</a:tableStyleId>
              </a:tblPr>
              <a:tblGrid>
                <a:gridCol w="2194560"/>
                <a:gridCol w="1554480"/>
                <a:gridCol w="2011680"/>
                <a:gridCol w="1920240"/>
              </a:tblGrid>
              <a:tr h="640080">
                <a:tc>
                  <a:txBody>
                    <a:bodyPr wrap="square"/>
                    <a:lstStyle/>
                    <a:p>
                      <a:r>
                        <a:rPr sz="2222" b="1">
                          <a:solidFill>
                            <a:srgbClr val="FFFFFF"/>
                          </a:solidFill>
                          <a:latin typeface="Calibri"/>
                        </a:rPr>
                        <a:t>Encoder</a:t>
                      </a:r>
                    </a:p>
                  </a:txBody>
                  <a:tcPr marL="128016" marR="91440" marT="45720" marB="45720" anchor="ctr">
                    <a:solidFill>
                      <a:srgbClr val="164B82"/>
                    </a:solidFill>
                  </a:tcPr>
                </a:tc>
                <a:tc>
                  <a:txBody>
                    <a:bodyPr wrap="square"/>
                    <a:lstStyle/>
                    <a:p>
                      <a:r>
                        <a:rPr sz="2222" b="1">
                          <a:solidFill>
                            <a:srgbClr val="FFFFFF"/>
                          </a:solidFill>
                          <a:latin typeface="Calibri"/>
                        </a:rPr>
                        <a:t>Max batch</a:t>
                      </a:r>
                    </a:p>
                  </a:txBody>
                  <a:tcPr marL="128016" marR="91440" marT="45720" marB="45720" anchor="ctr">
                    <a:solidFill>
                      <a:srgbClr val="164B82"/>
                    </a:solidFill>
                  </a:tcPr>
                </a:tc>
                <a:tc>
                  <a:txBody>
                    <a:bodyPr wrap="square"/>
                    <a:lstStyle/>
                    <a:p>
                      <a:r>
                        <a:rPr sz="2222" b="1">
                          <a:solidFill>
                            <a:srgbClr val="FFFFFF"/>
                          </a:solidFill>
                          <a:latin typeface="Calibri"/>
                        </a:rPr>
                        <a:t>Fixed cost</a:t>
                      </a:r>
                    </a:p>
                  </a:txBody>
                  <a:tcPr marL="128016" marR="91440" marT="45720" marB="45720" anchor="ctr">
                    <a:solidFill>
                      <a:srgbClr val="164B82"/>
                    </a:solidFill>
                  </a:tcPr>
                </a:tc>
                <a:tc>
                  <a:txBody>
                    <a:bodyPr wrap="square"/>
                    <a:lstStyle/>
                    <a:p>
                      <a:r>
                        <a:rPr sz="2222" b="1">
                          <a:solidFill>
                            <a:srgbClr val="FFFFFF"/>
                          </a:solidFill>
                          <a:latin typeface="Calibri"/>
                        </a:rPr>
                        <a:t>Verdict</a:t>
                      </a:r>
                    </a:p>
                  </a:txBody>
                  <a:tcPr marL="128016" marR="91440" marT="45720" marB="45720" anchor="ctr">
                    <a:solidFill>
                      <a:srgbClr val="164B82"/>
                    </a:solidFill>
                  </a:tcPr>
                </a:tc>
              </a:tr>
              <a:tr h="640080">
                <a:tc>
                  <a:txBody>
                    <a:bodyPr wrap="square"/>
                    <a:lstStyle/>
                    <a:p>
                      <a:r>
                        <a:rPr sz="2222" b="1">
                          <a:solidFill>
                            <a:srgbClr val="343434"/>
                          </a:solidFill>
                          <a:latin typeface="Calibri"/>
                        </a:rPr>
                        <a:t>IndicBERT</a:t>
                      </a:r>
                    </a:p>
                  </a:txBody>
                  <a:tcPr marL="128016" marR="91440" marT="45720" marB="45720" anchor="ctr">
                    <a:solidFill>
                      <a:srgbClr val="FFFFFF"/>
                    </a:solidFill>
                  </a:tcPr>
                </a:tc>
                <a:tc>
                  <a:txBody>
                    <a:bodyPr wrap="square"/>
                    <a:lstStyle/>
                    <a:p>
                      <a:r>
                        <a:rPr sz="2222" b="0">
                          <a:solidFill>
                            <a:srgbClr val="343434"/>
                          </a:solidFill>
                          <a:latin typeface="Calibri"/>
                        </a:rPr>
                        <a:t>64</a:t>
                      </a:r>
                    </a:p>
                  </a:txBody>
                  <a:tcPr marL="128016" marR="91440" marT="45720" marB="45720" anchor="ctr">
                    <a:solidFill>
                      <a:srgbClr val="FFFFFF"/>
                    </a:solidFill>
                  </a:tcPr>
                </a:tc>
                <a:tc>
                  <a:txBody>
                    <a:bodyPr wrap="square"/>
                    <a:lstStyle/>
                    <a:p>
                      <a:r>
                        <a:rPr sz="2222" b="0">
                          <a:solidFill>
                            <a:srgbClr val="343434"/>
                          </a:solidFill>
                          <a:latin typeface="Calibri"/>
                        </a:rPr>
                        <a:t>0.50 GiB</a:t>
                      </a:r>
                    </a:p>
                  </a:txBody>
                  <a:tcPr marL="128016" marR="91440" marT="45720" marB="45720" anchor="ctr">
                    <a:solidFill>
                      <a:srgbClr val="FFFFFF"/>
                    </a:solidFill>
                  </a:tcPr>
                </a:tc>
                <a:tc>
                  <a:txBody>
                    <a:bodyPr wrap="square"/>
                    <a:lstStyle/>
                    <a:p>
                      <a:r>
                        <a:rPr sz="2222" b="0">
                          <a:solidFill>
                            <a:srgbClr val="343434"/>
                          </a:solidFill>
                          <a:latin typeface="Calibri"/>
                        </a:rPr>
                        <a:t>Fits</a:t>
                      </a:r>
                    </a:p>
                  </a:txBody>
                  <a:tcPr marL="128016" marR="91440" marT="45720" marB="45720" anchor="ctr">
                    <a:solidFill>
                      <a:srgbClr val="FFFFFF"/>
                    </a:solidFill>
                  </a:tcPr>
                </a:tc>
              </a:tr>
              <a:tr h="640080">
                <a:tc>
                  <a:txBody>
                    <a:bodyPr wrap="square"/>
                    <a:lstStyle/>
                    <a:p>
                      <a:r>
                        <a:rPr sz="2222" b="1">
                          <a:solidFill>
                            <a:srgbClr val="343434"/>
                          </a:solidFill>
                          <a:latin typeface="Calibri"/>
                        </a:rPr>
                        <a:t>mBERT</a:t>
                      </a:r>
                    </a:p>
                  </a:txBody>
                  <a:tcPr marL="128016" marR="91440" marT="45720" marB="45720" anchor="ctr">
                    <a:solidFill>
                      <a:srgbClr val="EEF4FA"/>
                    </a:solidFill>
                  </a:tcPr>
                </a:tc>
                <a:tc>
                  <a:txBody>
                    <a:bodyPr wrap="square"/>
                    <a:lstStyle/>
                    <a:p>
                      <a:r>
                        <a:rPr sz="2222" b="0">
                          <a:solidFill>
                            <a:srgbClr val="343434"/>
                          </a:solidFill>
                          <a:latin typeface="Calibri"/>
                        </a:rPr>
                        <a:t>48</a:t>
                      </a:r>
                    </a:p>
                  </a:txBody>
                  <a:tcPr marL="128016" marR="91440" marT="45720" marB="45720" anchor="ctr">
                    <a:solidFill>
                      <a:srgbClr val="EEF4FA"/>
                    </a:solidFill>
                  </a:tcPr>
                </a:tc>
                <a:tc>
                  <a:txBody>
                    <a:bodyPr wrap="square"/>
                    <a:lstStyle/>
                    <a:p>
                      <a:r>
                        <a:rPr sz="2222" b="0">
                          <a:solidFill>
                            <a:srgbClr val="343434"/>
                          </a:solidFill>
                          <a:latin typeface="Calibri"/>
                        </a:rPr>
                        <a:t>2.65 GiB</a:t>
                      </a:r>
                    </a:p>
                  </a:txBody>
                  <a:tcPr marL="128016" marR="91440" marT="45720" marB="45720" anchor="ctr">
                    <a:solidFill>
                      <a:srgbClr val="EEF4FA"/>
                    </a:solidFill>
                  </a:tcPr>
                </a:tc>
                <a:tc>
                  <a:txBody>
                    <a:bodyPr wrap="square"/>
                    <a:lstStyle/>
                    <a:p>
                      <a:r>
                        <a:rPr sz="2222" b="0">
                          <a:solidFill>
                            <a:srgbClr val="343434"/>
                          </a:solidFill>
                          <a:latin typeface="Calibri"/>
                        </a:rPr>
                        <a:t>Fits</a:t>
                      </a:r>
                    </a:p>
                  </a:txBody>
                  <a:tcPr marL="128016" marR="91440" marT="45720" marB="45720" anchor="ctr">
                    <a:solidFill>
                      <a:srgbClr val="EEF4FA"/>
                    </a:solidFill>
                  </a:tcPr>
                </a:tc>
              </a:tr>
              <a:tr h="640080">
                <a:tc>
                  <a:txBody>
                    <a:bodyPr wrap="square"/>
                    <a:lstStyle/>
                    <a:p>
                      <a:r>
                        <a:rPr sz="2222" b="1">
                          <a:solidFill>
                            <a:srgbClr val="343434"/>
                          </a:solidFill>
                          <a:latin typeface="Calibri"/>
                        </a:rPr>
                        <a:t>XLM-R base</a:t>
                      </a:r>
                    </a:p>
                  </a:txBody>
                  <a:tcPr marL="128016" marR="91440" marT="45720" marB="45720" anchor="ctr">
                    <a:solidFill>
                      <a:srgbClr val="FFFFFF"/>
                    </a:solidFill>
                  </a:tcPr>
                </a:tc>
                <a:tc>
                  <a:txBody>
                    <a:bodyPr wrap="square"/>
                    <a:lstStyle/>
                    <a:p>
                      <a:r>
                        <a:rPr sz="2222" b="0">
                          <a:solidFill>
                            <a:srgbClr val="343434"/>
                          </a:solidFill>
                          <a:latin typeface="Calibri"/>
                        </a:rPr>
                        <a:t>0</a:t>
                      </a:r>
                    </a:p>
                  </a:txBody>
                  <a:tcPr marL="128016" marR="91440" marT="45720" marB="45720" anchor="ctr">
                    <a:solidFill>
                      <a:srgbClr val="FFFFFF"/>
                    </a:solidFill>
                  </a:tcPr>
                </a:tc>
                <a:tc>
                  <a:txBody>
                    <a:bodyPr wrap="square"/>
                    <a:lstStyle/>
                    <a:p>
                      <a:r>
                        <a:rPr sz="2222" b="0">
                          <a:solidFill>
                            <a:srgbClr val="343434"/>
                          </a:solidFill>
                          <a:latin typeface="Calibri"/>
                        </a:rPr>
                        <a:t>4.14 GiB</a:t>
                      </a:r>
                    </a:p>
                  </a:txBody>
                  <a:tcPr marL="128016" marR="91440" marT="45720" marB="45720" anchor="ctr">
                    <a:solidFill>
                      <a:srgbClr val="FFFFFF"/>
                    </a:solidFill>
                  </a:tcPr>
                </a:tc>
                <a:tc>
                  <a:txBody>
                    <a:bodyPr wrap="square"/>
                    <a:lstStyle/>
                    <a:p>
                      <a:r>
                        <a:rPr sz="2222" b="0">
                          <a:solidFill>
                            <a:srgbClr val="343434"/>
                          </a:solidFill>
                          <a:latin typeface="Calibri"/>
                        </a:rPr>
                        <a:t>No fit</a:t>
                      </a:r>
                    </a:p>
                  </a:txBody>
                  <a:tcPr marL="128016" marR="91440" marT="45720" marB="45720" anchor="ctr">
                    <a:solidFill>
                      <a:srgbClr val="FFFFFF"/>
                    </a:solidFill>
                  </a:tcPr>
                </a:tc>
              </a:tr>
            </a:tbl>
          </a:graphicData>
        </a:graphic>
      </p:graphicFrame>
      <p:sp>
        <p:nvSpPr>
          <p:cNvPr id="32" name="TextBox 31"/>
          <p:cNvSpPr txBox="1"/>
          <p:nvPr/>
        </p:nvSpPr>
        <p:spPr>
          <a:xfrm>
            <a:off x="9052560" y="7680960"/>
            <a:ext cx="7680960" cy="1371600"/>
          </a:xfrm>
          <a:prstGeom prst="rect">
            <a:avLst/>
          </a:prstGeom>
          <a:noFill/>
        </p:spPr>
        <p:txBody>
          <a:bodyPr wrap="square" lIns="0" rIns="0" tIns="0" bIns="0" anchor="t">
            <a:spAutoFit/>
          </a:bodyPr>
          <a:lstStyle/>
          <a:p>
            <a:pPr algn="l"/>
            <a:r>
              <a:rPr sz="2222" b="0" i="1">
                <a:solidFill>
                  <a:srgbClr val="343434"/>
                </a:solidFill>
                <a:latin typeface="Calibri"/>
              </a:rPr>
              <a:t>Usable memory is 3.68 GiB, so XLM-R is excluded. Adapters were tested and rejected: they would confound the encoder comparison.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 2 Results: Baselines Against Published</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11 / 22</a:t>
            </a:r>
          </a:p>
        </p:txBody>
      </p:sp>
      <p:graphicFrame>
        <p:nvGraphicFramePr>
          <p:cNvPr id="15" name="Chart 14"/>
          <p:cNvGraphicFramePr>
            <a:graphicFrameLocks noGrp="1"/>
          </p:cNvGraphicFramePr>
          <p:nvPr/>
        </p:nvGraphicFramePr>
        <p:xfrm>
          <a:off x="1005840" y="2743200"/>
          <a:ext cx="9509760" cy="6309360"/>
        </p:xfrm>
        <a:graphic>
          <a:graphicData uri="http://schemas.openxmlformats.org/drawingml/2006/chart">
            <c:chart xmlns:c="http://schemas.openxmlformats.org/drawingml/2006/chart" r:id="rId5"/>
          </a:graphicData>
        </a:graphic>
      </p:graphicFrame>
      <p:sp>
        <p:nvSpPr>
          <p:cNvPr id="16" name="TextBox 15"/>
          <p:cNvSpPr txBox="1"/>
          <p:nvPr/>
        </p:nvSpPr>
        <p:spPr>
          <a:xfrm>
            <a:off x="10881360" y="2834640"/>
            <a:ext cx="5852160" cy="4023360"/>
          </a:xfrm>
          <a:prstGeom prst="rect">
            <a:avLst/>
          </a:prstGeom>
          <a:noFill/>
        </p:spPr>
        <p:txBody>
          <a:bodyPr wrap="square" lIns="0" rIns="0" tIns="0" bIns="0">
            <a:spAutoFit/>
          </a:bodyPr>
          <a:lstStyle/>
          <a:p>
            <a:pPr marL="384048" indent="-384048">
              <a:spcAft>
                <a:spcPts val="1100"/>
              </a:spcAft>
              <a:buClr>
                <a:srgbClr val="2F679F"/>
              </a:buClr>
              <a:buFont typeface="Arial"/>
              <a:buChar char="•"/>
            </a:pPr>
            <a:r>
              <a:rPr sz="2574" b="0">
                <a:solidFill>
                  <a:srgbClr val="343434"/>
                </a:solidFill>
                <a:latin typeface="Calibri"/>
              </a:rPr>
              <a:t>5 of 6 IndicBERT baselines at or above published</a:t>
            </a:r>
          </a:p>
          <a:p>
            <a:pPr marL="384048" indent="-384048">
              <a:spcAft>
                <a:spcPts val="1100"/>
              </a:spcAft>
              <a:buClr>
                <a:srgbClr val="2F679F"/>
              </a:buClr>
              <a:buFont typeface="Arial"/>
              <a:buChar char="•"/>
            </a:pPr>
            <a:r>
              <a:rPr sz="2574" b="0">
                <a:solidFill>
                  <a:srgbClr val="343434"/>
                </a:solidFill>
                <a:latin typeface="Calibri"/>
              </a:rPr>
              <a:t>Exception: task 2 Hindi, 3.7 points below</a:t>
            </a:r>
          </a:p>
          <a:p>
            <a:pPr marL="384048" indent="-384048">
              <a:spcAft>
                <a:spcPts val="1100"/>
              </a:spcAft>
              <a:buClr>
                <a:srgbClr val="2F679F"/>
              </a:buClr>
              <a:buFont typeface="Arial"/>
              <a:buChar char="•"/>
            </a:pPr>
            <a:r>
              <a:rPr sz="2574" b="0">
                <a:solidFill>
                  <a:srgbClr val="343434"/>
                </a:solidFill>
                <a:latin typeface="Calibri"/>
              </a:rPr>
              <a:t>Gate passed with written diagnosis</a:t>
            </a:r>
          </a:p>
          <a:p>
            <a:pPr marL="384048" indent="-384048">
              <a:spcAft>
                <a:spcPts val="1100"/>
              </a:spcAft>
              <a:buClr>
                <a:srgbClr val="2F679F"/>
              </a:buClr>
              <a:buFont typeface="Arial"/>
              <a:buChar char="•"/>
            </a:pPr>
            <a:r>
              <a:rPr sz="2574" b="0">
                <a:solidFill>
                  <a:srgbClr val="343434"/>
                </a:solidFill>
                <a:latin typeface="Calibri"/>
              </a:rPr>
              <a:t>mBERT higher in every language</a:t>
            </a:r>
          </a:p>
          <a:p>
            <a:pPr marL="384048" indent="-384048">
              <a:spcAft>
                <a:spcPts val="1100"/>
              </a:spcAft>
              <a:buClr>
                <a:srgbClr val="2F679F"/>
              </a:buClr>
              <a:buFont typeface="Arial"/>
              <a:buChar char="•"/>
            </a:pPr>
            <a:r>
              <a:rPr sz="2574" b="0">
                <a:solidFill>
                  <a:srgbClr val="343434"/>
                </a:solidFill>
                <a:latin typeface="Calibri"/>
              </a:rPr>
              <a:t>Task 3 published 0.05 = one-class predictor</a:t>
            </a:r>
          </a:p>
        </p:txBody>
      </p:sp>
      <p:sp>
        <p:nvSpPr>
          <p:cNvPr id="17" name="Rounded Rectangle 16"/>
          <p:cNvSpPr/>
          <p:nvPr/>
        </p:nvSpPr>
        <p:spPr>
          <a:xfrm>
            <a:off x="10881360" y="7498079"/>
            <a:ext cx="5852160" cy="164592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0" y="7607807"/>
            <a:ext cx="5303520" cy="822960"/>
          </a:xfrm>
          <a:prstGeom prst="rect">
            <a:avLst/>
          </a:prstGeom>
          <a:noFill/>
        </p:spPr>
        <p:txBody>
          <a:bodyPr wrap="square" lIns="0" rIns="0" tIns="0" bIns="0" anchor="ctr">
            <a:spAutoFit/>
          </a:bodyPr>
          <a:lstStyle/>
          <a:p>
            <a:pPr algn="l"/>
            <a:r>
              <a:rPr sz="4445" b="1" i="0">
                <a:solidFill>
                  <a:srgbClr val="FFFFFF"/>
                </a:solidFill>
                <a:latin typeface="Calibri"/>
              </a:rPr>
              <a:t>3 of 9</a:t>
            </a:r>
          </a:p>
        </p:txBody>
      </p:sp>
      <p:sp>
        <p:nvSpPr>
          <p:cNvPr id="19" name="TextBox 18"/>
          <p:cNvSpPr txBox="1"/>
          <p:nvPr/>
        </p:nvSpPr>
        <p:spPr>
          <a:xfrm>
            <a:off x="11155680" y="8452713"/>
            <a:ext cx="5303520" cy="658368"/>
          </a:xfrm>
          <a:prstGeom prst="rect">
            <a:avLst/>
          </a:prstGeom>
          <a:noFill/>
        </p:spPr>
        <p:txBody>
          <a:bodyPr wrap="square" lIns="0" rIns="0" tIns="0" bIns="0" anchor="t">
            <a:spAutoFit/>
          </a:bodyPr>
          <a:lstStyle/>
          <a:p>
            <a:pPr algn="l"/>
            <a:r>
              <a:rPr sz="1989" b="0" i="0">
                <a:solidFill>
                  <a:srgbClr val="DCE8F5"/>
                </a:solidFill>
                <a:latin typeface="Calibri"/>
              </a:rPr>
              <a:t>task 3 IndicBERT runs never trained; kept and flagged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Phases 3–5 Implementation: Evaluation Grid</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12 / 22</a:t>
            </a:r>
          </a:p>
        </p:txBody>
      </p:sp>
      <p:sp>
        <p:nvSpPr>
          <p:cNvPr id="15" name="Rounded Rectangle 14"/>
          <p:cNvSpPr/>
          <p:nvPr/>
        </p:nvSpPr>
        <p:spPr>
          <a:xfrm>
            <a:off x="1005840" y="2834640"/>
            <a:ext cx="5029200" cy="5120640"/>
          </a:xfrm>
          <a:prstGeom prst="roundRect">
            <a:avLst>
              <a:gd name="adj" fmla="val 5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2834640"/>
            <a:ext cx="5029200" cy="1005840"/>
          </a:xfrm>
          <a:prstGeom prst="roundRect">
            <a:avLst>
              <a:gd name="adj" fmla="val 12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0" y="2834640"/>
            <a:ext cx="4480560" cy="1005840"/>
          </a:xfrm>
          <a:prstGeom prst="rect">
            <a:avLst/>
          </a:prstGeom>
          <a:noFill/>
        </p:spPr>
        <p:txBody>
          <a:bodyPr wrap="square" lIns="0" rIns="0" tIns="0" bIns="0" anchor="ctr">
            <a:spAutoFit/>
          </a:bodyPr>
          <a:lstStyle/>
          <a:p>
            <a:pPr algn="l"/>
            <a:r>
              <a:rPr sz="2457" b="1" i="0">
                <a:solidFill>
                  <a:srgbClr val="FFFFFF"/>
                </a:solidFill>
                <a:latin typeface="Calibri"/>
              </a:rPr>
              <a:t>Phase 3 · Zero-shot evaluation</a:t>
            </a:r>
          </a:p>
        </p:txBody>
      </p:sp>
      <p:sp>
        <p:nvSpPr>
          <p:cNvPr id="18" name="TextBox 17"/>
          <p:cNvSpPr txBox="1"/>
          <p:nvPr/>
        </p:nvSpPr>
        <p:spPr>
          <a:xfrm>
            <a:off x="1280160" y="4160520"/>
            <a:ext cx="4526280" cy="3657600"/>
          </a:xfrm>
          <a:prstGeom prst="rect">
            <a:avLst/>
          </a:prstGeom>
          <a:noFill/>
        </p:spPr>
        <p:txBody>
          <a:bodyPr wrap="square" lIns="0" rIns="0" tIns="0" bIns="0">
            <a:spAutoFit/>
          </a:bodyPr>
          <a:lstStyle/>
          <a:p>
            <a:pPr marL="384048" indent="-384048">
              <a:spcAft>
                <a:spcPts val="1200"/>
              </a:spcAft>
              <a:buClr>
                <a:srgbClr val="2F679F"/>
              </a:buClr>
              <a:buFont typeface="Arial"/>
              <a:buChar char="•"/>
            </a:pPr>
            <a:r>
              <a:rPr sz="2340" b="0">
                <a:solidFill>
                  <a:srgbClr val="343434"/>
                </a:solidFill>
                <a:latin typeface="Calibri"/>
              </a:rPr>
              <a:t>21 conditions per task</a:t>
            </a:r>
          </a:p>
          <a:p>
            <a:pPr marL="384048" indent="-384048">
              <a:spcAft>
                <a:spcPts val="1200"/>
              </a:spcAft>
              <a:buClr>
                <a:srgbClr val="2F679F"/>
              </a:buClr>
              <a:buFont typeface="Arial"/>
              <a:buChar char="•"/>
            </a:pPr>
            <a:r>
              <a:rPr sz="2340" b="0">
                <a:solidFill>
                  <a:srgbClr val="343434"/>
                </a:solidFill>
                <a:latin typeface="Calibri"/>
              </a:rPr>
              <a:t>Read-only checkpoints, no gradient step</a:t>
            </a:r>
          </a:p>
          <a:p>
            <a:pPr marL="384048" indent="-384048">
              <a:spcAft>
                <a:spcPts val="1200"/>
              </a:spcAft>
              <a:buClr>
                <a:srgbClr val="2F679F"/>
              </a:buClr>
              <a:buFont typeface="Arial"/>
              <a:buChar char="•"/>
            </a:pPr>
            <a:r>
              <a:rPr sz="2340" b="0">
                <a:solidFill>
                  <a:srgbClr val="343434"/>
                </a:solidFill>
                <a:latin typeface="Calibri"/>
              </a:rPr>
              <a:t>Every prediction logged with probabilities</a:t>
            </a:r>
          </a:p>
          <a:p>
            <a:pPr marL="384048" indent="-384048">
              <a:spcAft>
                <a:spcPts val="1200"/>
              </a:spcAft>
              <a:buClr>
                <a:srgbClr val="2F679F"/>
              </a:buClr>
              <a:buFont typeface="Arial"/>
              <a:buChar char="•"/>
            </a:pPr>
            <a:r>
              <a:rPr sz="2340" b="0">
                <a:solidFill>
                  <a:srgbClr val="343434"/>
                </a:solidFill>
                <a:latin typeface="Calibri"/>
              </a:rPr>
              <a:t>Macro-F1, 95% bootstrap CI</a:t>
            </a:r>
          </a:p>
        </p:txBody>
      </p:sp>
      <p:sp>
        <p:nvSpPr>
          <p:cNvPr id="19" name="Rounded Rectangle 18"/>
          <p:cNvSpPr/>
          <p:nvPr/>
        </p:nvSpPr>
        <p:spPr>
          <a:xfrm>
            <a:off x="6355079" y="2834640"/>
            <a:ext cx="5029200" cy="5120640"/>
          </a:xfrm>
          <a:prstGeom prst="roundRect">
            <a:avLst>
              <a:gd name="adj" fmla="val 5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79" y="2834640"/>
            <a:ext cx="5029200" cy="1005840"/>
          </a:xfrm>
          <a:prstGeom prst="roundRect">
            <a:avLst>
              <a:gd name="adj" fmla="val 12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399" y="2834640"/>
            <a:ext cx="4480560" cy="1005840"/>
          </a:xfrm>
          <a:prstGeom prst="rect">
            <a:avLst/>
          </a:prstGeom>
          <a:noFill/>
        </p:spPr>
        <p:txBody>
          <a:bodyPr wrap="square" lIns="0" rIns="0" tIns="0" bIns="0" anchor="ctr">
            <a:spAutoFit/>
          </a:bodyPr>
          <a:lstStyle/>
          <a:p>
            <a:pPr algn="l"/>
            <a:r>
              <a:rPr sz="2457" b="1" i="0">
                <a:solidFill>
                  <a:srgbClr val="FFFFFF"/>
                </a:solidFill>
                <a:latin typeface="Calibri"/>
              </a:rPr>
              <a:t>Phase 4 · Source comparison</a:t>
            </a:r>
          </a:p>
        </p:txBody>
      </p:sp>
      <p:sp>
        <p:nvSpPr>
          <p:cNvPr id="22" name="TextBox 21"/>
          <p:cNvSpPr txBox="1"/>
          <p:nvPr/>
        </p:nvSpPr>
        <p:spPr>
          <a:xfrm>
            <a:off x="6629399" y="4160520"/>
            <a:ext cx="4526280" cy="3657600"/>
          </a:xfrm>
          <a:prstGeom prst="rect">
            <a:avLst/>
          </a:prstGeom>
          <a:noFill/>
        </p:spPr>
        <p:txBody>
          <a:bodyPr wrap="square" lIns="0" rIns="0" tIns="0" bIns="0">
            <a:spAutoFit/>
          </a:bodyPr>
          <a:lstStyle/>
          <a:p>
            <a:pPr marL="384048" indent="-384048">
              <a:spcAft>
                <a:spcPts val="1200"/>
              </a:spcAft>
              <a:buClr>
                <a:srgbClr val="2F679F"/>
              </a:buClr>
              <a:buFont typeface="Arial"/>
              <a:buChar char="•"/>
            </a:pPr>
            <a:r>
              <a:rPr sz="2340" b="0">
                <a:solidFill>
                  <a:srgbClr val="343434"/>
                </a:solidFill>
                <a:latin typeface="Calibri"/>
              </a:rPr>
              <a:t>Bengali, Telugu sources: config only</a:t>
            </a:r>
          </a:p>
          <a:p>
            <a:pPr marL="384048" indent="-384048">
              <a:spcAft>
                <a:spcPts val="1200"/>
              </a:spcAft>
              <a:buClr>
                <a:srgbClr val="2F679F"/>
              </a:buClr>
              <a:buFont typeface="Arial"/>
              <a:buChar char="•"/>
            </a:pPr>
            <a:r>
              <a:rPr sz="2340" b="0">
                <a:solidFill>
                  <a:srgbClr val="343434"/>
                </a:solidFill>
                <a:latin typeface="Calibri"/>
              </a:rPr>
              <a:t>Same recipe guard as Hindi</a:t>
            </a:r>
          </a:p>
          <a:p>
            <a:pPr marL="384048" indent="-384048">
              <a:spcAft>
                <a:spcPts val="1200"/>
              </a:spcAft>
              <a:buClr>
                <a:srgbClr val="2F679F"/>
              </a:buClr>
              <a:buFont typeface="Arial"/>
              <a:buChar char="•"/>
            </a:pPr>
            <a:r>
              <a:rPr sz="2340" b="0">
                <a:solidFill>
                  <a:srgbClr val="343434"/>
                </a:solidFill>
                <a:latin typeface="Calibri"/>
              </a:rPr>
              <a:t>Items split by seeded hash of ID</a:t>
            </a:r>
          </a:p>
          <a:p>
            <a:pPr marL="384048" indent="-384048">
              <a:spcAft>
                <a:spcPts val="1200"/>
              </a:spcAft>
              <a:buClr>
                <a:srgbClr val="2F679F"/>
              </a:buClr>
              <a:buFont typeface="Arial"/>
              <a:buChar char="•"/>
            </a:pPr>
            <a:r>
              <a:rPr sz="2340" b="0">
                <a:solidFill>
                  <a:srgbClr val="343434"/>
                </a:solidFill>
                <a:latin typeface="Calibri"/>
              </a:rPr>
              <a:t>Gap = F1(src items) − F1(tgt items)</a:t>
            </a:r>
          </a:p>
        </p:txBody>
      </p:sp>
      <p:sp>
        <p:nvSpPr>
          <p:cNvPr id="23" name="Rounded Rectangle 22"/>
          <p:cNvSpPr/>
          <p:nvPr/>
        </p:nvSpPr>
        <p:spPr>
          <a:xfrm>
            <a:off x="11704319" y="2834640"/>
            <a:ext cx="5029200" cy="5120640"/>
          </a:xfrm>
          <a:prstGeom prst="roundRect">
            <a:avLst>
              <a:gd name="adj" fmla="val 5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704319" y="2834640"/>
            <a:ext cx="5029200" cy="1005840"/>
          </a:xfrm>
          <a:prstGeom prst="roundRect">
            <a:avLst>
              <a:gd name="adj" fmla="val 12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978640" y="2834640"/>
            <a:ext cx="4480560" cy="1005840"/>
          </a:xfrm>
          <a:prstGeom prst="rect">
            <a:avLst/>
          </a:prstGeom>
          <a:noFill/>
        </p:spPr>
        <p:txBody>
          <a:bodyPr wrap="square" lIns="0" rIns="0" tIns="0" bIns="0" anchor="ctr">
            <a:spAutoFit/>
          </a:bodyPr>
          <a:lstStyle/>
          <a:p>
            <a:pPr algn="l"/>
            <a:r>
              <a:rPr sz="2457" b="1" i="0">
                <a:solidFill>
                  <a:srgbClr val="FFFFFF"/>
                </a:solidFill>
                <a:latin typeface="Calibri"/>
              </a:rPr>
              <a:t>Phase 5 · Encoder comparison</a:t>
            </a:r>
          </a:p>
        </p:txBody>
      </p:sp>
      <p:sp>
        <p:nvSpPr>
          <p:cNvPr id="26" name="TextBox 25"/>
          <p:cNvSpPr txBox="1"/>
          <p:nvPr/>
        </p:nvSpPr>
        <p:spPr>
          <a:xfrm>
            <a:off x="11978640" y="4160520"/>
            <a:ext cx="4526280" cy="3657600"/>
          </a:xfrm>
          <a:prstGeom prst="rect">
            <a:avLst/>
          </a:prstGeom>
          <a:noFill/>
        </p:spPr>
        <p:txBody>
          <a:bodyPr wrap="square" lIns="0" rIns="0" tIns="0" bIns="0">
            <a:spAutoFit/>
          </a:bodyPr>
          <a:lstStyle/>
          <a:p>
            <a:pPr marL="384048" indent="-384048">
              <a:spcAft>
                <a:spcPts val="1200"/>
              </a:spcAft>
              <a:buClr>
                <a:srgbClr val="2F679F"/>
              </a:buClr>
              <a:buFont typeface="Arial"/>
              <a:buChar char="•"/>
            </a:pPr>
            <a:r>
              <a:rPr sz="2340" b="0">
                <a:solidFill>
                  <a:srgbClr val="343434"/>
                </a:solidFill>
                <a:latin typeface="Calibri"/>
              </a:rPr>
              <a:t>IndicBERT against mBERT, same grid</a:t>
            </a:r>
          </a:p>
          <a:p>
            <a:pPr marL="384048" indent="-384048">
              <a:spcAft>
                <a:spcPts val="1200"/>
              </a:spcAft>
              <a:buClr>
                <a:srgbClr val="2F679F"/>
              </a:buClr>
              <a:buFont typeface="Arial"/>
              <a:buChar char="•"/>
            </a:pPr>
            <a:r>
              <a:rPr sz="2340" b="0">
                <a:solidFill>
                  <a:srgbClr val="343434"/>
                </a:solidFill>
                <a:latin typeface="Calibri"/>
              </a:rPr>
              <a:t>XLM-R planned, excluded (4 GB)</a:t>
            </a:r>
          </a:p>
          <a:p>
            <a:pPr marL="384048" indent="-384048">
              <a:spcAft>
                <a:spcPts val="1200"/>
              </a:spcAft>
              <a:buClr>
                <a:srgbClr val="2F679F"/>
              </a:buClr>
              <a:buFont typeface="Arial"/>
              <a:buChar char="•"/>
            </a:pPr>
            <a:r>
              <a:rPr sz="2340" b="0">
                <a:solidFill>
                  <a:srgbClr val="343434"/>
                </a:solidFill>
                <a:latin typeface="Calibri"/>
              </a:rPr>
              <a:t>Convergence checked on training fold</a:t>
            </a:r>
          </a:p>
          <a:p>
            <a:pPr marL="384048" indent="-384048">
              <a:spcAft>
                <a:spcPts val="1200"/>
              </a:spcAft>
              <a:buClr>
                <a:srgbClr val="2F679F"/>
              </a:buClr>
              <a:buFont typeface="Arial"/>
              <a:buChar char="•"/>
            </a:pPr>
            <a:r>
              <a:rPr sz="2340" b="0">
                <a:solidFill>
                  <a:srgbClr val="343434"/>
                </a:solidFill>
                <a:latin typeface="Calibri"/>
              </a:rPr>
              <a:t>Peak train F1 &lt; 0.5 = not trained</a:t>
            </a:r>
          </a:p>
        </p:txBody>
      </p:sp>
      <p:sp>
        <p:nvSpPr>
          <p:cNvPr id="27" name="Rounded Rectangle 26"/>
          <p:cNvSpPr/>
          <p:nvPr/>
        </p:nvSpPr>
        <p:spPr>
          <a:xfrm>
            <a:off x="1005840" y="8229600"/>
            <a:ext cx="15727680" cy="1097280"/>
          </a:xfrm>
          <a:prstGeom prst="roundRect">
            <a:avLst>
              <a:gd name="adj" fmla="val 2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71600" y="8229600"/>
            <a:ext cx="14996159" cy="1097280"/>
          </a:xfrm>
          <a:prstGeom prst="rect">
            <a:avLst/>
          </a:prstGeom>
          <a:noFill/>
        </p:spPr>
        <p:txBody>
          <a:bodyPr wrap="square" lIns="0" rIns="0" tIns="0" bIns="0" anchor="ctr">
            <a:spAutoFit/>
          </a:bodyPr>
          <a:lstStyle/>
          <a:p>
            <a:pPr algn="ctr"/>
            <a:r>
              <a:rPr sz="2808" b="1" i="0">
                <a:solidFill>
                  <a:srgbClr val="164B82"/>
                </a:solidFill>
                <a:latin typeface="Calibri"/>
              </a:rPr>
              <a:t>126 planned results per task, all completed · 3 seeds each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 3 Results: Zero-Shot Transfer Gap</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13 / 22</a:t>
            </a:r>
          </a:p>
        </p:txBody>
      </p:sp>
      <p:graphicFrame>
        <p:nvGraphicFramePr>
          <p:cNvPr id="15" name="Chart 14"/>
          <p:cNvGraphicFramePr>
            <a:graphicFrameLocks noGrp="1"/>
          </p:cNvGraphicFramePr>
          <p:nvPr/>
        </p:nvGraphicFramePr>
        <p:xfrm>
          <a:off x="1005840" y="2743200"/>
          <a:ext cx="10607040" cy="5394960"/>
        </p:xfrm>
        <a:graphic>
          <a:graphicData uri="http://schemas.openxmlformats.org/drawingml/2006/chart">
            <c:chart xmlns:c="http://schemas.openxmlformats.org/drawingml/2006/chart" r:id="rId5"/>
          </a:graphicData>
        </a:graphic>
      </p:graphicFrame>
      <p:sp>
        <p:nvSpPr>
          <p:cNvPr id="16" name="Rounded Rectangle 15"/>
          <p:cNvSpPr/>
          <p:nvPr/>
        </p:nvSpPr>
        <p:spPr>
          <a:xfrm>
            <a:off x="11978640" y="2743200"/>
            <a:ext cx="4754880" cy="164592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52960" y="2852928"/>
            <a:ext cx="4206240" cy="822960"/>
          </a:xfrm>
          <a:prstGeom prst="rect">
            <a:avLst/>
          </a:prstGeom>
          <a:noFill/>
        </p:spPr>
        <p:txBody>
          <a:bodyPr wrap="square" lIns="0" rIns="0" tIns="0" bIns="0" anchor="ctr">
            <a:spAutoFit/>
          </a:bodyPr>
          <a:lstStyle/>
          <a:p>
            <a:pPr algn="l"/>
            <a:r>
              <a:rPr sz="4000" b="1" i="0">
                <a:solidFill>
                  <a:srgbClr val="FFFFFF"/>
                </a:solidFill>
                <a:latin typeface="Calibri"/>
              </a:rPr>
              <a:t>0.26–0.45</a:t>
            </a:r>
          </a:p>
        </p:txBody>
      </p:sp>
      <p:sp>
        <p:nvSpPr>
          <p:cNvPr id="18" name="TextBox 17"/>
          <p:cNvSpPr txBox="1"/>
          <p:nvPr/>
        </p:nvSpPr>
        <p:spPr>
          <a:xfrm>
            <a:off x="12252960" y="3697833"/>
            <a:ext cx="4206240" cy="658368"/>
          </a:xfrm>
          <a:prstGeom prst="rect">
            <a:avLst/>
          </a:prstGeom>
          <a:noFill/>
        </p:spPr>
        <p:txBody>
          <a:bodyPr wrap="square" lIns="0" rIns="0" tIns="0" bIns="0" anchor="t">
            <a:spAutoFit/>
          </a:bodyPr>
          <a:lstStyle/>
          <a:p>
            <a:pPr algn="l"/>
            <a:r>
              <a:rPr sz="2106" b="0" i="0">
                <a:solidFill>
                  <a:srgbClr val="DCE8F5"/>
                </a:solidFill>
                <a:latin typeface="Calibri"/>
              </a:rPr>
              <a:t>IndicBERT gap, task 2</a:t>
            </a:r>
          </a:p>
        </p:txBody>
      </p:sp>
      <p:sp>
        <p:nvSpPr>
          <p:cNvPr id="19" name="Rounded Rectangle 18"/>
          <p:cNvSpPr/>
          <p:nvPr/>
        </p:nvSpPr>
        <p:spPr>
          <a:xfrm>
            <a:off x="11978640" y="4572000"/>
            <a:ext cx="4754880" cy="164592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252960" y="4681728"/>
            <a:ext cx="4206240" cy="822960"/>
          </a:xfrm>
          <a:prstGeom prst="rect">
            <a:avLst/>
          </a:prstGeom>
          <a:noFill/>
        </p:spPr>
        <p:txBody>
          <a:bodyPr wrap="square" lIns="0" rIns="0" tIns="0" bIns="0" anchor="ctr">
            <a:spAutoFit/>
          </a:bodyPr>
          <a:lstStyle/>
          <a:p>
            <a:pPr algn="l"/>
            <a:r>
              <a:rPr sz="4000" b="1" i="0">
                <a:solidFill>
                  <a:srgbClr val="FFFFFF"/>
                </a:solidFill>
                <a:latin typeface="Calibri"/>
              </a:rPr>
              <a:t>0.11–0.24</a:t>
            </a:r>
          </a:p>
        </p:txBody>
      </p:sp>
      <p:sp>
        <p:nvSpPr>
          <p:cNvPr id="21" name="TextBox 20"/>
          <p:cNvSpPr txBox="1"/>
          <p:nvPr/>
        </p:nvSpPr>
        <p:spPr>
          <a:xfrm>
            <a:off x="12252960" y="5526633"/>
            <a:ext cx="4206240" cy="658368"/>
          </a:xfrm>
          <a:prstGeom prst="rect">
            <a:avLst/>
          </a:prstGeom>
          <a:noFill/>
        </p:spPr>
        <p:txBody>
          <a:bodyPr wrap="square" lIns="0" rIns="0" tIns="0" bIns="0" anchor="t">
            <a:spAutoFit/>
          </a:bodyPr>
          <a:lstStyle/>
          <a:p>
            <a:pPr algn="l"/>
            <a:r>
              <a:rPr sz="2106" b="0" i="0">
                <a:solidFill>
                  <a:srgbClr val="DCE8F5"/>
                </a:solidFill>
                <a:latin typeface="Calibri"/>
              </a:rPr>
              <a:t>mBERT gap, task 2</a:t>
            </a:r>
          </a:p>
        </p:txBody>
      </p:sp>
      <p:sp>
        <p:nvSpPr>
          <p:cNvPr id="22" name="Rounded Rectangle 21"/>
          <p:cNvSpPr/>
          <p:nvPr/>
        </p:nvSpPr>
        <p:spPr>
          <a:xfrm>
            <a:off x="11978640" y="6400800"/>
            <a:ext cx="4754880" cy="1645920"/>
          </a:xfrm>
          <a:prstGeom prst="roundRect">
            <a:avLst>
              <a:gd name="adj" fmla="val 9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252960" y="6510528"/>
            <a:ext cx="4206240" cy="822960"/>
          </a:xfrm>
          <a:prstGeom prst="rect">
            <a:avLst/>
          </a:prstGeom>
          <a:noFill/>
        </p:spPr>
        <p:txBody>
          <a:bodyPr wrap="square" lIns="0" rIns="0" tIns="0" bIns="0" anchor="ctr">
            <a:spAutoFit/>
          </a:bodyPr>
          <a:lstStyle/>
          <a:p>
            <a:pPr algn="l"/>
            <a:r>
              <a:rPr sz="4000" b="1" i="0">
                <a:solidFill>
                  <a:srgbClr val="FFFFFF"/>
                </a:solidFill>
                <a:latin typeface="Calibri"/>
              </a:rPr>
              <a:t>0.46–0.56</a:t>
            </a:r>
          </a:p>
        </p:txBody>
      </p:sp>
      <p:sp>
        <p:nvSpPr>
          <p:cNvPr id="24" name="TextBox 23"/>
          <p:cNvSpPr txBox="1"/>
          <p:nvPr/>
        </p:nvSpPr>
        <p:spPr>
          <a:xfrm>
            <a:off x="12252960" y="7355433"/>
            <a:ext cx="4206240" cy="658368"/>
          </a:xfrm>
          <a:prstGeom prst="rect">
            <a:avLst/>
          </a:prstGeom>
          <a:noFill/>
        </p:spPr>
        <p:txBody>
          <a:bodyPr wrap="square" lIns="0" rIns="0" tIns="0" bIns="0" anchor="t">
            <a:spAutoFit/>
          </a:bodyPr>
          <a:lstStyle/>
          <a:p>
            <a:pPr algn="l"/>
            <a:r>
              <a:rPr sz="2106" b="0" i="0">
                <a:solidFill>
                  <a:srgbClr val="DCE8F5"/>
                </a:solidFill>
                <a:latin typeface="Calibri"/>
              </a:rPr>
              <a:t>gap in every task 3 cell</a:t>
            </a:r>
          </a:p>
        </p:txBody>
      </p:sp>
      <p:sp>
        <p:nvSpPr>
          <p:cNvPr id="25" name="Rounded Rectangle 24"/>
          <p:cNvSpPr/>
          <p:nvPr/>
        </p:nvSpPr>
        <p:spPr>
          <a:xfrm>
            <a:off x="1005840" y="8366760"/>
            <a:ext cx="15727680" cy="960120"/>
          </a:xfrm>
          <a:prstGeom prst="roundRect">
            <a:avLst>
              <a:gd name="adj" fmla="val 2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1600" y="8366760"/>
            <a:ext cx="14996159" cy="960120"/>
          </a:xfrm>
          <a:prstGeom prst="rect">
            <a:avLst/>
          </a:prstGeom>
          <a:noFill/>
        </p:spPr>
        <p:txBody>
          <a:bodyPr wrap="square" lIns="0" rIns="0" tIns="0" bIns="0" anchor="ctr">
            <a:spAutoFit/>
          </a:bodyPr>
          <a:lstStyle/>
          <a:p>
            <a:pPr algn="l"/>
            <a:r>
              <a:rPr sz="2340" b="1" i="0">
                <a:solidFill>
                  <a:srgbClr val="164B82"/>
                </a:solidFill>
                <a:latin typeface="Calibri"/>
              </a:rPr>
              <a:t>Not a translation artefact: gaps 0.38–0.47 on machine-translated targets vs 0.39–0.45 on native (Hindi source, IndicBERT, task 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Phases 4–5 Results: Source Language and Encoder</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14 / 22</a:t>
            </a:r>
          </a:p>
        </p:txBody>
      </p:sp>
      <p:graphicFrame>
        <p:nvGraphicFramePr>
          <p:cNvPr id="15" name="Chart 14"/>
          <p:cNvGraphicFramePr>
            <a:graphicFrameLocks noGrp="1"/>
          </p:cNvGraphicFramePr>
          <p:nvPr/>
        </p:nvGraphicFramePr>
        <p:xfrm>
          <a:off x="1005840" y="2743200"/>
          <a:ext cx="9418320" cy="5394960"/>
        </p:xfrm>
        <a:graphic>
          <a:graphicData uri="http://schemas.openxmlformats.org/drawingml/2006/chart">
            <c:chart xmlns:c="http://schemas.openxmlformats.org/drawingml/2006/chart" r:id="rId5"/>
          </a:graphicData>
        </a:graphic>
      </p:graphicFrame>
      <p:sp>
        <p:nvSpPr>
          <p:cNvPr id="16" name="TextBox 15"/>
          <p:cNvSpPr txBox="1"/>
          <p:nvPr/>
        </p:nvSpPr>
        <p:spPr>
          <a:xfrm>
            <a:off x="10789920" y="2834640"/>
            <a:ext cx="5943600" cy="5394960"/>
          </a:xfrm>
          <a:prstGeom prst="rect">
            <a:avLst/>
          </a:prstGeom>
          <a:noFill/>
        </p:spPr>
        <p:txBody>
          <a:bodyPr wrap="square" lIns="0" rIns="0" tIns="0" bIns="0">
            <a:spAutoFit/>
          </a:bodyPr>
          <a:lstStyle/>
          <a:p>
            <a:pPr marL="384048" indent="-384048">
              <a:spcAft>
                <a:spcPts val="1300"/>
              </a:spcAft>
              <a:buClr>
                <a:srgbClr val="2F679F"/>
              </a:buClr>
              <a:buFont typeface="Arial"/>
              <a:buChar char="•"/>
            </a:pPr>
            <a:r>
              <a:rPr sz="2574" b="0">
                <a:solidFill>
                  <a:srgbClr val="343434"/>
                </a:solidFill>
                <a:latin typeface="Calibri"/>
              </a:rPr>
              <a:t>Hindi is the worst source, both encoders</a:t>
            </a:r>
          </a:p>
          <a:p>
            <a:pPr marL="384048" indent="-384048">
              <a:spcAft>
                <a:spcPts val="1300"/>
              </a:spcAft>
              <a:buClr>
                <a:srgbClr val="2F679F"/>
              </a:buClr>
              <a:buFont typeface="Arial"/>
              <a:buChar char="•"/>
            </a:pPr>
            <a:r>
              <a:rPr sz="2574" b="0">
                <a:solidFill>
                  <a:srgbClr val="343434"/>
                </a:solidFill>
                <a:latin typeface="Calibri"/>
              </a:rPr>
              <a:t>Into Dravidian costs more than Indo-Aryan</a:t>
            </a:r>
          </a:p>
          <a:p>
            <a:pPr marL="384048" indent="-384048">
              <a:spcAft>
                <a:spcPts val="1300"/>
              </a:spcAft>
              <a:buClr>
                <a:srgbClr val="2F679F"/>
              </a:buClr>
              <a:buFont typeface="Arial"/>
              <a:buChar char="•"/>
            </a:pPr>
            <a:r>
              <a:rPr sz="2574" b="0">
                <a:solidFill>
                  <a:srgbClr val="343434"/>
                </a:solidFill>
                <a:latin typeface="Calibri"/>
              </a:rPr>
              <a:t>Hi→Bn 0.448 vs Bn→Hi 0.263 (IndicBERT)</a:t>
            </a:r>
          </a:p>
          <a:p>
            <a:pPr marL="384048" indent="-384048">
              <a:spcAft>
                <a:spcPts val="1300"/>
              </a:spcAft>
              <a:buClr>
                <a:srgbClr val="2F679F"/>
              </a:buClr>
              <a:buFont typeface="Arial"/>
              <a:buChar char="•"/>
            </a:pPr>
            <a:r>
              <a:rPr sz="2574" b="0">
                <a:solidFill>
                  <a:srgbClr val="343434"/>
                </a:solidFill>
                <a:latin typeface="Calibri"/>
              </a:rPr>
              <a:t>mBERT wins 12 of 12 Hindi-source cells</a:t>
            </a:r>
          </a:p>
          <a:p>
            <a:pPr marL="384048" indent="-384048">
              <a:spcAft>
                <a:spcPts val="1300"/>
              </a:spcAft>
              <a:buClr>
                <a:srgbClr val="2F679F"/>
              </a:buClr>
              <a:buFont typeface="Arial"/>
              <a:buChar char="•"/>
            </a:pPr>
            <a:r>
              <a:rPr sz="2574" b="0">
                <a:solidFill>
                  <a:srgbClr val="343434"/>
                </a:solidFill>
                <a:latin typeface="Calibri"/>
              </a:rPr>
              <a:t>Tokenisation does not explain it [29]</a:t>
            </a:r>
          </a:p>
        </p:txBody>
      </p:sp>
      <p:sp>
        <p:nvSpPr>
          <p:cNvPr id="17" name="Rounded Rectangle 16"/>
          <p:cNvSpPr/>
          <p:nvPr/>
        </p:nvSpPr>
        <p:spPr>
          <a:xfrm>
            <a:off x="1005840" y="8366760"/>
            <a:ext cx="15727680" cy="960120"/>
          </a:xfrm>
          <a:prstGeom prst="roundRect">
            <a:avLst>
              <a:gd name="adj" fmla="val 20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8366760"/>
            <a:ext cx="14996159" cy="960120"/>
          </a:xfrm>
          <a:prstGeom prst="rect">
            <a:avLst/>
          </a:prstGeom>
          <a:noFill/>
        </p:spPr>
        <p:txBody>
          <a:bodyPr wrap="square" lIns="0" rIns="0" tIns="0" bIns="0" anchor="ctr">
            <a:spAutoFit/>
          </a:bodyPr>
          <a:lstStyle/>
          <a:p>
            <a:pPr algn="l"/>
            <a:r>
              <a:rPr sz="2222" b="1" i="0">
                <a:solidFill>
                  <a:srgbClr val="164B82"/>
                </a:solidFill>
                <a:latin typeface="Calibri"/>
              </a:rPr>
              <a:t>mBERT margin 0.15–0.37 macro-F1 · IndicBERT uses 14–24% fewer tokens yet still loses · task 3 (532 headlines) is too small to rank sources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Phases 6–7 Implementation: Diagnostic Router</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15 / 22</a:t>
            </a:r>
          </a:p>
        </p:txBody>
      </p:sp>
      <p:sp>
        <p:nvSpPr>
          <p:cNvPr id="15" name="Rounded Rectangle 14"/>
          <p:cNvSpPr/>
          <p:nvPr/>
        </p:nvSpPr>
        <p:spPr>
          <a:xfrm>
            <a:off x="1005840" y="2834640"/>
            <a:ext cx="7955279" cy="137160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2926080"/>
            <a:ext cx="7406640" cy="457200"/>
          </a:xfrm>
          <a:prstGeom prst="rect">
            <a:avLst/>
          </a:prstGeom>
          <a:noFill/>
        </p:spPr>
        <p:txBody>
          <a:bodyPr wrap="square" lIns="0" rIns="0" tIns="0" bIns="0" anchor="t">
            <a:spAutoFit/>
          </a:bodyPr>
          <a:lstStyle/>
          <a:p>
            <a:pPr algn="l"/>
            <a:r>
              <a:rPr sz="2457" b="1" i="0">
                <a:solidFill>
                  <a:srgbClr val="FFFFFF"/>
                </a:solidFill>
                <a:latin typeface="Calibri"/>
              </a:rPr>
              <a:t>Stage 1 · Semantic gate</a:t>
            </a:r>
          </a:p>
        </p:txBody>
      </p:sp>
      <p:sp>
        <p:nvSpPr>
          <p:cNvPr id="17" name="TextBox 16"/>
          <p:cNvSpPr txBox="1"/>
          <p:nvPr/>
        </p:nvSpPr>
        <p:spPr>
          <a:xfrm>
            <a:off x="1280160" y="3429000"/>
            <a:ext cx="7406640" cy="685800"/>
          </a:xfrm>
          <a:prstGeom prst="rect">
            <a:avLst/>
          </a:prstGeom>
          <a:noFill/>
        </p:spPr>
        <p:txBody>
          <a:bodyPr wrap="square" lIns="0" rIns="0" tIns="0" bIns="0" anchor="t">
            <a:spAutoFit/>
          </a:bodyPr>
          <a:lstStyle/>
          <a:p>
            <a:pPr algn="l"/>
            <a:r>
              <a:rPr sz="1989" b="0" i="0">
                <a:solidFill>
                  <a:srgbClr val="FFFFFF"/>
                </a:solidFill>
                <a:latin typeface="Calibri"/>
              </a:rPr>
              <a:t>LaBSE similarity &lt; τ → translation_drift, stop</a:t>
            </a:r>
          </a:p>
        </p:txBody>
      </p:sp>
      <p:cxnSp>
        <p:nvCxnSpPr>
          <p:cNvPr id="18" name="Connector 17"/>
          <p:cNvCxnSpPr/>
          <p:nvPr/>
        </p:nvCxnSpPr>
        <p:spPr>
          <a:xfrm>
            <a:off x="4983480" y="4224528"/>
            <a:ext cx="0" cy="237744"/>
          </a:xfrm>
          <a:prstGeom prst="line">
            <a:avLst/>
          </a:prstGeom>
          <a:ln w="31750">
            <a:solidFill>
              <a:srgbClr val="164B82"/>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05840" y="4480560"/>
            <a:ext cx="7955279" cy="1371600"/>
          </a:xfrm>
          <a:prstGeom prst="roundRect">
            <a:avLst>
              <a:gd name="adj" fmla="val 9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4572000"/>
            <a:ext cx="7406640" cy="457200"/>
          </a:xfrm>
          <a:prstGeom prst="rect">
            <a:avLst/>
          </a:prstGeom>
          <a:noFill/>
        </p:spPr>
        <p:txBody>
          <a:bodyPr wrap="square" lIns="0" rIns="0" tIns="0" bIns="0" anchor="t">
            <a:spAutoFit/>
          </a:bodyPr>
          <a:lstStyle/>
          <a:p>
            <a:pPr algn="l"/>
            <a:r>
              <a:rPr sz="2457" b="1" i="0">
                <a:solidFill>
                  <a:srgbClr val="FFFFFF"/>
                </a:solidFill>
                <a:latin typeface="Calibri"/>
              </a:rPr>
              <a:t>Stage 2 · Linguistic</a:t>
            </a:r>
          </a:p>
        </p:txBody>
      </p:sp>
      <p:sp>
        <p:nvSpPr>
          <p:cNvPr id="21" name="TextBox 20"/>
          <p:cNvSpPr txBox="1"/>
          <p:nvPr/>
        </p:nvSpPr>
        <p:spPr>
          <a:xfrm>
            <a:off x="1280160" y="5074920"/>
            <a:ext cx="7406640" cy="685800"/>
          </a:xfrm>
          <a:prstGeom prst="rect">
            <a:avLst/>
          </a:prstGeom>
          <a:noFill/>
        </p:spPr>
        <p:txBody>
          <a:bodyPr wrap="square" lIns="0" rIns="0" tIns="0" bIns="0" anchor="t">
            <a:spAutoFit/>
          </a:bodyPr>
          <a:lstStyle/>
          <a:p>
            <a:pPr algn="l"/>
            <a:r>
              <a:rPr sz="1989" b="0" i="0">
                <a:solidFill>
                  <a:srgbClr val="FFFFFF"/>
                </a:solidFill>
                <a:latin typeface="Calibri"/>
              </a:rPr>
              <a:t>tokenizer fragmentation · morphological masking · terminology gap</a:t>
            </a:r>
          </a:p>
        </p:txBody>
      </p:sp>
      <p:cxnSp>
        <p:nvCxnSpPr>
          <p:cNvPr id="22" name="Connector 21"/>
          <p:cNvCxnSpPr/>
          <p:nvPr/>
        </p:nvCxnSpPr>
        <p:spPr>
          <a:xfrm>
            <a:off x="4983480" y="5870448"/>
            <a:ext cx="0" cy="237744"/>
          </a:xfrm>
          <a:prstGeom prst="line">
            <a:avLst/>
          </a:prstGeom>
          <a:ln w="31750">
            <a:solidFill>
              <a:srgbClr val="164B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05840" y="6126480"/>
            <a:ext cx="7955279" cy="1371600"/>
          </a:xfrm>
          <a:prstGeom prst="roundRect">
            <a:avLst>
              <a:gd name="adj" fmla="val 9000"/>
            </a:avLst>
          </a:prstGeom>
          <a:solidFill>
            <a:srgbClr val="699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6217920"/>
            <a:ext cx="7406640" cy="457200"/>
          </a:xfrm>
          <a:prstGeom prst="rect">
            <a:avLst/>
          </a:prstGeom>
          <a:noFill/>
        </p:spPr>
        <p:txBody>
          <a:bodyPr wrap="square" lIns="0" rIns="0" tIns="0" bIns="0" anchor="t">
            <a:spAutoFit/>
          </a:bodyPr>
          <a:lstStyle/>
          <a:p>
            <a:pPr algn="l"/>
            <a:r>
              <a:rPr sz="2457" b="1" i="0">
                <a:solidFill>
                  <a:srgbClr val="FFFFFF"/>
                </a:solidFill>
                <a:latin typeface="Calibri"/>
              </a:rPr>
              <a:t>Stage 3 · Data and model</a:t>
            </a:r>
          </a:p>
        </p:txBody>
      </p:sp>
      <p:sp>
        <p:nvSpPr>
          <p:cNvPr id="25" name="TextBox 24"/>
          <p:cNvSpPr txBox="1"/>
          <p:nvPr/>
        </p:nvSpPr>
        <p:spPr>
          <a:xfrm>
            <a:off x="1280160" y="6720840"/>
            <a:ext cx="7406640" cy="685800"/>
          </a:xfrm>
          <a:prstGeom prst="rect">
            <a:avLst/>
          </a:prstGeom>
          <a:noFill/>
        </p:spPr>
        <p:txBody>
          <a:bodyPr wrap="square" lIns="0" rIns="0" tIns="0" bIns="0" anchor="t">
            <a:spAutoFit/>
          </a:bodyPr>
          <a:lstStyle/>
          <a:p>
            <a:pPr algn="l"/>
            <a:r>
              <a:rPr sz="1989" b="0" i="0">
                <a:solidFill>
                  <a:srgbClr val="FFFFFF"/>
                </a:solidFill>
                <a:latin typeface="Calibri"/>
              </a:rPr>
              <a:t>provenance_specific · cross_lingual_hard · class_collapse · seed_unstable</a:t>
            </a:r>
          </a:p>
        </p:txBody>
      </p:sp>
      <p:cxnSp>
        <p:nvCxnSpPr>
          <p:cNvPr id="26" name="Connector 25"/>
          <p:cNvCxnSpPr/>
          <p:nvPr/>
        </p:nvCxnSpPr>
        <p:spPr>
          <a:xfrm>
            <a:off x="4983480" y="7516368"/>
            <a:ext cx="0" cy="237744"/>
          </a:xfrm>
          <a:prstGeom prst="line">
            <a:avLst/>
          </a:prstGeom>
          <a:ln w="31750">
            <a:solidFill>
              <a:srgbClr val="164B82"/>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05840" y="7772400"/>
            <a:ext cx="7955279" cy="1371600"/>
          </a:xfrm>
          <a:prstGeom prst="roundRect">
            <a:avLst>
              <a:gd name="adj" fmla="val 9000"/>
            </a:avLst>
          </a:prstGeom>
          <a:solidFill>
            <a:srgbClr val="8A9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7863840"/>
            <a:ext cx="7406640" cy="457200"/>
          </a:xfrm>
          <a:prstGeom prst="rect">
            <a:avLst/>
          </a:prstGeom>
          <a:noFill/>
        </p:spPr>
        <p:txBody>
          <a:bodyPr wrap="square" lIns="0" rIns="0" tIns="0" bIns="0" anchor="t">
            <a:spAutoFit/>
          </a:bodyPr>
          <a:lstStyle/>
          <a:p>
            <a:pPr algn="l"/>
            <a:r>
              <a:rPr sz="2457" b="1" i="0">
                <a:solidFill>
                  <a:srgbClr val="FFFFFF"/>
                </a:solidFill>
                <a:latin typeface="Calibri"/>
              </a:rPr>
              <a:t>Otherwise</a:t>
            </a:r>
          </a:p>
        </p:txBody>
      </p:sp>
      <p:sp>
        <p:nvSpPr>
          <p:cNvPr id="29" name="TextBox 28"/>
          <p:cNvSpPr txBox="1"/>
          <p:nvPr/>
        </p:nvSpPr>
        <p:spPr>
          <a:xfrm>
            <a:off x="1280160" y="8366760"/>
            <a:ext cx="7406640" cy="685800"/>
          </a:xfrm>
          <a:prstGeom prst="rect">
            <a:avLst/>
          </a:prstGeom>
          <a:noFill/>
        </p:spPr>
        <p:txBody>
          <a:bodyPr wrap="square" lIns="0" rIns="0" tIns="0" bIns="0" anchor="t">
            <a:spAutoFit/>
          </a:bodyPr>
          <a:lstStyle/>
          <a:p>
            <a:pPr algn="l"/>
            <a:r>
              <a:rPr sz="1989" b="0" i="0">
                <a:solidFill>
                  <a:srgbClr val="FFFFFF"/>
                </a:solidFill>
                <a:latin typeface="Calibri"/>
              </a:rPr>
              <a:t>unattributed: reported as an outcome, not hidden</a:t>
            </a:r>
          </a:p>
        </p:txBody>
      </p:sp>
      <p:sp>
        <p:nvSpPr>
          <p:cNvPr id="30" name="Rounded Rectangle 29"/>
          <p:cNvSpPr/>
          <p:nvPr/>
        </p:nvSpPr>
        <p:spPr>
          <a:xfrm>
            <a:off x="9326880" y="2834640"/>
            <a:ext cx="7406640" cy="3017520"/>
          </a:xfrm>
          <a:prstGeom prst="roundRect">
            <a:avLst>
              <a:gd name="adj" fmla="val 5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46920" y="3017520"/>
            <a:ext cx="6400800" cy="320040"/>
          </a:xfrm>
          <a:prstGeom prst="rect">
            <a:avLst/>
          </a:prstGeom>
          <a:noFill/>
        </p:spPr>
        <p:txBody>
          <a:bodyPr wrap="square" lIns="0" rIns="0" tIns="0" bIns="0" anchor="t">
            <a:spAutoFit/>
          </a:bodyPr>
          <a:lstStyle/>
          <a:p>
            <a:pPr algn="l"/>
            <a:r>
              <a:rPr sz="1989" b="1" i="0">
                <a:solidFill>
                  <a:srgbClr val="2F679F"/>
                </a:solidFill>
                <a:latin typeface="Calibri"/>
              </a:rPr>
              <a:t>PHASE 7 · AGGREGATION</a:t>
            </a:r>
          </a:p>
        </p:txBody>
      </p:sp>
      <p:sp>
        <p:nvSpPr>
          <p:cNvPr id="32" name="TextBox 31"/>
          <p:cNvSpPr txBox="1"/>
          <p:nvPr/>
        </p:nvSpPr>
        <p:spPr>
          <a:xfrm>
            <a:off x="9646920" y="3474720"/>
            <a:ext cx="6858000" cy="2377440"/>
          </a:xfrm>
          <a:prstGeom prst="rect">
            <a:avLst/>
          </a:prstGeom>
          <a:noFill/>
        </p:spPr>
        <p:txBody>
          <a:bodyPr wrap="square" lIns="0" rIns="0" tIns="0" bIns="0">
            <a:spAutoFit/>
          </a:bodyPr>
          <a:lstStyle/>
          <a:p>
            <a:pPr marL="384048" indent="-384048">
              <a:spcAft>
                <a:spcPts val="700"/>
              </a:spcAft>
              <a:buClr>
                <a:srgbClr val="2F679F"/>
              </a:buClr>
              <a:buFont typeface="Arial"/>
              <a:buChar char="•"/>
            </a:pPr>
            <a:r>
              <a:rPr sz="2222" b="0">
                <a:solidFill>
                  <a:srgbClr val="343434"/>
                </a:solidFill>
                <a:latin typeface="Calibri"/>
              </a:rPr>
              <a:t>Unit: failed (item, seed) row</a:t>
            </a:r>
          </a:p>
          <a:p>
            <a:pPr marL="384048" indent="-384048">
              <a:spcAft>
                <a:spcPts val="700"/>
              </a:spcAft>
              <a:buClr>
                <a:srgbClr val="2F679F"/>
              </a:buClr>
              <a:buFont typeface="Arial"/>
              <a:buChar char="•"/>
            </a:pPr>
            <a:r>
              <a:rPr sz="2222" b="0">
                <a:solidFill>
                  <a:srgbClr val="343434"/>
                </a:solidFill>
                <a:latin typeface="Calibri"/>
              </a:rPr>
              <a:t>Share of each label per group</a:t>
            </a:r>
          </a:p>
          <a:p>
            <a:pPr marL="384048" indent="-384048">
              <a:spcAft>
                <a:spcPts val="700"/>
              </a:spcAft>
              <a:buClr>
                <a:srgbClr val="2F679F"/>
              </a:buClr>
              <a:buFont typeface="Arial"/>
              <a:buChar char="•"/>
            </a:pPr>
            <a:r>
              <a:rPr sz="2222" b="0">
                <a:solidFill>
                  <a:srgbClr val="343434"/>
                </a:solidFill>
                <a:latin typeface="Calibri"/>
              </a:rPr>
              <a:t>95% cluster-bootstrap intervals</a:t>
            </a:r>
          </a:p>
          <a:p>
            <a:pPr marL="384048" indent="-384048">
              <a:spcAft>
                <a:spcPts val="700"/>
              </a:spcAft>
              <a:buClr>
                <a:srgbClr val="2F679F"/>
              </a:buClr>
              <a:buFont typeface="Arial"/>
              <a:buChar char="•"/>
            </a:pPr>
            <a:r>
              <a:rPr sz="2222" b="0">
                <a:solidFill>
                  <a:srgbClr val="343434"/>
                </a:solidFill>
                <a:latin typeface="Calibri"/>
              </a:rPr>
              <a:t>Finding: intervals apart, same sign on both encoders</a:t>
            </a:r>
          </a:p>
        </p:txBody>
      </p:sp>
      <p:sp>
        <p:nvSpPr>
          <p:cNvPr id="33" name="Rounded Rectangle 32"/>
          <p:cNvSpPr/>
          <p:nvPr/>
        </p:nvSpPr>
        <p:spPr>
          <a:xfrm>
            <a:off x="9326880" y="6126480"/>
            <a:ext cx="7406640" cy="3200400"/>
          </a:xfrm>
          <a:prstGeom prst="roundRect">
            <a:avLst>
              <a:gd name="adj" fmla="val 5000"/>
            </a:avLst>
          </a:prstGeom>
          <a:solidFill>
            <a:srgbClr val="E3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46920" y="6309360"/>
            <a:ext cx="6400800" cy="320040"/>
          </a:xfrm>
          <a:prstGeom prst="rect">
            <a:avLst/>
          </a:prstGeom>
          <a:noFill/>
        </p:spPr>
        <p:txBody>
          <a:bodyPr wrap="square" lIns="0" rIns="0" tIns="0" bIns="0" anchor="t">
            <a:spAutoFit/>
          </a:bodyPr>
          <a:lstStyle/>
          <a:p>
            <a:pPr algn="l"/>
            <a:r>
              <a:rPr sz="1989" b="1" i="0">
                <a:solidFill>
                  <a:srgbClr val="2F679F"/>
                </a:solidFill>
                <a:latin typeface="Calibri"/>
              </a:rPr>
              <a:t>DEFECTS FIXED ON THE WAY</a:t>
            </a:r>
          </a:p>
        </p:txBody>
      </p:sp>
      <p:sp>
        <p:nvSpPr>
          <p:cNvPr id="35" name="TextBox 34"/>
          <p:cNvSpPr txBox="1"/>
          <p:nvPr/>
        </p:nvSpPr>
        <p:spPr>
          <a:xfrm>
            <a:off x="9646920" y="6766560"/>
            <a:ext cx="6858000" cy="2560320"/>
          </a:xfrm>
          <a:prstGeom prst="rect">
            <a:avLst/>
          </a:prstGeom>
          <a:noFill/>
        </p:spPr>
        <p:txBody>
          <a:bodyPr wrap="square" lIns="0" rIns="0" tIns="0" bIns="0">
            <a:spAutoFit/>
          </a:bodyPr>
          <a:lstStyle/>
          <a:p>
            <a:pPr marL="384048" indent="-384048">
              <a:spcAft>
                <a:spcPts val="700"/>
              </a:spcAft>
              <a:buClr>
                <a:srgbClr val="2F679F"/>
              </a:buClr>
              <a:buFont typeface="Arial"/>
              <a:buChar char="•"/>
            </a:pPr>
            <a:r>
              <a:rPr sz="2106" b="0">
                <a:solidFill>
                  <a:srgbClr val="343434"/>
                </a:solidFill>
                <a:latin typeface="Calibri"/>
              </a:rPr>
              <a:t>Fuzzy-match rule gave 96% false hits; masking labels 10,642 → 2,484</a:t>
            </a:r>
          </a:p>
          <a:p>
            <a:pPr marL="384048" indent="-384048">
              <a:spcAft>
                <a:spcPts val="700"/>
              </a:spcAft>
              <a:buClr>
                <a:srgbClr val="2F679F"/>
              </a:buClr>
              <a:buFont typeface="Arial"/>
              <a:buChar char="•"/>
            </a:pPr>
            <a:r>
              <a:rPr sz="2106" b="0">
                <a:solidFill>
                  <a:srgbClr val="343434"/>
                </a:solidFill>
                <a:latin typeface="Calibri"/>
              </a:rPr>
              <a:t>Behaviour labels cut unattributed from 88–91% to 9–20%</a:t>
            </a:r>
          </a:p>
          <a:p>
            <a:pPr marL="384048" indent="-384048">
              <a:spcAft>
                <a:spcPts val="700"/>
              </a:spcAft>
              <a:buClr>
                <a:srgbClr val="2F679F"/>
              </a:buClr>
              <a:buFont typeface="Arial"/>
              <a:buChar char="•"/>
            </a:pPr>
            <a:r>
              <a:rPr sz="2106" b="0">
                <a:solidFill>
                  <a:srgbClr val="343434"/>
                </a:solidFill>
                <a:latin typeface="Calibri"/>
              </a:rPr>
              <a:t>Orthographic module dropped: failed at base rate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Phases 6–7 Results: What Failures Are Made Of</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16 / 22</a:t>
            </a:r>
          </a:p>
        </p:txBody>
      </p:sp>
      <p:graphicFrame>
        <p:nvGraphicFramePr>
          <p:cNvPr id="15" name="Chart 14"/>
          <p:cNvGraphicFramePr>
            <a:graphicFrameLocks noGrp="1"/>
          </p:cNvGraphicFramePr>
          <p:nvPr/>
        </p:nvGraphicFramePr>
        <p:xfrm>
          <a:off x="1005840" y="2743200"/>
          <a:ext cx="9875520" cy="5029200"/>
        </p:xfrm>
        <a:graphic>
          <a:graphicData uri="http://schemas.openxmlformats.org/drawingml/2006/chart">
            <c:chart xmlns:c="http://schemas.openxmlformats.org/drawingml/2006/chart" r:id="rId5"/>
          </a:graphicData>
        </a:graphic>
      </p:graphicFrame>
      <p:sp>
        <p:nvSpPr>
          <p:cNvPr id="16" name="TextBox 15"/>
          <p:cNvSpPr txBox="1"/>
          <p:nvPr/>
        </p:nvSpPr>
        <p:spPr>
          <a:xfrm>
            <a:off x="1005840" y="8046720"/>
            <a:ext cx="9875520" cy="1280160"/>
          </a:xfrm>
          <a:prstGeom prst="rect">
            <a:avLst/>
          </a:prstGeom>
          <a:noFill/>
        </p:spPr>
        <p:txBody>
          <a:bodyPr wrap="square" lIns="0" rIns="0" tIns="0" bIns="0" anchor="t">
            <a:spAutoFit/>
          </a:bodyPr>
          <a:lstStyle/>
          <a:p>
            <a:pPr algn="l"/>
            <a:r>
              <a:rPr sz="2222" b="0" i="1">
                <a:solidFill>
                  <a:srgbClr val="343434"/>
                </a:solidFill>
                <a:latin typeface="Calibri"/>
              </a:rPr>
              <a:t>Two linguistic modules predict failure no better than chance (AUC 0.48–0.52); tokenizer fragmentation fires on ≤ 0.5% of failures.</a:t>
            </a:r>
          </a:p>
        </p:txBody>
      </p:sp>
      <p:sp>
        <p:nvSpPr>
          <p:cNvPr id="17" name="Rounded Rectangle 16"/>
          <p:cNvSpPr/>
          <p:nvPr/>
        </p:nvSpPr>
        <p:spPr>
          <a:xfrm>
            <a:off x="11247120" y="2743200"/>
            <a:ext cx="5486400" cy="146304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21440" y="2852928"/>
            <a:ext cx="4937760" cy="731520"/>
          </a:xfrm>
          <a:prstGeom prst="rect">
            <a:avLst/>
          </a:prstGeom>
          <a:noFill/>
        </p:spPr>
        <p:txBody>
          <a:bodyPr wrap="square" lIns="0" rIns="0" tIns="0" bIns="0" anchor="ctr">
            <a:spAutoFit/>
          </a:bodyPr>
          <a:lstStyle/>
          <a:p>
            <a:pPr algn="l"/>
            <a:r>
              <a:rPr sz="3744" b="1" i="0">
                <a:solidFill>
                  <a:srgbClr val="FFFFFF"/>
                </a:solidFill>
                <a:latin typeface="Calibri"/>
              </a:rPr>
              <a:t>72</a:t>
            </a:r>
          </a:p>
        </p:txBody>
      </p:sp>
      <p:sp>
        <p:nvSpPr>
          <p:cNvPr id="19" name="TextBox 18"/>
          <p:cNvSpPr txBox="1"/>
          <p:nvPr/>
        </p:nvSpPr>
        <p:spPr>
          <a:xfrm>
            <a:off x="11521440" y="3591763"/>
            <a:ext cx="4937760" cy="585216"/>
          </a:xfrm>
          <a:prstGeom prst="rect">
            <a:avLst/>
          </a:prstGeom>
          <a:noFill/>
        </p:spPr>
        <p:txBody>
          <a:bodyPr wrap="square" lIns="0" rIns="0" tIns="0" bIns="0" anchor="t">
            <a:spAutoFit/>
          </a:bodyPr>
          <a:lstStyle/>
          <a:p>
            <a:pPr algn="l"/>
            <a:r>
              <a:rPr sz="1989" b="0" i="0">
                <a:solidFill>
                  <a:srgbClr val="DCE8F5"/>
                </a:solidFill>
                <a:latin typeface="Calibri"/>
              </a:rPr>
              <a:t>conditions, every failure labelled</a:t>
            </a:r>
          </a:p>
        </p:txBody>
      </p:sp>
      <p:sp>
        <p:nvSpPr>
          <p:cNvPr id="20" name="Rounded Rectangle 19"/>
          <p:cNvSpPr/>
          <p:nvPr/>
        </p:nvSpPr>
        <p:spPr>
          <a:xfrm>
            <a:off x="11247120" y="4370832"/>
            <a:ext cx="5486400" cy="1463040"/>
          </a:xfrm>
          <a:prstGeom prst="roundRect">
            <a:avLst>
              <a:gd name="adj" fmla="val 9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4480560"/>
            <a:ext cx="4937760" cy="731520"/>
          </a:xfrm>
          <a:prstGeom prst="rect">
            <a:avLst/>
          </a:prstGeom>
          <a:noFill/>
        </p:spPr>
        <p:txBody>
          <a:bodyPr wrap="square" lIns="0" rIns="0" tIns="0" bIns="0" anchor="ctr">
            <a:spAutoFit/>
          </a:bodyPr>
          <a:lstStyle/>
          <a:p>
            <a:pPr algn="l"/>
            <a:r>
              <a:rPr sz="3744" b="1" i="0">
                <a:solidFill>
                  <a:srgbClr val="FFFFFF"/>
                </a:solidFill>
                <a:latin typeface="Calibri"/>
              </a:rPr>
              <a:t>8.8–12.0%</a:t>
            </a:r>
          </a:p>
        </p:txBody>
      </p:sp>
      <p:sp>
        <p:nvSpPr>
          <p:cNvPr id="22" name="TextBox 21"/>
          <p:cNvSpPr txBox="1"/>
          <p:nvPr/>
        </p:nvSpPr>
        <p:spPr>
          <a:xfrm>
            <a:off x="11521440" y="5219395"/>
            <a:ext cx="4937760" cy="585216"/>
          </a:xfrm>
          <a:prstGeom prst="rect">
            <a:avLst/>
          </a:prstGeom>
          <a:noFill/>
        </p:spPr>
        <p:txBody>
          <a:bodyPr wrap="square" lIns="0" rIns="0" tIns="0" bIns="0" anchor="t">
            <a:spAutoFit/>
          </a:bodyPr>
          <a:lstStyle/>
          <a:p>
            <a:pPr algn="l"/>
            <a:r>
              <a:rPr sz="1989" b="0" i="0">
                <a:solidFill>
                  <a:srgbClr val="DCE8F5"/>
                </a:solidFill>
                <a:latin typeface="Calibri"/>
              </a:rPr>
              <a:t>of failures have linguistic causes</a:t>
            </a:r>
          </a:p>
        </p:txBody>
      </p:sp>
      <p:sp>
        <p:nvSpPr>
          <p:cNvPr id="23" name="Rounded Rectangle 22"/>
          <p:cNvSpPr/>
          <p:nvPr/>
        </p:nvSpPr>
        <p:spPr>
          <a:xfrm>
            <a:off x="11247120" y="5998464"/>
            <a:ext cx="5486400" cy="1463040"/>
          </a:xfrm>
          <a:prstGeom prst="roundRect">
            <a:avLst>
              <a:gd name="adj" fmla="val 9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21440" y="6108192"/>
            <a:ext cx="4937760" cy="731520"/>
          </a:xfrm>
          <a:prstGeom prst="rect">
            <a:avLst/>
          </a:prstGeom>
          <a:noFill/>
        </p:spPr>
        <p:txBody>
          <a:bodyPr wrap="square" lIns="0" rIns="0" tIns="0" bIns="0" anchor="ctr">
            <a:spAutoFit/>
          </a:bodyPr>
          <a:lstStyle/>
          <a:p>
            <a:pPr algn="l"/>
            <a:r>
              <a:rPr sz="3744" b="1" i="0">
                <a:solidFill>
                  <a:srgbClr val="FFFFFF"/>
                </a:solidFill>
                <a:latin typeface="Calibri"/>
              </a:rPr>
              <a:t>228 → 22 → 11</a:t>
            </a:r>
          </a:p>
        </p:txBody>
      </p:sp>
      <p:sp>
        <p:nvSpPr>
          <p:cNvPr id="25" name="TextBox 24"/>
          <p:cNvSpPr txBox="1"/>
          <p:nvPr/>
        </p:nvSpPr>
        <p:spPr>
          <a:xfrm>
            <a:off x="11521440" y="6847027"/>
            <a:ext cx="4937760" cy="585216"/>
          </a:xfrm>
          <a:prstGeom prst="rect">
            <a:avLst/>
          </a:prstGeom>
          <a:noFill/>
        </p:spPr>
        <p:txBody>
          <a:bodyPr wrap="square" lIns="0" rIns="0" tIns="0" bIns="0" anchor="t">
            <a:spAutoFit/>
          </a:bodyPr>
          <a:lstStyle/>
          <a:p>
            <a:pPr algn="l"/>
            <a:r>
              <a:rPr sz="1989" b="0" i="0">
                <a:solidFill>
                  <a:srgbClr val="DCE8F5"/>
                </a:solidFill>
                <a:latin typeface="Calibri"/>
              </a:rPr>
              <a:t>comparisons → meet rule → no caveat</a:t>
            </a:r>
          </a:p>
        </p:txBody>
      </p:sp>
      <p:sp>
        <p:nvSpPr>
          <p:cNvPr id="26" name="Rounded Rectangle 25"/>
          <p:cNvSpPr/>
          <p:nvPr/>
        </p:nvSpPr>
        <p:spPr>
          <a:xfrm>
            <a:off x="11247120" y="7626096"/>
            <a:ext cx="5486400" cy="1463040"/>
          </a:xfrm>
          <a:prstGeom prst="roundRect">
            <a:avLst>
              <a:gd name="adj" fmla="val 9000"/>
            </a:avLst>
          </a:prstGeom>
          <a:solidFill>
            <a:srgbClr val="2F6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521440" y="7735823"/>
            <a:ext cx="4937760" cy="731520"/>
          </a:xfrm>
          <a:prstGeom prst="rect">
            <a:avLst/>
          </a:prstGeom>
          <a:noFill/>
        </p:spPr>
        <p:txBody>
          <a:bodyPr wrap="square" lIns="0" rIns="0" tIns="0" bIns="0" anchor="ctr">
            <a:spAutoFit/>
          </a:bodyPr>
          <a:lstStyle/>
          <a:p>
            <a:pPr algn="l"/>
            <a:r>
              <a:rPr sz="3744" b="1" i="0">
                <a:solidFill>
                  <a:srgbClr val="FFFFFF"/>
                </a:solidFill>
                <a:latin typeface="Calibri"/>
              </a:rPr>
              <a:t>197 / 200</a:t>
            </a:r>
          </a:p>
        </p:txBody>
      </p:sp>
      <p:sp>
        <p:nvSpPr>
          <p:cNvPr id="28" name="TextBox 27"/>
          <p:cNvSpPr txBox="1"/>
          <p:nvPr/>
        </p:nvSpPr>
        <p:spPr>
          <a:xfrm>
            <a:off x="11521440" y="8474659"/>
            <a:ext cx="4937760" cy="585216"/>
          </a:xfrm>
          <a:prstGeom prst="rect">
            <a:avLst/>
          </a:prstGeom>
          <a:noFill/>
        </p:spPr>
        <p:txBody>
          <a:bodyPr wrap="square" lIns="0" rIns="0" tIns="0" bIns="0" anchor="t">
            <a:spAutoFit/>
          </a:bodyPr>
          <a:lstStyle/>
          <a:p>
            <a:pPr algn="l"/>
            <a:r>
              <a:rPr sz="1989" b="0" i="0">
                <a:solidFill>
                  <a:srgbClr val="DCE8F5"/>
                </a:solidFill>
                <a:latin typeface="Calibri"/>
              </a:rPr>
              <a:t>labels agree in hand check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Results Dashboard</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17 / 22</a:t>
            </a:r>
          </a:p>
        </p:txBody>
      </p:sp>
      <p:pic>
        <p:nvPicPr>
          <p:cNvPr id="15" name="Picture 14" descr="image.png"/>
          <p:cNvPicPr>
            <a:picLocks noChangeAspect="1"/>
          </p:cNvPicPr>
          <p:nvPr/>
        </p:nvPicPr>
        <p:blipFill>
          <a:blip r:embed="rId5"/>
          <a:stretch>
            <a:fillRect/>
          </a:stretch>
        </p:blipFill>
        <p:spPr>
          <a:xfrm>
            <a:off x="1005840" y="2834640"/>
            <a:ext cx="7680960" cy="3584448"/>
          </a:xfrm>
          <a:prstGeom prst="rect">
            <a:avLst/>
          </a:prstGeom>
          <a:ln w="15875">
            <a:solidFill>
              <a:srgbClr val="CFDDEC"/>
            </a:solidFill>
          </a:ln>
        </p:spPr>
      </p:pic>
      <p:pic>
        <p:nvPicPr>
          <p:cNvPr id="16" name="Picture 15" descr="image.png"/>
          <p:cNvPicPr>
            <a:picLocks noChangeAspect="1"/>
          </p:cNvPicPr>
          <p:nvPr/>
        </p:nvPicPr>
        <p:blipFill>
          <a:blip r:embed="rId6"/>
          <a:stretch>
            <a:fillRect/>
          </a:stretch>
        </p:blipFill>
        <p:spPr>
          <a:xfrm>
            <a:off x="9052560" y="2834640"/>
            <a:ext cx="7680960" cy="4224528"/>
          </a:xfrm>
          <a:prstGeom prst="rect">
            <a:avLst/>
          </a:prstGeom>
          <a:ln w="15875">
            <a:solidFill>
              <a:srgbClr val="CFDDEC"/>
            </a:solidFill>
          </a:ln>
        </p:spPr>
      </p:pic>
      <p:sp>
        <p:nvSpPr>
          <p:cNvPr id="17" name="TextBox 16"/>
          <p:cNvSpPr txBox="1"/>
          <p:nvPr/>
        </p:nvSpPr>
        <p:spPr>
          <a:xfrm>
            <a:off x="1005840" y="6537960"/>
            <a:ext cx="7680960" cy="457200"/>
          </a:xfrm>
          <a:prstGeom prst="rect">
            <a:avLst/>
          </a:prstGeom>
          <a:noFill/>
        </p:spPr>
        <p:txBody>
          <a:bodyPr wrap="square" lIns="0" rIns="0" tIns="0" bIns="0" anchor="t">
            <a:spAutoFit/>
          </a:bodyPr>
          <a:lstStyle/>
          <a:p>
            <a:pPr algn="l"/>
            <a:r>
              <a:rPr sz="2340" b="1" i="0">
                <a:solidFill>
                  <a:srgbClr val="164B82"/>
                </a:solidFill>
                <a:latin typeface="Calibri"/>
              </a:rPr>
              <a:t>Transfer page: gap per encoder</a:t>
            </a:r>
          </a:p>
        </p:txBody>
      </p:sp>
      <p:sp>
        <p:nvSpPr>
          <p:cNvPr id="18" name="TextBox 17"/>
          <p:cNvSpPr txBox="1"/>
          <p:nvPr/>
        </p:nvSpPr>
        <p:spPr>
          <a:xfrm>
            <a:off x="9052560" y="7178040"/>
            <a:ext cx="7680960" cy="457200"/>
          </a:xfrm>
          <a:prstGeom prst="rect">
            <a:avLst/>
          </a:prstGeom>
          <a:noFill/>
        </p:spPr>
        <p:txBody>
          <a:bodyPr wrap="square" lIns="0" rIns="0" tIns="0" bIns="0" anchor="t">
            <a:spAutoFit/>
          </a:bodyPr>
          <a:lstStyle/>
          <a:p>
            <a:pPr algn="l"/>
            <a:r>
              <a:rPr sz="2340" b="1" i="0">
                <a:solidFill>
                  <a:srgbClr val="164B82"/>
                </a:solidFill>
                <a:latin typeface="Calibri"/>
              </a:rPr>
              <a:t>Causes page: what failures are made of</a:t>
            </a:r>
          </a:p>
        </p:txBody>
      </p:sp>
      <p:sp>
        <p:nvSpPr>
          <p:cNvPr id="19" name="Rounded Rectangle 18"/>
          <p:cNvSpPr/>
          <p:nvPr/>
        </p:nvSpPr>
        <p:spPr>
          <a:xfrm>
            <a:off x="1005840" y="7818120"/>
            <a:ext cx="15727680" cy="1508760"/>
          </a:xfrm>
          <a:prstGeom prst="roundRect">
            <a:avLst>
              <a:gd name="adj" fmla="val 8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8001000"/>
            <a:ext cx="14996159" cy="1280160"/>
          </a:xfrm>
          <a:prstGeom prst="rect">
            <a:avLst/>
          </a:prstGeom>
          <a:noFill/>
        </p:spPr>
        <p:txBody>
          <a:bodyPr wrap="square" lIns="0" rIns="0" tIns="0" bIns="0">
            <a:spAutoFit/>
          </a:bodyPr>
          <a:lstStyle/>
          <a:p>
            <a:pPr marL="384048" indent="-384048">
              <a:spcAft>
                <a:spcPts val="800"/>
              </a:spcAft>
              <a:buClr>
                <a:srgbClr val="2F679F"/>
              </a:buClr>
              <a:buFont typeface="Arial"/>
              <a:buChar char="•"/>
            </a:pPr>
            <a:r>
              <a:rPr sz="2574" b="0">
                <a:solidFill>
                  <a:srgbClr val="343434"/>
                </a:solidFill>
                <a:latin typeface="Calibri"/>
              </a:rPr>
              <a:t>Three pages: transfer, causes, one-failure explorer; reads saved results only</a:t>
            </a:r>
          </a:p>
          <a:p>
            <a:pPr marL="384048" indent="-384048">
              <a:spcAft>
                <a:spcPts val="800"/>
              </a:spcAft>
              <a:buClr>
                <a:srgbClr val="2F679F"/>
              </a:buClr>
              <a:buFont typeface="Arial"/>
              <a:buChar char="•"/>
            </a:pPr>
            <a:r>
              <a:rPr sz="2574" b="0">
                <a:solidFill>
                  <a:srgbClr val="343434"/>
                </a:solidFill>
                <a:latin typeface="Calibri"/>
              </a:rPr>
              <a:t>Run: </a:t>
            </a:r>
            <a:r>
              <a:rPr sz="2574" b="1">
                <a:solidFill>
                  <a:srgbClr val="164B82"/>
                </a:solidFill>
                <a:latin typeface="Calibri"/>
              </a:rPr>
              <a:t>streamlit run dashboard/app.py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Limitations and Interpretation</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18 / 22</a:t>
            </a:r>
          </a:p>
        </p:txBody>
      </p:sp>
      <p:sp>
        <p:nvSpPr>
          <p:cNvPr id="15" name="TextBox 14"/>
          <p:cNvSpPr txBox="1"/>
          <p:nvPr/>
        </p:nvSpPr>
        <p:spPr>
          <a:xfrm>
            <a:off x="1005840" y="2743200"/>
            <a:ext cx="7315200" cy="320040"/>
          </a:xfrm>
          <a:prstGeom prst="rect">
            <a:avLst/>
          </a:prstGeom>
          <a:noFill/>
        </p:spPr>
        <p:txBody>
          <a:bodyPr wrap="square" lIns="0" rIns="0" tIns="0" bIns="0" anchor="t">
            <a:spAutoFit/>
          </a:bodyPr>
          <a:lstStyle/>
          <a:p>
            <a:pPr algn="l"/>
            <a:r>
              <a:rPr sz="1989" b="1" i="0">
                <a:solidFill>
                  <a:srgbClr val="E4B795"/>
                </a:solidFill>
                <a:latin typeface="Calibri"/>
              </a:rPr>
              <a:t>LIMITATIONS</a:t>
            </a:r>
          </a:p>
        </p:txBody>
      </p:sp>
      <p:sp>
        <p:nvSpPr>
          <p:cNvPr id="16" name="TextBox 15"/>
          <p:cNvSpPr txBox="1"/>
          <p:nvPr/>
        </p:nvSpPr>
        <p:spPr>
          <a:xfrm>
            <a:off x="1005840" y="3246120"/>
            <a:ext cx="8229600" cy="5852160"/>
          </a:xfrm>
          <a:prstGeom prst="rect">
            <a:avLst/>
          </a:prstGeom>
          <a:noFill/>
        </p:spPr>
        <p:txBody>
          <a:bodyPr wrap="square" lIns="0" rIns="0" tIns="0" bIns="0">
            <a:spAutoFit/>
          </a:bodyPr>
          <a:lstStyle/>
          <a:p>
            <a:pPr marL="384048" indent="-384048">
              <a:spcAft>
                <a:spcPts val="1800"/>
              </a:spcAft>
              <a:buClr>
                <a:srgbClr val="2F679F"/>
              </a:buClr>
              <a:buFont typeface="Arial"/>
              <a:buChar char="•"/>
            </a:pPr>
            <a:r>
              <a:rPr sz="3042" b="0">
                <a:solidFill>
                  <a:srgbClr val="343434"/>
                </a:solidFill>
                <a:latin typeface="Calibri"/>
              </a:rPr>
              <a:t>No native Malayalam text exists</a:t>
            </a:r>
          </a:p>
          <a:p>
            <a:pPr marL="384048" indent="-384048">
              <a:spcAft>
                <a:spcPts val="1800"/>
              </a:spcAft>
              <a:buClr>
                <a:srgbClr val="2F679F"/>
              </a:buClr>
              <a:buFont typeface="Arial"/>
              <a:buChar char="•"/>
            </a:pPr>
            <a:r>
              <a:rPr sz="3042" b="0">
                <a:solidFill>
                  <a:srgbClr val="343434"/>
                </a:solidFill>
                <a:latin typeface="Calibri"/>
              </a:rPr>
              <a:t>Human check covers 180 rows per task</a:t>
            </a:r>
          </a:p>
          <a:p>
            <a:pPr marL="384048" indent="-384048">
              <a:spcAft>
                <a:spcPts val="1800"/>
              </a:spcAft>
              <a:buClr>
                <a:srgbClr val="2F679F"/>
              </a:buClr>
              <a:buFont typeface="Arial"/>
              <a:buChar char="•"/>
            </a:pPr>
            <a:r>
              <a:rPr sz="3042" b="0">
                <a:solidFill>
                  <a:srgbClr val="343434"/>
                </a:solidFill>
                <a:latin typeface="Calibri"/>
              </a:rPr>
              <a:t>LaBSE rewards literal translation</a:t>
            </a:r>
          </a:p>
          <a:p>
            <a:pPr marL="384048" indent="-384048">
              <a:spcAft>
                <a:spcPts val="1800"/>
              </a:spcAft>
              <a:buClr>
                <a:srgbClr val="2F679F"/>
              </a:buClr>
              <a:buFont typeface="Arial"/>
              <a:buChar char="•"/>
            </a:pPr>
            <a:r>
              <a:rPr sz="3042" b="0">
                <a:solidFill>
                  <a:srgbClr val="343434"/>
                </a:solidFill>
                <a:latin typeface="Calibri"/>
              </a:rPr>
              <a:t>Same content in training and test, by design</a:t>
            </a:r>
          </a:p>
          <a:p>
            <a:pPr marL="384048" indent="-384048">
              <a:spcAft>
                <a:spcPts val="1800"/>
              </a:spcAft>
              <a:buClr>
                <a:srgbClr val="2F679F"/>
              </a:buClr>
              <a:buFont typeface="Arial"/>
              <a:buChar char="•"/>
            </a:pPr>
            <a:r>
              <a:rPr sz="3042" b="0">
                <a:solidFill>
                  <a:srgbClr val="343434"/>
                </a:solidFill>
                <a:latin typeface="Calibri"/>
              </a:rPr>
              <a:t>XLM-R excluded: 4 GB GPU</a:t>
            </a:r>
          </a:p>
        </p:txBody>
      </p:sp>
      <p:sp>
        <p:nvSpPr>
          <p:cNvPr id="17" name="Rounded Rectangle 16"/>
          <p:cNvSpPr/>
          <p:nvPr/>
        </p:nvSpPr>
        <p:spPr>
          <a:xfrm>
            <a:off x="9692640" y="2834640"/>
            <a:ext cx="7040880" cy="6400800"/>
          </a:xfrm>
          <a:prstGeom prst="roundRect">
            <a:avLst>
              <a:gd name="adj" fmla="val 5000"/>
            </a:avLst>
          </a:prstGeom>
          <a:solidFill>
            <a:srgbClr val="164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0" y="3108960"/>
            <a:ext cx="6309360" cy="457200"/>
          </a:xfrm>
          <a:prstGeom prst="rect">
            <a:avLst/>
          </a:prstGeom>
          <a:noFill/>
        </p:spPr>
        <p:txBody>
          <a:bodyPr wrap="square" lIns="0" rIns="0" tIns="0" bIns="0" anchor="t">
            <a:spAutoFit/>
          </a:bodyPr>
          <a:lstStyle/>
          <a:p>
            <a:pPr algn="l"/>
            <a:r>
              <a:rPr sz="1989" b="1" i="0">
                <a:solidFill>
                  <a:srgbClr val="E4B795"/>
                </a:solidFill>
                <a:latin typeface="Calibri"/>
              </a:rPr>
              <a:t>HOW TO READ THE RESULTS</a:t>
            </a:r>
          </a:p>
        </p:txBody>
      </p:sp>
      <p:sp>
        <p:nvSpPr>
          <p:cNvPr id="19" name="TextBox 18"/>
          <p:cNvSpPr txBox="1"/>
          <p:nvPr/>
        </p:nvSpPr>
        <p:spPr>
          <a:xfrm>
            <a:off x="10058400" y="3749039"/>
            <a:ext cx="6400800" cy="5303520"/>
          </a:xfrm>
          <a:prstGeom prst="rect">
            <a:avLst/>
          </a:prstGeom>
          <a:noFill/>
        </p:spPr>
        <p:txBody>
          <a:bodyPr wrap="square" lIns="0" rIns="0" tIns="0" bIns="0">
            <a:spAutoFit/>
          </a:bodyPr>
          <a:lstStyle/>
          <a:p>
            <a:pPr marL="384048" indent="-384048">
              <a:spcAft>
                <a:spcPts val="1600"/>
              </a:spcAft>
              <a:buClr>
                <a:srgbClr val="E4B795"/>
              </a:buClr>
              <a:buFont typeface="Arial"/>
              <a:buChar char="•"/>
            </a:pPr>
            <a:r>
              <a:rPr sz="2690" b="0">
                <a:solidFill>
                  <a:srgbClr val="FFFFFF"/>
                </a:solidFill>
                <a:latin typeface="Calibri"/>
              </a:rPr>
              <a:t>Gaps measure the cost of changing language</a:t>
            </a:r>
          </a:p>
          <a:p>
            <a:pPr marL="384048" indent="-384048">
              <a:spcAft>
                <a:spcPts val="1600"/>
              </a:spcAft>
              <a:buClr>
                <a:srgbClr val="E4B795"/>
              </a:buClr>
              <a:buFont typeface="Arial"/>
              <a:buChar char="•"/>
            </a:pPr>
            <a:r>
              <a:rPr sz="2690" b="0">
                <a:solidFill>
                  <a:srgbClr val="FFFFFF"/>
                </a:solidFill>
                <a:latin typeface="Calibri"/>
              </a:rPr>
              <a:t>Linguistic causes: only 8.8–12.0% of failures</a:t>
            </a:r>
          </a:p>
          <a:p>
            <a:pPr marL="384048" indent="-384048">
              <a:spcAft>
                <a:spcPts val="1600"/>
              </a:spcAft>
              <a:buClr>
                <a:srgbClr val="E4B795"/>
              </a:buClr>
              <a:buFont typeface="Arial"/>
              <a:buChar char="•"/>
            </a:pPr>
            <a:r>
              <a:rPr sz="2690" b="0">
                <a:solidFill>
                  <a:srgbClr val="FFFFFF"/>
                </a:solidFill>
                <a:latin typeface="Calibri"/>
              </a:rPr>
              <a:t>Two linguistic modules: no better than chance</a:t>
            </a:r>
          </a:p>
          <a:p>
            <a:pPr marL="384048" indent="-384048">
              <a:spcAft>
                <a:spcPts val="1600"/>
              </a:spcAft>
              <a:buClr>
                <a:srgbClr val="E4B795"/>
              </a:buClr>
              <a:buFont typeface="Arial"/>
              <a:buChar char="•"/>
            </a:pPr>
            <a:r>
              <a:rPr sz="2690" b="0">
                <a:solidFill>
                  <a:srgbClr val="FFFFFF"/>
                </a:solidFill>
                <a:latin typeface="Calibri"/>
              </a:rPr>
              <a:t>Gap size and shape firm; mechanism open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Conclusion and Future Work</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19 / 22</a:t>
            </a:r>
          </a:p>
        </p:txBody>
      </p:sp>
      <p:sp>
        <p:nvSpPr>
          <p:cNvPr id="15" name="Rounded Rectangle 14"/>
          <p:cNvSpPr/>
          <p:nvPr/>
        </p:nvSpPr>
        <p:spPr>
          <a:xfrm>
            <a:off x="1005840" y="2834640"/>
            <a:ext cx="7680960" cy="5120640"/>
          </a:xfrm>
          <a:prstGeom prst="roundRect">
            <a:avLst>
              <a:gd name="adj" fmla="val 4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3063240"/>
            <a:ext cx="6400800" cy="320040"/>
          </a:xfrm>
          <a:prstGeom prst="rect">
            <a:avLst/>
          </a:prstGeom>
          <a:noFill/>
        </p:spPr>
        <p:txBody>
          <a:bodyPr wrap="square" lIns="0" rIns="0" tIns="0" bIns="0" anchor="t">
            <a:spAutoFit/>
          </a:bodyPr>
          <a:lstStyle/>
          <a:p>
            <a:pPr algn="l"/>
            <a:r>
              <a:rPr sz="1989" b="1" i="0">
                <a:solidFill>
                  <a:srgbClr val="2F679F"/>
                </a:solidFill>
                <a:latin typeface="Calibri"/>
              </a:rPr>
              <a:t>CONCLUSION</a:t>
            </a:r>
          </a:p>
        </p:txBody>
      </p:sp>
      <p:sp>
        <p:nvSpPr>
          <p:cNvPr id="17" name="TextBox 16"/>
          <p:cNvSpPr txBox="1"/>
          <p:nvPr/>
        </p:nvSpPr>
        <p:spPr>
          <a:xfrm>
            <a:off x="1371600" y="3611880"/>
            <a:ext cx="7040880" cy="5486400"/>
          </a:xfrm>
          <a:prstGeom prst="rect">
            <a:avLst/>
          </a:prstGeom>
          <a:noFill/>
        </p:spPr>
        <p:txBody>
          <a:bodyPr wrap="square" lIns="0" rIns="0" tIns="0" bIns="0">
            <a:spAutoFit/>
          </a:bodyPr>
          <a:lstStyle/>
          <a:p>
            <a:pPr marL="384048" indent="-384048">
              <a:spcAft>
                <a:spcPts val="1400"/>
              </a:spcAft>
              <a:buClr>
                <a:srgbClr val="2F679F"/>
              </a:buClr>
              <a:buFont typeface="Arial"/>
              <a:buChar char="•"/>
            </a:pPr>
            <a:r>
              <a:rPr sz="2690" b="0">
                <a:solidFill>
                  <a:srgbClr val="343434"/>
                </a:solidFill>
                <a:latin typeface="Calibri"/>
              </a:rPr>
              <a:t>24,402 translated rows, all kept and flagged</a:t>
            </a:r>
          </a:p>
          <a:p>
            <a:pPr marL="384048" indent="-384048">
              <a:spcAft>
                <a:spcPts val="1400"/>
              </a:spcAft>
              <a:buClr>
                <a:srgbClr val="2F679F"/>
              </a:buClr>
              <a:buFont typeface="Arial"/>
              <a:buChar char="•"/>
            </a:pPr>
            <a:r>
              <a:rPr sz="2690" b="0">
                <a:solidFill>
                  <a:srgbClr val="343434"/>
                </a:solidFill>
                <a:latin typeface="Calibri"/>
              </a:rPr>
              <a:t>Gap 0.26–0.45 (IndicBERT), 0.11–0.24 (mBERT)</a:t>
            </a:r>
          </a:p>
          <a:p>
            <a:pPr marL="384048" indent="-384048">
              <a:spcAft>
                <a:spcPts val="1400"/>
              </a:spcAft>
              <a:buClr>
                <a:srgbClr val="2F679F"/>
              </a:buClr>
              <a:buFont typeface="Arial"/>
              <a:buChar char="•"/>
            </a:pPr>
            <a:r>
              <a:rPr sz="2690" b="0">
                <a:solidFill>
                  <a:srgbClr val="343434"/>
                </a:solidFill>
                <a:latin typeface="Calibri"/>
              </a:rPr>
              <a:t>Not a translation artefact; Hindi worst source</a:t>
            </a:r>
          </a:p>
          <a:p>
            <a:pPr marL="384048" indent="-384048">
              <a:spcAft>
                <a:spcPts val="1400"/>
              </a:spcAft>
              <a:buClr>
                <a:srgbClr val="2F679F"/>
              </a:buClr>
              <a:buFont typeface="Arial"/>
              <a:buChar char="•"/>
            </a:pPr>
            <a:r>
              <a:rPr sz="2690" b="0">
                <a:solidFill>
                  <a:srgbClr val="343434"/>
                </a:solidFill>
                <a:latin typeface="Calibri"/>
              </a:rPr>
              <a:t>Into Dravidian costs more</a:t>
            </a:r>
          </a:p>
          <a:p>
            <a:pPr marL="384048" indent="-384048">
              <a:spcAft>
                <a:spcPts val="1400"/>
              </a:spcAft>
              <a:buClr>
                <a:srgbClr val="2F679F"/>
              </a:buClr>
              <a:buFont typeface="Arial"/>
              <a:buChar char="•"/>
            </a:pPr>
            <a:r>
              <a:rPr sz="2690" b="0">
                <a:solidFill>
                  <a:srgbClr val="343434"/>
                </a:solidFill>
                <a:latin typeface="Calibri"/>
              </a:rPr>
              <a:t>Gap mechanism remains open</a:t>
            </a:r>
          </a:p>
        </p:txBody>
      </p:sp>
      <p:sp>
        <p:nvSpPr>
          <p:cNvPr id="18" name="Rounded Rectangle 17"/>
          <p:cNvSpPr/>
          <p:nvPr/>
        </p:nvSpPr>
        <p:spPr>
          <a:xfrm>
            <a:off x="9052560" y="2834640"/>
            <a:ext cx="7680960" cy="5120640"/>
          </a:xfrm>
          <a:prstGeom prst="roundRect">
            <a:avLst>
              <a:gd name="adj" fmla="val 4000"/>
            </a:avLst>
          </a:prstGeom>
          <a:solidFill>
            <a:srgbClr val="FFFFFF">
              <a:alpha val="90000"/>
            </a:srgbClr>
          </a:solidFill>
          <a:ln w="15875">
            <a:solidFill>
              <a:srgbClr val="CFD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3063240"/>
            <a:ext cx="6400800" cy="320040"/>
          </a:xfrm>
          <a:prstGeom prst="rect">
            <a:avLst/>
          </a:prstGeom>
          <a:noFill/>
        </p:spPr>
        <p:txBody>
          <a:bodyPr wrap="square" lIns="0" rIns="0" tIns="0" bIns="0" anchor="t">
            <a:spAutoFit/>
          </a:bodyPr>
          <a:lstStyle/>
          <a:p>
            <a:pPr algn="l"/>
            <a:r>
              <a:rPr sz="1989" b="1" i="0">
                <a:solidFill>
                  <a:srgbClr val="E4B795"/>
                </a:solidFill>
                <a:latin typeface="Calibri"/>
              </a:rPr>
              <a:t>FUTURE WORK</a:t>
            </a:r>
          </a:p>
        </p:txBody>
      </p:sp>
      <p:sp>
        <p:nvSpPr>
          <p:cNvPr id="20" name="TextBox 19"/>
          <p:cNvSpPr txBox="1"/>
          <p:nvPr/>
        </p:nvSpPr>
        <p:spPr>
          <a:xfrm>
            <a:off x="9418320" y="3611880"/>
            <a:ext cx="7040880" cy="5486400"/>
          </a:xfrm>
          <a:prstGeom prst="rect">
            <a:avLst/>
          </a:prstGeom>
          <a:noFill/>
        </p:spPr>
        <p:txBody>
          <a:bodyPr wrap="square" lIns="0" rIns="0" tIns="0" bIns="0">
            <a:spAutoFit/>
          </a:bodyPr>
          <a:lstStyle/>
          <a:p>
            <a:pPr marL="384048" indent="-384048">
              <a:spcAft>
                <a:spcPts val="1400"/>
              </a:spcAft>
              <a:buClr>
                <a:srgbClr val="C98F63"/>
              </a:buClr>
              <a:buFont typeface="Arial"/>
              <a:buChar char="•"/>
            </a:pPr>
            <a:r>
              <a:rPr sz="2690" b="0">
                <a:solidFill>
                  <a:srgbClr val="343434"/>
                </a:solidFill>
                <a:latin typeface="Calibri"/>
              </a:rPr>
              <a:t>XLM-R against mBERT, larger GPU</a:t>
            </a:r>
          </a:p>
          <a:p>
            <a:pPr marL="384048" indent="-384048">
              <a:spcAft>
                <a:spcPts val="1400"/>
              </a:spcAft>
              <a:buClr>
                <a:srgbClr val="C98F63"/>
              </a:buClr>
              <a:buFont typeface="Arial"/>
              <a:buChar char="•"/>
            </a:pPr>
            <a:r>
              <a:rPr sz="2690" b="0">
                <a:solidFill>
                  <a:srgbClr val="343434"/>
                </a:solidFill>
                <a:latin typeface="Calibri"/>
              </a:rPr>
              <a:t>Native-speaker review; native Malayalam set</a:t>
            </a:r>
          </a:p>
          <a:p>
            <a:pPr marL="384048" indent="-384048">
              <a:spcAft>
                <a:spcPts val="1400"/>
              </a:spcAft>
              <a:buClr>
                <a:srgbClr val="C98F63"/>
              </a:buClr>
              <a:buFont typeface="Arial"/>
              <a:buChar char="•"/>
            </a:pPr>
            <a:r>
              <a:rPr sz="2690" b="0">
                <a:solidFill>
                  <a:srgbClr val="343434"/>
                </a:solidFill>
                <a:latin typeface="Calibri"/>
              </a:rPr>
              <a:t>Redesign morphology and terminology modules</a:t>
            </a:r>
          </a:p>
          <a:p>
            <a:pPr marL="384048" indent="-384048">
              <a:spcAft>
                <a:spcPts val="1400"/>
              </a:spcAft>
              <a:buClr>
                <a:srgbClr val="C98F63"/>
              </a:buClr>
              <a:buFont typeface="Arial"/>
              <a:buChar char="•"/>
            </a:pPr>
            <a:r>
              <a:rPr sz="2690" b="0">
                <a:solidFill>
                  <a:srgbClr val="343434"/>
                </a:solidFill>
                <a:latin typeface="Calibri"/>
              </a:rPr>
              <a:t>Few-shot and translate-train recovery</a:t>
            </a:r>
          </a:p>
          <a:p>
            <a:pPr marL="384048" indent="-384048">
              <a:spcAft>
                <a:spcPts val="1400"/>
              </a:spcAft>
              <a:buClr>
                <a:srgbClr val="C98F63"/>
              </a:buClr>
              <a:buFont typeface="Arial"/>
              <a:buChar char="•"/>
            </a:pPr>
            <a:r>
              <a:rPr sz="2690" b="0">
                <a:solidFill>
                  <a:srgbClr val="343434"/>
                </a:solidFill>
                <a:latin typeface="Calibri"/>
              </a:rPr>
              <a:t>More Indian languages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References (1 of 2)</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20 / 22</a:t>
            </a:r>
          </a:p>
        </p:txBody>
      </p:sp>
      <p:sp>
        <p:nvSpPr>
          <p:cNvPr id="15" name="TextBox 14"/>
          <p:cNvSpPr txBox="1"/>
          <p:nvPr/>
        </p:nvSpPr>
        <p:spPr>
          <a:xfrm>
            <a:off x="1005840" y="2788920"/>
            <a:ext cx="7680960" cy="6583680"/>
          </a:xfrm>
          <a:prstGeom prst="rect">
            <a:avLst/>
          </a:prstGeom>
          <a:noFill/>
        </p:spPr>
        <p:txBody>
          <a:bodyPr wrap="square" lIns="0" rIns="0" tIns="0" bIns="0" anchor="t">
            <a:spAutoFit/>
          </a:bodyPr>
          <a:lstStyle/>
          <a:p>
            <a:pPr algn="l">
              <a:spcAft>
                <a:spcPts val="600"/>
              </a:spcAft>
            </a:pPr>
            <a:r>
              <a:rPr sz="1404" b="0" i="0">
                <a:solidFill>
                  <a:srgbClr val="343434"/>
                </a:solidFill>
                <a:latin typeface="Calibri"/>
              </a:rPr>
              <a:t>[1] Aggarwal, D., Gupta, V., &amp; Kunchukuttan, A. (2022). IndicXNLI: Evaluating multilingual inference for Indian languages. In Proceedings of the 2022 Conference on Empirical Methods in Natural Language Processing (pp. 10994–11006). https://doi.org/10.18653/v1/2022.emnlp-main.755</a:t>
            </a:r>
          </a:p>
          <a:p>
            <a:pPr algn="l">
              <a:spcAft>
                <a:spcPts val="600"/>
              </a:spcAft>
            </a:pPr>
            <a:r>
              <a:rPr sz="1404" b="0" i="0">
                <a:solidFill>
                  <a:srgbClr val="343434"/>
                </a:solidFill>
                <a:latin typeface="Calibri"/>
              </a:rPr>
              <a:t>[2] Agrawal, A., Fazili, B., &amp; Jyothi, P. (2024). Translation errors significantly impact low-resource languages in cross-lingual learning. In Proceedings of the 18th Conference of the European Chapter of the Association for Computational Linguistics (Volume 2: Short Papers) (pp. 319–329). https://doi.org/10.18653/v1/2024.eacl-short.28</a:t>
            </a:r>
          </a:p>
          <a:p>
            <a:pPr algn="l">
              <a:spcAft>
                <a:spcPts val="600"/>
              </a:spcAft>
            </a:pPr>
            <a:r>
              <a:rPr sz="1404" b="0" i="0">
                <a:solidFill>
                  <a:srgbClr val="343434"/>
                </a:solidFill>
                <a:latin typeface="Calibri"/>
              </a:rPr>
              <a:t>[3] Artetxe, M., Goswami, V., Bhosale, S., Fan, A., &amp; Zettlemoyer, L. (2023). Revisiting machine translation for cross-lingual classification. In Proceedings of the 2023 Conference on Empirical Methods in Natural Language Processing (pp. 6489–6499). https://doi.org/10.18653/v1/2023.emnlp-main.399</a:t>
            </a:r>
          </a:p>
          <a:p>
            <a:pPr algn="l">
              <a:spcAft>
                <a:spcPts val="600"/>
              </a:spcAft>
            </a:pPr>
            <a:r>
              <a:rPr sz="1404" b="0" i="0">
                <a:solidFill>
                  <a:srgbClr val="343434"/>
                </a:solidFill>
                <a:latin typeface="Calibri"/>
              </a:rPr>
              <a:t>[4] Artetxe, M., Ruder, S., &amp; Yogatama, D. (2020). On the cross-lingual transferability of monolingual representations. In Proceedings of the 58th Annual Meeting of the Association for Computational Linguistics (pp. 4623–4637). Association for Computational Linguistics. https://doi.org/10.18653/v1/2020.acl-main.421</a:t>
            </a:r>
          </a:p>
          <a:p>
            <a:pPr algn="l">
              <a:spcAft>
                <a:spcPts val="600"/>
              </a:spcAft>
            </a:pPr>
            <a:r>
              <a:rPr sz="1404" b="0" i="0">
                <a:solidFill>
                  <a:srgbClr val="343434"/>
                </a:solidFill>
                <a:latin typeface="Calibri"/>
              </a:rPr>
              <a:t>[5] Chen, C.-C., Huang, H.-H., Takamura, H., &amp; Chen, H.-H. (2019). Numeracy-600K: Learning numeracy for detecting exaggerated information in market comments. In Proceedings of the 57th Annual Meeting of the Association for Computational Linguistics (pp. 6307–6313). https://doi.org/10.18653/v1/P19-1635</a:t>
            </a:r>
          </a:p>
          <a:p>
            <a:pPr algn="l">
              <a:spcAft>
                <a:spcPts val="600"/>
              </a:spcAft>
            </a:pPr>
            <a:r>
              <a:rPr sz="1404" b="0" i="0">
                <a:solidFill>
                  <a:srgbClr val="343434"/>
                </a:solidFill>
                <a:latin typeface="Calibri"/>
              </a:rPr>
              <a:t>[6] Chen, C.-C., Tseng, Y.-M., Kang, J., Lhuissier, A., Seki, Y., Day, M.-Y., Tu, T.-T., &amp; Chen, H.-H. (2023). Multi-lingual ESG impact type identification. In Proceedings of the Sixth Workshop on Financial Technology and Natural Language Processing (pp. 46–50). https://doi.org/10.18653/v1/2023.finnlp-2.6</a:t>
            </a:r>
          </a:p>
          <a:p>
            <a:pPr algn="l">
              <a:spcAft>
                <a:spcPts val="600"/>
              </a:spcAft>
            </a:pPr>
            <a:r>
              <a:rPr sz="1404" b="0" i="0">
                <a:solidFill>
                  <a:srgbClr val="343434"/>
                </a:solidFill>
                <a:latin typeface="Calibri"/>
              </a:rPr>
              <a:t>[7] Conneau, A., Khandelwal, K., Goyal, N., Chaudhary, V., Wenzek, G., Guzmán, F., Grave, E., Ott, M., Zettlemoyer, L., &amp; Stoyanov, V. (2020). Unsupervised cross-lingual representation learning at scale. In Proceedings of the 58th Annual Meeting of the Association for Computational Linguistics (pp. 8440–8451). https://doi.org/10.18653/v1/2020.acl-main.747</a:t>
            </a:r>
          </a:p>
          <a:p>
            <a:pPr algn="l">
              <a:spcAft>
                <a:spcPts val="600"/>
              </a:spcAft>
            </a:pPr>
            <a:r>
              <a:rPr sz="1404" b="0" i="0">
                <a:solidFill>
                  <a:srgbClr val="343434"/>
                </a:solidFill>
                <a:latin typeface="Calibri"/>
              </a:rPr>
              <a:t>[8] Conneau, A., Rinott, R., Lample, G., Williams, A., Bowman, S. R., Schwenk, H., &amp; Stoyanov, V. (2018). XNLI: Evaluating cross-lingual sentence representations. In Proceedings of the 2018 Conference on Empirical Methods in Natural Language Processing (pp. 2475–2485). Association for Computational Linguistics. https://doi.org/10.18653/v1/D18-1269</a:t>
            </a:r>
          </a:p>
        </p:txBody>
      </p:sp>
      <p:sp>
        <p:nvSpPr>
          <p:cNvPr id="16" name="TextBox 15"/>
          <p:cNvSpPr txBox="1"/>
          <p:nvPr/>
        </p:nvSpPr>
        <p:spPr>
          <a:xfrm>
            <a:off x="9052560" y="2788920"/>
            <a:ext cx="7680960" cy="6583680"/>
          </a:xfrm>
          <a:prstGeom prst="rect">
            <a:avLst/>
          </a:prstGeom>
          <a:noFill/>
        </p:spPr>
        <p:txBody>
          <a:bodyPr wrap="square" lIns="0" rIns="0" tIns="0" bIns="0" anchor="t">
            <a:spAutoFit/>
          </a:bodyPr>
          <a:lstStyle/>
          <a:p>
            <a:pPr algn="l">
              <a:spcAft>
                <a:spcPts val="600"/>
              </a:spcAft>
            </a:pPr>
            <a:r>
              <a:rPr sz="1404" b="0" i="0">
                <a:solidFill>
                  <a:srgbClr val="343434"/>
                </a:solidFill>
                <a:latin typeface="Calibri"/>
              </a:rPr>
              <a:t>[9] Doddapaneni, S., Aralikatte, R., Ramesh, G., Goyal, S., Khapra, M. M., Kunchukuttan, A., &amp; Kumar, P. (2023). Towards leaving no Indic language behind: Building monolingual corpora, benchmark and models for Indic languages. In Proceedings of the 61st Annual Meeting of the Association for Computational Linguistics (Volume 1: Long Papers) (pp. 12402–12426). https://doi.org/10.18653/v1/2023.acl-long.693</a:t>
            </a:r>
          </a:p>
          <a:p>
            <a:pPr algn="l">
              <a:spcAft>
                <a:spcPts val="600"/>
              </a:spcAft>
            </a:pPr>
            <a:r>
              <a:rPr sz="1404" b="0" i="0">
                <a:solidFill>
                  <a:srgbClr val="343434"/>
                </a:solidFill>
                <a:latin typeface="Calibri"/>
              </a:rPr>
              <a:t>[10] Feng, F., Yang, Y., Cer, D., Arivazhagan, N., &amp; Wang, W. (2022). Language-agnostic BERT sentence embedding. In Proceedings of the 60th Annual Meeting of the Association for Computational Linguistics (Volume 1: Long Papers) (pp. 878–891). https://doi.org/10.18653/v1/2022.acl-long.62</a:t>
            </a:r>
          </a:p>
          <a:p>
            <a:pPr algn="l">
              <a:spcAft>
                <a:spcPts val="600"/>
              </a:spcAft>
            </a:pPr>
            <a:r>
              <a:rPr sz="1404" b="0" i="0">
                <a:solidFill>
                  <a:srgbClr val="343434"/>
                </a:solidFill>
                <a:latin typeface="Calibri"/>
              </a:rPr>
              <a:t>[11] Gala, J., Chitale, P. A., AK, R., Gumma, V., Doddapaneni, S., Kumar, A., Nawale, J., Sujatha, A., Puduppully, R., Raghavan, V., Kumar, P., Khapra, M. M., Dabre, R., &amp; Kunchukuttan, A. (2023). IndicTrans2: Towards high-quality and accessible machine translation models for all 22 scheduled Indian languages. Transactions on Machine Learning Research. https://arxiv.org/abs/2305.16307</a:t>
            </a:r>
          </a:p>
          <a:p>
            <a:pPr algn="l">
              <a:spcAft>
                <a:spcPts val="600"/>
              </a:spcAft>
            </a:pPr>
            <a:r>
              <a:rPr sz="1404" b="0" i="0">
                <a:solidFill>
                  <a:srgbClr val="343434"/>
                </a:solidFill>
                <a:latin typeface="Calibri"/>
              </a:rPr>
              <a:t>[12] Ghosh, S., Maji, A., Narayana, A., &amp; Naskar, S. K. (2024). IndicFinNLP: Financial natural language processing for Indian languages. In Proceedings of the 2024 Joint International Conference on Computational Linguistics, Language Resources and Evaluation (LREC-COLING 2024) (pp. 9010–9018). ELRA and ICCL. https://aclanthology.org/2024.lrec-main.789/</a:t>
            </a:r>
          </a:p>
          <a:p>
            <a:pPr algn="l">
              <a:spcAft>
                <a:spcPts val="600"/>
              </a:spcAft>
            </a:pPr>
            <a:r>
              <a:rPr sz="1404" b="0" i="0">
                <a:solidFill>
                  <a:srgbClr val="343434"/>
                </a:solidFill>
                <a:latin typeface="Calibri"/>
              </a:rPr>
              <a:t>[13] Hu, J., Ruder, S., Siddhant, A., Neubig, G., Firat, O., &amp; Johnson, M. (2020). XTREME: A massively multilingual multi-task benchmark for evaluating cross-lingual generalisation. In Proceedings of the 37th International Conference on Machine Learning (PMLR Vol. 119, pp. 4411–4421). https://proceedings.mlr.press/v119/hu20b.html</a:t>
            </a:r>
          </a:p>
          <a:p>
            <a:pPr algn="l">
              <a:spcAft>
                <a:spcPts val="600"/>
              </a:spcAft>
            </a:pPr>
            <a:r>
              <a:rPr sz="1404" b="0" i="0">
                <a:solidFill>
                  <a:srgbClr val="343434"/>
                </a:solidFill>
                <a:latin typeface="Calibri"/>
              </a:rPr>
              <a:t>[14] Huang, A. H., Wang, H., &amp; Yang, Y. (2023). FinBERT: A large language model for extracting information from financial text. Contemporary Accounting Research, 40(2), 806–841. https://doi.org/10.1111/1911-3846.12832</a:t>
            </a:r>
          </a:p>
          <a:p>
            <a:pPr algn="l">
              <a:spcAft>
                <a:spcPts val="600"/>
              </a:spcAft>
            </a:pPr>
            <a:r>
              <a:rPr sz="1404" b="0" i="0">
                <a:solidFill>
                  <a:srgbClr val="343434"/>
                </a:solidFill>
                <a:latin typeface="Calibri"/>
              </a:rPr>
              <a:t>[15] Jørgensen, R., Brandt, O., Hartmann, M., Dai, X., Igel, C., &amp; Elliott, D. (2023). MultiFin: A dataset for multilingual financial NLP. In Findings of the Association for Computational Linguistics: EACL 2023 (pp. 894–909). https://doi.org/10.18653/v1/2023.findings-eacl.66</a:t>
            </a:r>
          </a:p>
          <a:p>
            <a:pPr algn="l">
              <a:spcAft>
                <a:spcPts val="600"/>
              </a:spcAft>
            </a:pPr>
            <a:r>
              <a:rPr sz="1404" b="0" i="0">
                <a:solidFill>
                  <a:srgbClr val="343434"/>
                </a:solidFill>
                <a:latin typeface="Calibri"/>
              </a:rPr>
              <a:t>[16] Joshi, P., Santy, S., Budhiraja, A., Bali, K., &amp; Choudhury, M. (2020). The state and fate of linguistic diversity and inclusion in the NLP world. In Proceedings of the 58th Annual Meeting of the Association for Computational Linguistics (pp. 6282–6293). Association for Computational Linguistics. https://doi.org/10.18653/v1/2020.acl-main.560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Calibri"/>
                <a:ea typeface="Telegraf Extra-Light"/>
                <a:cs typeface="Telegraf Extra-Light"/>
                <a:sym typeface="Telegraf Extra-Light"/>
              </a:rPr>
              <a:t>BCSE497J · Project I</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Calibri"/>
                <a:ea typeface="Telegraf Extra-Light"/>
                <a:cs typeface="Telegraf Extra-Light"/>
                <a:sym typeface="Telegraf Extra-Light"/>
              </a:rPr>
              <a:t>Oct 2026</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Calibri"/>
                <a:ea typeface="Telegraf Extra-Light"/>
                <a:cs typeface="Telegraf Extra-Light"/>
                <a:sym typeface="Telegraf Extra-Light"/>
              </a:rPr>
              <a:t>Guide Review</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id="13" name="Title"/>
          <p:cNvSpPr txBox="1"/>
          <p:nvPr/>
        </p:nvSpPr>
        <p:spPr>
          <a:xfrm>
            <a:off x="1005840" y="1371600"/>
            <a:ext cx="15727680" cy="1097280"/>
          </a:xfrm>
          <a:prstGeom prst="rect">
            <a:avLst/>
          </a:prstGeom>
          <a:noFill/>
        </p:spPr>
        <p:txBody>
          <a:bodyPr wrap="square" lIns="0" rIns="0" tIns="0" bIns="0" anchor="ctr">
            <a:spAutoFit/>
          </a:bodyPr>
          <a:lstStyle/>
          <a:p>
            <a:pPr algn="l"/>
            <a:r>
              <a:rPr sz="4400" b="1" i="0">
                <a:solidFill>
                  <a:srgbClr val="343434"/>
                </a:solidFill>
                <a:latin typeface="Calibri"/>
              </a:rPr>
              <a:t>References (2 of 2)</a:t>
            </a:r>
          </a:p>
        </p:txBody>
      </p:sp>
      <p:sp>
        <p:nvSpPr>
          <p:cNvPr id="14" name="Page"/>
          <p:cNvSpPr txBox="1"/>
          <p:nvPr/>
        </p:nvSpPr>
        <p:spPr>
          <a:xfrm>
            <a:off x="1005840" y="9646920"/>
            <a:ext cx="3657600" cy="365760"/>
          </a:xfrm>
          <a:prstGeom prst="rect">
            <a:avLst/>
          </a:prstGeom>
          <a:noFill/>
        </p:spPr>
        <p:txBody>
          <a:bodyPr wrap="square" lIns="0" rIns="0" tIns="0" bIns="0" anchor="t">
            <a:spAutoFit/>
          </a:bodyPr>
          <a:lstStyle/>
          <a:p>
            <a:pPr algn="l"/>
            <a:r>
              <a:rPr sz="2106" b="0" i="0">
                <a:solidFill>
                  <a:srgbClr val="164B82"/>
                </a:solidFill>
                <a:latin typeface="Calibri"/>
              </a:rPr>
              <a:t>21 / 22</a:t>
            </a:r>
          </a:p>
        </p:txBody>
      </p:sp>
      <p:sp>
        <p:nvSpPr>
          <p:cNvPr id="15" name="TextBox 14"/>
          <p:cNvSpPr txBox="1"/>
          <p:nvPr/>
        </p:nvSpPr>
        <p:spPr>
          <a:xfrm>
            <a:off x="1005840" y="2788920"/>
            <a:ext cx="7680960" cy="6583680"/>
          </a:xfrm>
          <a:prstGeom prst="rect">
            <a:avLst/>
          </a:prstGeom>
          <a:noFill/>
        </p:spPr>
        <p:txBody>
          <a:bodyPr wrap="square" lIns="0" rIns="0" tIns="0" bIns="0" anchor="t">
            <a:spAutoFit/>
          </a:bodyPr>
          <a:lstStyle/>
          <a:p>
            <a:pPr algn="l">
              <a:spcAft>
                <a:spcPts val="600"/>
              </a:spcAft>
            </a:pPr>
            <a:r>
              <a:rPr sz="1404" b="0" i="0">
                <a:solidFill>
                  <a:srgbClr val="343434"/>
                </a:solidFill>
                <a:latin typeface="Calibri"/>
              </a:rPr>
              <a:t>[17] Kakwani, D., Kunchukuttan, A., Golla, S., N.C., G., Bhattacharyya, A., Khapra, M. M., &amp; Kumar, P. (2020). IndicNLPSuite: Monolingual corpora, evaluation benchmarks and pre-trained multilingual language models for Indian languages. In Findings of the Association for Computational Linguistics: EMNLP 2020 (pp. 4948–4961). https://doi.org/10.18653/v1/2020.findings-emnlp.445</a:t>
            </a:r>
          </a:p>
          <a:p>
            <a:pPr algn="l">
              <a:spcAft>
                <a:spcPts val="600"/>
              </a:spcAft>
            </a:pPr>
            <a:r>
              <a:rPr sz="1404" b="0" i="0">
                <a:solidFill>
                  <a:srgbClr val="343434"/>
                </a:solidFill>
                <a:latin typeface="Calibri"/>
              </a:rPr>
              <a:t>[18] Kunchukuttan, A. (2020). The IndicNLP library [Computer software documentation]. https://github.com/anoopkunchukuttan/indic_nlp_library/blob/master/docs/indicnlp.pdf</a:t>
            </a:r>
          </a:p>
          <a:p>
            <a:pPr algn="l">
              <a:spcAft>
                <a:spcPts val="600"/>
              </a:spcAft>
            </a:pPr>
            <a:r>
              <a:rPr sz="1404" b="0" i="0">
                <a:solidFill>
                  <a:srgbClr val="343434"/>
                </a:solidFill>
                <a:latin typeface="Calibri"/>
              </a:rPr>
              <a:t>[19] Lauscher, A., Ravishankar, V., Vulić, I., &amp; Glavaš, G. (2020). From zero to hero: On the limitations of zero-shot language transfer with multilingual transformers. In Proceedings of the 2020 Conference on Empirical Methods in Natural Language Processing (pp. 4483–4499). https://doi.org/10.18653/v1/2020.emnlp-main.363</a:t>
            </a:r>
          </a:p>
          <a:p>
            <a:pPr algn="l">
              <a:spcAft>
                <a:spcPts val="600"/>
              </a:spcAft>
            </a:pPr>
            <a:r>
              <a:rPr sz="1404" b="0" i="0">
                <a:solidFill>
                  <a:srgbClr val="343434"/>
                </a:solidFill>
                <a:latin typeface="Calibri"/>
              </a:rPr>
              <a:t>[20] Lee, J., Stevens, N., &amp; Han, S. C. (2025). Large language models in finance (FinLLMs). Neural Computing and Applications, 37(30), 24853–24867. https://doi.org/10.1007/s00521-024-10495-6</a:t>
            </a:r>
          </a:p>
          <a:p>
            <a:pPr algn="l">
              <a:spcAft>
                <a:spcPts val="600"/>
              </a:spcAft>
            </a:pPr>
            <a:r>
              <a:rPr sz="1404" b="0" i="0">
                <a:solidFill>
                  <a:srgbClr val="343434"/>
                </a:solidFill>
                <a:latin typeface="Calibri"/>
              </a:rPr>
              <a:t>[21] Libovický, J., Rosa, R., &amp; Fraser, A. (2020). On the language neutrality of pre-trained multilingual representations. In Findings of the Association for Computational Linguistics: EMNLP 2020 (pp. 1663–1674). Association for Computational Linguistics. https://doi.org/10.18653/v1/2020.findings-emnlp.150</a:t>
            </a:r>
          </a:p>
          <a:p>
            <a:pPr algn="l">
              <a:spcAft>
                <a:spcPts val="600"/>
              </a:spcAft>
            </a:pPr>
            <a:r>
              <a:rPr sz="1404" b="0" i="0">
                <a:solidFill>
                  <a:srgbClr val="343434"/>
                </a:solidFill>
                <a:latin typeface="Calibri"/>
              </a:rPr>
              <a:t>[22] Lin, Y.-H., Chen, C.-Y., Lee, J., Li, Z., Zhang, Y., Xia, M., Rijhwani, S., He, J., Zhang, Z., Ma, X., Anastasopoulos, A., Littell, P., &amp; Neubig, G. (2019). Choosing transfer languages for cross-lingual learning. In Proceedings of the 57th Annual Meeting of the Association for Computational Linguistics (pp. 3125–3135). https://doi.org/10.18653/v1/P19-1301</a:t>
            </a:r>
          </a:p>
          <a:p>
            <a:pPr algn="l">
              <a:spcAft>
                <a:spcPts val="600"/>
              </a:spcAft>
            </a:pPr>
            <a:r>
              <a:rPr sz="1404" b="0" i="0">
                <a:solidFill>
                  <a:srgbClr val="343434"/>
                </a:solidFill>
                <a:latin typeface="Calibri"/>
              </a:rPr>
              <a:t>[23] Mabokela, K. R., Celik, T., &amp; Raborife, M. (2023). Multilingual sentiment analysis for under-resourced languages: A systematic review of the landscape. IEEE Access, 11, 15996–16020. https://doi.org/10.1109/ACCESS.2022.3224136</a:t>
            </a:r>
          </a:p>
          <a:p>
            <a:pPr algn="l">
              <a:spcAft>
                <a:spcPts val="600"/>
              </a:spcAft>
            </a:pPr>
            <a:r>
              <a:rPr sz="1404" b="0" i="0">
                <a:solidFill>
                  <a:srgbClr val="343434"/>
                </a:solidFill>
                <a:latin typeface="Calibri"/>
              </a:rPr>
              <a:t>[24] Nag, A., Samanta, B., Mukherjee, A., Ganguly, N., &amp; Chakrabarti, S. (2023). Transfer learning for low-resource multilingual relation classification. ACM Transactions on Asian and Low-Resource Language Information Processing, 22(2), 1–24. https://doi.org/10.1145/3554734</a:t>
            </a:r>
          </a:p>
        </p:txBody>
      </p:sp>
      <p:sp>
        <p:nvSpPr>
          <p:cNvPr id="16" name="TextBox 15"/>
          <p:cNvSpPr txBox="1"/>
          <p:nvPr/>
        </p:nvSpPr>
        <p:spPr>
          <a:xfrm>
            <a:off x="9052560" y="2788920"/>
            <a:ext cx="7680960" cy="6583680"/>
          </a:xfrm>
          <a:prstGeom prst="rect">
            <a:avLst/>
          </a:prstGeom>
          <a:noFill/>
        </p:spPr>
        <p:txBody>
          <a:bodyPr wrap="square" lIns="0" rIns="0" tIns="0" bIns="0" anchor="t">
            <a:spAutoFit/>
          </a:bodyPr>
          <a:lstStyle/>
          <a:p>
            <a:pPr algn="l">
              <a:spcAft>
                <a:spcPts val="600"/>
              </a:spcAft>
            </a:pPr>
            <a:r>
              <a:rPr sz="1404" b="0" i="0">
                <a:solidFill>
                  <a:srgbClr val="343434"/>
                </a:solidFill>
                <a:latin typeface="Calibri"/>
              </a:rPr>
              <a:t>[25] Pfeiffer, J., Vulić, I., Gurevych, I., &amp; Ruder, S. (2020). MAD-X: An adapter-based framework for multi-task cross-lingual transfer. In Proceedings of the 2020 Conference on Empirical Methods in Natural Language Processing (pp. 7654–7673). https://doi.org/10.18653/v1/2020.emnlp-main.617</a:t>
            </a:r>
          </a:p>
          <a:p>
            <a:pPr algn="l">
              <a:spcAft>
                <a:spcPts val="600"/>
              </a:spcAft>
            </a:pPr>
            <a:r>
              <a:rPr sz="1404" b="0" i="0">
                <a:solidFill>
                  <a:srgbClr val="343434"/>
                </a:solidFill>
                <a:latin typeface="Calibri"/>
              </a:rPr>
              <a:t>[26] Pires, T., Schlinger, E., &amp; Garrette, D. (2019). How multilingual is multilingual BERT? In Proceedings of the 57th Annual Meeting of the Association for Computational Linguistics (pp. 4996–5001). https://doi.org/10.18653/v1/P19-1493</a:t>
            </a:r>
          </a:p>
          <a:p>
            <a:pPr algn="l">
              <a:spcAft>
                <a:spcPts val="600"/>
              </a:spcAft>
            </a:pPr>
            <a:r>
              <a:rPr sz="1404" b="0" i="0">
                <a:solidFill>
                  <a:srgbClr val="343434"/>
                </a:solidFill>
                <a:latin typeface="Calibri"/>
              </a:rPr>
              <a:t>[27] Raj, M., &amp; Kumar, R. (2026). How much data in low-resource Indian languages is "sufficient" for transfer learning: A comparative study for POS annotation. ACM Transactions on Asian and Low-Resource Language Information Processing, 25(1), 1–26. https://doi.org/10.1145/3783981</a:t>
            </a:r>
          </a:p>
          <a:p>
            <a:pPr algn="l">
              <a:spcAft>
                <a:spcPts val="600"/>
              </a:spcAft>
            </a:pPr>
            <a:r>
              <a:rPr sz="1404" b="0" i="0">
                <a:solidFill>
                  <a:srgbClr val="343434"/>
                </a:solidFill>
                <a:latin typeface="Calibri"/>
              </a:rPr>
              <a:t>[28] Ruder, S., Constant, N., Botha, J., Siddhant, A., Firat, O., Fu, J., Liu, P., Hu, J., Garrette, D., Neubig, G., &amp; Johnson, M. (2021). XTREME-R: Towards more challenging and nuanced multilingual evaluation. In Proceedings of the 2021 Conference on Empirical Methods in Natural Language Processing (pp. 10215–10245). Association for Computational Linguistics. https://doi.org/10.18653/v1/2021.emnlp-main.802</a:t>
            </a:r>
          </a:p>
          <a:p>
            <a:pPr algn="l">
              <a:spcAft>
                <a:spcPts val="600"/>
              </a:spcAft>
            </a:pPr>
            <a:r>
              <a:rPr sz="1404" b="0" i="0">
                <a:solidFill>
                  <a:srgbClr val="343434"/>
                </a:solidFill>
                <a:latin typeface="Calibri"/>
              </a:rPr>
              <a:t>[29] Rust, P., Pfeiffer, J., Vulić, I., Ruder, S., &amp; Gurevych, I. (2021). How good is your tokenizer? On the monolingual performance of multilingual language models. In Proceedings of the 59th Annual Meeting of the Association for Computational Linguistics and the 11th International Joint Conference on Natural Language Processing (Volume 1: Long Papers) (pp. 3118–3135). Association for Computational Linguistics. https://doi.org/10.18653/v1/2021.acl-long.243</a:t>
            </a:r>
          </a:p>
          <a:p>
            <a:pPr algn="l">
              <a:spcAft>
                <a:spcPts val="600"/>
              </a:spcAft>
            </a:pPr>
            <a:r>
              <a:rPr sz="1404" b="0" i="0">
                <a:solidFill>
                  <a:srgbClr val="343434"/>
                </a:solidFill>
                <a:latin typeface="Calibri"/>
              </a:rPr>
              <a:t>[30] Shah, R., Chawla, K., Eidnani, D., Shah, A., Du, W., Chava, S., Raman, N., Smiley, C., Chen, J., &amp; Yang, D. (2022). When FLUE meets FLANG: Benchmarks and large pretrained language model for financial domain. In Proceedings of the 2022 Conference on Empirical Methods in Natural Language Processing (pp. 2322–2335). Association for Computational Linguistics. https://doi.org/10.18653/v1/2022.emnlp-main.148</a:t>
            </a:r>
          </a:p>
          <a:p>
            <a:pPr algn="l">
              <a:spcAft>
                <a:spcPts val="600"/>
              </a:spcAft>
            </a:pPr>
            <a:r>
              <a:rPr sz="1404" b="0" i="0">
                <a:solidFill>
                  <a:srgbClr val="343434"/>
                </a:solidFill>
                <a:latin typeface="Calibri"/>
              </a:rPr>
              <a:t>[31] Sundararajan, M., Taly, A., &amp; Yan, Q. (2017). Axiomatic attribution for deep networks. In Proceedings of the 34th International Conference on Machine Learning (PMLR Vol. 70, pp. 3319–3328). https://proceedings.mlr.press/v70/sundararajan17a.html</a:t>
            </a:r>
          </a:p>
          <a:p>
            <a:pPr algn="l">
              <a:spcAft>
                <a:spcPts val="600"/>
              </a:spcAft>
            </a:pPr>
            <a:r>
              <a:rPr sz="1404" b="0" i="0">
                <a:solidFill>
                  <a:srgbClr val="343434"/>
                </a:solidFill>
                <a:latin typeface="Calibri"/>
              </a:rPr>
              <a:t>[32] Wu, S., &amp; Dredze, M. (2019). Beto, Bentz, Becas: The surprising cross-lingual effectiveness of BERT. In Proceedings of the 2019 Conference on Empirical Methods in Natural Language Processing and the 9th International Joint Conference on Natural Language Processing (EMNLP-IJCNLP) (pp. 833–844). Association for Computational Linguistics. https://doi.org/10.18653/v1/D19-1077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DAHX6hu8cjo</dc:identifier>
  <dcterms:modified xsi:type="dcterms:W3CDTF">2011-08-01T06:04:30Z</dcterms:modified>
  <cp:revision>1</cp:revision>
  <dc:title>Blue and White Gradient Modern Project Presentation</dc:title>
</cp:coreProperties>
</file>