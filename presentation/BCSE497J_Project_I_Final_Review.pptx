
<file path=[Content_Types].xml><?xml version="1.0" encoding="utf-8"?>
<Types xmlns="http://schemas.openxmlformats.org/package/2006/content-types">
  <Default Extension="fntdata" ContentType="application/x-fontdata"/>
  <Default Extension="jpeg" ContentType="image/jpeg"/>
  <Default Extension="png" ContentType="image/png"/>
  <Default Extension="rels" ContentType="application/vnd.openxmlformats-package.relationships+xml"/>
  <Default Extension="xlsx" ContentType="application/vnd.openxmlformats-officedocument.spreadsheetml.sheet"/>
  <Default Extension="xml" ContentType="application/xml"/>
  <Override PartName="/docProps/app.xml" ContentType="application/vnd.openxmlformats-officedocument.extended-properties+xml"/>
  <Override PartName="/docProps/core.xml" ContentType="application/vnd.openxmlformats-package.core-properties+xml"/>
  <Override PartName="/ppt/charts/chart1.xml" ContentType="application/vnd.openxmlformats-officedocument.drawingml.chart+xml"/>
  <Override PartName="/ppt/charts/chart2.xml" ContentType="application/vnd.openxmlformats-officedocument.drawingml.chart+xml"/>
  <Override PartName="/ppt/charts/chart3.xml" ContentType="application/vnd.openxmlformats-officedocument.drawingml.chart+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embedTrueTypeFonts="true">
  <p:sldMasterIdLst>
    <p:sldMasterId id="2147483648" r:id="rId1"/>
  </p:sldMasterIdLst>
  <p:sldIdLst>
    <p:sldId id="256" r:id="rId6"/>
    <p:sldId id="267" r:id="rId21"/>
    <p:sldId id="268" r:id="rId22"/>
    <p:sldId id="269" r:id="rId23"/>
    <p:sldId id="270" r:id="rId24"/>
    <p:sldId id="271" r:id="rId25"/>
    <p:sldId id="272" r:id="rId26"/>
    <p:sldId id="273" r:id="rId27"/>
    <p:sldId id="274" r:id="rId28"/>
    <p:sldId id="275" r:id="rId29"/>
    <p:sldId id="276" r:id="rId30"/>
    <p:sldId id="277" r:id="rId31"/>
    <p:sldId id="278" r:id="rId32"/>
    <p:sldId id="279" r:id="rId33"/>
    <p:sldId id="280" r:id="rId34"/>
    <p:sldId id="281" r:id="rId35"/>
    <p:sldId id="282" r:id="rId36"/>
    <p:sldId id="283" r:id="rId37"/>
    <p:sldId id="266" r:id="rId16"/>
  </p:sldIdLst>
  <p:sldSz cx="18288000" cy="10287000"/>
  <p:notesSz cx="6858000" cy="9144000"/>
  <p:embeddedFontLst>
    <p:embeddedFont>
      <p:font typeface="Telegraf Bold" charset="1" panose="00000800000000000000"/>
      <p:regular r:id="rId17"/>
    </p:embeddedFont>
    <p:embeddedFont>
      <p:font typeface="Telegraf" charset="1" panose="00000500000000000000"/>
      <p:regular r:id="rId18"/>
    </p:embeddedFont>
    <p:embeddedFont>
      <p:font typeface="Telegraf Extra-Light" charset="1" panose="00000300000000000000"/>
      <p:regular r:id="rId19"/>
    </p:embeddedFont>
  </p:embeddedFontLst>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autoAdjust="0"/>
    <p:restoredTop sz="94622" autoAdjust="0"/>
  </p:normalViewPr>
  <p:slideViewPr>
    <p:cSldViewPr>
      <p:cViewPr varScale="1">
        <p:scale>
          <a:sx n="74" d="100"/>
          <a:sy n="74" d="100"/>
        </p:scale>
        <p:origin x="-1092" y="-90"/>
      </p:cViewPr>
      <p:guideLst>
        <p:guide orient="horz" pos="2160"/>
        <p:guide pos="2880"/>
      </p:guideLst>
    </p:cSldViewPr>
  </p:slideViewPr>
  <p:outlineViewPr>
    <p:cViewPr>
      <p:scale>
        <a:sx n="33" d="100"/>
        <a:sy n="33" d="100"/>
      </p:scale>
      <p:origin x="0" y="0"/>
    </p:cViewPr>
  </p:outlin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esProps" Target="presProps.xml"/><Relationship Id="rId3" Type="http://schemas.openxmlformats.org/officeDocument/2006/relationships/viewProps" Target="viewProps.xml"/><Relationship Id="rId4" Type="http://schemas.openxmlformats.org/officeDocument/2006/relationships/theme" Target="theme/theme1.xml"/><Relationship Id="rId5" Type="http://schemas.openxmlformats.org/officeDocument/2006/relationships/tableStyles" Target="tableStyles.xml"/><Relationship Id="rId6" Type="http://schemas.openxmlformats.org/officeDocument/2006/relationships/slide" Target="slides/slide1.xml"/><Relationship Id="rId16" Type="http://schemas.openxmlformats.org/officeDocument/2006/relationships/slide" Target="slides/slide11.xml"/><Relationship Id="rId17" Type="http://schemas.openxmlformats.org/officeDocument/2006/relationships/font" Target="fonts/font17.fntdata"/><Relationship Id="rId18" Type="http://schemas.openxmlformats.org/officeDocument/2006/relationships/font" Target="fonts/font18.fntdata"/><Relationship Id="rId19" Type="http://schemas.openxmlformats.org/officeDocument/2006/relationships/font" Target="fonts/font19.fntdata"/><Relationship Id="rId20" Type="http://schemas.openxmlformats.org/officeDocument/2006/relationships/notesMaster" Target="notesMasters/notesMaster1.xml"/><Relationship Id="rId21" Type="http://schemas.openxmlformats.org/officeDocument/2006/relationships/slide" Target="slides/slide12.xml"/><Relationship Id="rId22" Type="http://schemas.openxmlformats.org/officeDocument/2006/relationships/slide" Target="slides/slide13.xml"/><Relationship Id="rId23" Type="http://schemas.openxmlformats.org/officeDocument/2006/relationships/slide" Target="slides/slide14.xml"/><Relationship Id="rId24" Type="http://schemas.openxmlformats.org/officeDocument/2006/relationships/slide" Target="slides/slide15.xml"/><Relationship Id="rId25" Type="http://schemas.openxmlformats.org/officeDocument/2006/relationships/slide" Target="slides/slide16.xml"/><Relationship Id="rId26" Type="http://schemas.openxmlformats.org/officeDocument/2006/relationships/slide" Target="slides/slide17.xml"/><Relationship Id="rId27" Type="http://schemas.openxmlformats.org/officeDocument/2006/relationships/slide" Target="slides/slide18.xml"/><Relationship Id="rId28" Type="http://schemas.openxmlformats.org/officeDocument/2006/relationships/slide" Target="slides/slide19.xml"/><Relationship Id="rId29" Type="http://schemas.openxmlformats.org/officeDocument/2006/relationships/slide" Target="slides/slide20.xml"/><Relationship Id="rId30" Type="http://schemas.openxmlformats.org/officeDocument/2006/relationships/slide" Target="slides/slide21.xml"/><Relationship Id="rId31" Type="http://schemas.openxmlformats.org/officeDocument/2006/relationships/slide" Target="slides/slide22.xml"/><Relationship Id="rId32" Type="http://schemas.openxmlformats.org/officeDocument/2006/relationships/slide" Target="slides/slide23.xml"/><Relationship Id="rId33" Type="http://schemas.openxmlformats.org/officeDocument/2006/relationships/slide" Target="slides/slide24.xml"/><Relationship Id="rId34" Type="http://schemas.openxmlformats.org/officeDocument/2006/relationships/slide" Target="slides/slide25.xml"/><Relationship Id="rId35" Type="http://schemas.openxmlformats.org/officeDocument/2006/relationships/slide" Target="slides/slide26.xml"/><Relationship Id="rId36" Type="http://schemas.openxmlformats.org/officeDocument/2006/relationships/slide" Target="slides/slide27.xml"/><Relationship Id="rId37" Type="http://schemas.openxmlformats.org/officeDocument/2006/relationships/slide" Target="slides/slide28.xml"/></Relationships>
</file>

<file path=ppt/charts/_rels/chart1.xml.rels><?xml version='1.0' encoding='UTF-8' standalone='yes'?>
<Relationships xmlns="http://schemas.openxmlformats.org/package/2006/relationships"><Relationship Id="rId1" Type="http://schemas.openxmlformats.org/officeDocument/2006/relationships/package" Target="../embeddings/Microsoft_Excel_Sheet1.xlsx"/></Relationships>
</file>

<file path=ppt/charts/_rels/chart2.xml.rels><?xml version='1.0' encoding='UTF-8' standalone='yes'?>
<Relationships xmlns="http://schemas.openxmlformats.org/package/2006/relationships"><Relationship Id="rId1" Type="http://schemas.openxmlformats.org/officeDocument/2006/relationships/package" Target="../embeddings/Microsoft_Excel_Sheet2.xlsx"/></Relationships>
</file>

<file path=ppt/charts/_rels/chart3.xml.rels><?xml version='1.0' encoding='UTF-8' standalone='yes'?>
<Relationships xmlns="http://schemas.openxmlformats.org/package/2006/relationships"><Relationship Id="rId1" Type="http://schemas.openxmlformats.org/officeDocument/2006/relationships/package" Target="../embeddings/Microsoft_Excel_Sheet3.xlsx"/></Relationships>
</file>

<file path=ppt/charts/chart1.xml><?xml version="1.0" encoding="utf-8"?>
<c:chartSpace xmlns:c="http://schemas.openxmlformats.org/drawingml/2006/chart" xmlns:a="http://schemas.openxmlformats.org/drawingml/2006/main" xmlns:r="http://schemas.openxmlformats.org/officeDocument/2006/relationships">
  <c:date1904 val="0"/>
  <c:chart>
    <c:title>
      <c:tx>
        <c:rich>
          <a:bodyPr/>
          <a:lstStyle/>
          <a:p>
            <a:r>
              <a:rPr sz="1800" b="1">
                <a:solidFill>
                  <a:srgbClr val="164B82"/>
                </a:solidFill>
                <a:latin typeface="Calibri"/>
              </a:rPr>
              <a:t>Task 2 transfer gap (source − target macro-F1)</a:t>
            </a:r>
          </a:p>
        </c:rich>
      </c:tx>
      <c:layout/>
      <c:overlay val="0"/>
    </c:title>
    <c:autoTitleDeleted val="0"/>
    <c:plotArea>
      <c:barChart>
        <c:barDir val="col"/>
        <c:grouping val="clustered"/>
        <c:ser>
          <c:idx val="0"/>
          <c:order val="0"/>
          <c:tx>
            <c:strRef>
              <c:f>Sheet1!$B$1</c:f>
              <c:strCache>
                <c:ptCount val="1"/>
                <c:pt idx="0">
                  <c:v>IndicBERT</c:v>
                </c:pt>
              </c:strCache>
            </c:strRef>
          </c:tx>
          <c:spPr>
            <a:solidFill>
              <a:srgbClr val="164B82"/>
            </a:solidFill>
          </c:spPr>
          <c:cat>
            <c:strRef>
              <c:f>Sheet1!$A$2:$A$10</c:f>
              <c:strCache>
                <c:ptCount val="9"/>
                <c:pt idx="0">
                  <c:v>Hi→Bn</c:v>
                </c:pt>
                <c:pt idx="1">
                  <c:v>Hi→Te</c:v>
                </c:pt>
                <c:pt idx="2">
                  <c:v>Hi→Ml</c:v>
                </c:pt>
                <c:pt idx="3">
                  <c:v>Bn→Hi</c:v>
                </c:pt>
                <c:pt idx="4">
                  <c:v>Bn→Te</c:v>
                </c:pt>
                <c:pt idx="5">
                  <c:v>Bn→Ml</c:v>
                </c:pt>
                <c:pt idx="6">
                  <c:v>Te→Hi</c:v>
                </c:pt>
                <c:pt idx="7">
                  <c:v>Te→Bn</c:v>
                </c:pt>
                <c:pt idx="8">
                  <c:v>Te→Ml</c:v>
                </c:pt>
              </c:strCache>
            </c:strRef>
          </c:cat>
          <c:val>
            <c:numRef>
              <c:f>Sheet1!$B$2:$B$10</c:f>
              <c:numCache>
                <c:formatCode>General</c:formatCode>
                <c:ptCount val="9"/>
                <c:pt idx="0">
                  <c:v>0.448</c:v>
                </c:pt>
                <c:pt idx="1">
                  <c:v>0.453</c:v>
                </c:pt>
                <c:pt idx="2">
                  <c:v>0.387</c:v>
                </c:pt>
                <c:pt idx="3">
                  <c:v>0.263</c:v>
                </c:pt>
                <c:pt idx="4">
                  <c:v>0.404</c:v>
                </c:pt>
                <c:pt idx="5">
                  <c:v>0.367</c:v>
                </c:pt>
                <c:pt idx="6">
                  <c:v>0.361</c:v>
                </c:pt>
                <c:pt idx="7">
                  <c:v>0.323</c:v>
                </c:pt>
                <c:pt idx="8">
                  <c:v>0.417</c:v>
                </c:pt>
              </c:numCache>
            </c:numRef>
          </c:val>
        </c:ser>
        <c:ser>
          <c:idx val="1"/>
          <c:order val="1"/>
          <c:tx>
            <c:strRef>
              <c:f>Sheet1!$C$1</c:f>
              <c:strCache>
                <c:ptCount val="1"/>
                <c:pt idx="0">
                  <c:v>mBERT</c:v>
                </c:pt>
              </c:strCache>
            </c:strRef>
          </c:tx>
          <c:spPr>
            <a:solidFill>
              <a:srgbClr val="E4B795"/>
            </a:solidFill>
          </c:spPr>
          <c:cat>
            <c:strRef>
              <c:f>Sheet1!$A$2:$A$10</c:f>
              <c:strCache>
                <c:ptCount val="9"/>
                <c:pt idx="0">
                  <c:v>Hi→Bn</c:v>
                </c:pt>
                <c:pt idx="1">
                  <c:v>Hi→Te</c:v>
                </c:pt>
                <c:pt idx="2">
                  <c:v>Hi→Ml</c:v>
                </c:pt>
                <c:pt idx="3">
                  <c:v>Bn→Hi</c:v>
                </c:pt>
                <c:pt idx="4">
                  <c:v>Bn→Te</c:v>
                </c:pt>
                <c:pt idx="5">
                  <c:v>Bn→Ml</c:v>
                </c:pt>
                <c:pt idx="6">
                  <c:v>Te→Hi</c:v>
                </c:pt>
                <c:pt idx="7">
                  <c:v>Te→Bn</c:v>
                </c:pt>
                <c:pt idx="8">
                  <c:v>Te→Ml</c:v>
                </c:pt>
              </c:strCache>
            </c:strRef>
          </c:cat>
          <c:val>
            <c:numRef>
              <c:f>Sheet1!$C$2:$C$10</c:f>
              <c:numCache>
                <c:formatCode>General</c:formatCode>
                <c:ptCount val="9"/>
                <c:pt idx="0">
                  <c:v>0.142</c:v>
                </c:pt>
                <c:pt idx="1">
                  <c:v>0.236</c:v>
                </c:pt>
                <c:pt idx="2">
                  <c:v>0.209</c:v>
                </c:pt>
                <c:pt idx="3">
                  <c:v>0.105</c:v>
                </c:pt>
                <c:pt idx="4">
                  <c:v>0.176</c:v>
                </c:pt>
                <c:pt idx="5">
                  <c:v>0.179</c:v>
                </c:pt>
                <c:pt idx="6">
                  <c:v>0.159</c:v>
                </c:pt>
                <c:pt idx="7">
                  <c:v>0.196</c:v>
                </c:pt>
                <c:pt idx="8">
                  <c:v>0.167</c:v>
                </c:pt>
              </c:numCache>
            </c:numRef>
          </c:val>
        </c:ser>
        <c:dLbls>
          <c:numFmt formatCode="0.00" sourceLinked="0"/>
          <c:txPr>
            <a:bodyPr/>
            <a:lstStyle/>
            <a:p>
              <a:pPr>
                <a:defRPr sz="1200">
                  <a:solidFill>
                    <a:srgbClr val="343434"/>
                  </a:solidFill>
                  <a:latin typeface="Calibri"/>
                </a:defRPr>
              </a:pPr>
            </a:p>
          </c:txPr>
          <c:dLblPos val="outEnd"/>
          <c:showLegendKey val="0"/>
          <c:showVal val="1"/>
          <c:showCatName val="0"/>
          <c:showSerName val="0"/>
          <c:showPercent val="0"/>
          <c:showBubbleSize val="0"/>
          <c:showLeaderLines val="1"/>
        </c:dLbls>
        <c:gapWidth val="45"/>
        <c:overlap val="-5"/>
        <c:axId val="-2068027336"/>
        <c:axId val="-2113994440"/>
      </c:barChart>
      <c:catAx>
        <c:axId val="-2068027336"/>
        <c:scaling>
          <c:orientation val="minMax"/>
        </c:scaling>
        <c:delete val="0"/>
        <c:axPos val="b"/>
        <c:majorTickMark val="out"/>
        <c:minorTickMark val="none"/>
        <c:tickLblPos val="nextTo"/>
        <c:spPr>
          <a:ln>
            <a:solidFill>
              <a:srgbClr val="9FB3C8"/>
            </a:solidFill>
          </a:ln>
        </c:spPr>
        <c:txPr>
          <a:bodyPr/>
          <a:lstStyle/>
          <a:p>
            <a:pPr>
              <a:defRPr sz="1600"/>
            </a:pPr>
          </a:p>
        </c:txPr>
        <c:crossAx val="-2113994440"/>
        <c:crosses val="autoZero"/>
        <c:auto val="1"/>
        <c:lblAlgn val="ctr"/>
        <c:lblOffset val="100"/>
        <c:noMultiLvlLbl val="0"/>
      </c:catAx>
      <c:valAx>
        <c:axId val="-2113994440"/>
        <c:scaling>
          <c:max val="0.55"/>
          <c:min val="0.0"/>
        </c:scaling>
        <c:delete val="0"/>
        <c:axPos val="l"/>
        <c:majorGridlines>
          <c:spPr>
            <a:ln w="9525">
              <a:solidFill>
                <a:srgbClr val="D5E0EC"/>
              </a:solidFill>
            </a:ln>
          </c:spPr>
        </c:majorGridlines>
        <c:numFmt formatCode="0.00" sourceLinked="0"/>
        <c:majorTickMark val="out"/>
        <c:minorTickMark val="none"/>
        <c:tickLblPos val="nextTo"/>
        <c:spPr>
          <a:ln>
            <a:noFill/>
          </a:ln>
        </c:spPr>
        <c:txPr>
          <a:bodyPr/>
          <a:lstStyle/>
          <a:p>
            <a:pPr>
              <a:defRPr sz="1600"/>
            </a:pPr>
          </a:p>
        </c:txPr>
        <c:crossAx val="-2068027336"/>
        <c:crosses val="autoZero"/>
      </c:valAx>
    </c:plotArea>
    <c:legend>
      <c:legendPos val="b"/>
      <c:overlay val="0"/>
      <c:txPr>
        <a:bodyPr/>
        <a:lstStyle/>
        <a:p>
          <a:pPr>
            <a:defRPr sz="1600"/>
          </a:pPr>
        </a:p>
      </c:txPr>
    </c:legend>
    <c:dispBlanksAs val="gap"/>
  </c:chart>
  <c:txPr>
    <a:bodyPr/>
    <a:lstStyle/>
    <a:p>
      <a:pPr>
        <a:defRPr sz="1600">
          <a:solidFill>
            <a:srgbClr val="343434"/>
          </a:solidFill>
          <a:latin typeface="Calibri"/>
        </a:defRPr>
      </a:pPr>
      <a:endParaRPr lang="en-US"/>
    </a:p>
  </c:tx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chart>
    <c:title>
      <c:tx>
        <c:rich>
          <a:bodyPr/>
          <a:lstStyle/>
          <a:p>
            <a:r>
              <a:rPr sz="1800" b="1">
                <a:solidFill>
                  <a:srgbClr val="164B82"/>
                </a:solidFill>
                <a:latin typeface="Calibri"/>
              </a:rPr>
              <a:t>Task 1: fate of annotated numeral (%)</a:t>
            </a:r>
          </a:p>
        </c:rich>
      </c:tx>
      <c:layout/>
      <c:overlay val="0"/>
    </c:title>
    <c:autoTitleDeleted val="0"/>
    <c:plotArea>
      <c:barChart>
        <c:barDir val="bar"/>
        <c:grouping val="clustered"/>
        <c:ser>
          <c:idx val="0"/>
          <c:order val="0"/>
          <c:tx>
            <c:strRef>
              <c:f>Sheet1!$B$1</c:f>
              <c:strCache>
                <c:ptCount val="1"/>
                <c:pt idx="0">
                  <c:v>Share of rows</c:v>
                </c:pt>
              </c:strCache>
            </c:strRef>
          </c:tx>
          <c:spPr>
            <a:solidFill>
              <a:srgbClr val="2F679F"/>
            </a:solidFill>
          </c:spPr>
          <c:cat>
            <c:strRef>
              <c:f>Sheet1!$A$2:$A$7</c:f>
              <c:strCache>
                <c:ptCount val="6"/>
                <c:pt idx="0">
                  <c:v>Span recovered</c:v>
                </c:pt>
                <c:pt idx="1">
                  <c:v>Digits, value gone</c:v>
                </c:pt>
                <c:pt idx="2">
                  <c:v>Corrupted output</c:v>
                </c:pt>
                <c:pt idx="3">
                  <c:v>No digits</c:v>
                </c:pt>
                <c:pt idx="4">
                  <c:v>Rescaled</c:v>
                </c:pt>
                <c:pt idx="5">
                  <c:v>Span missed</c:v>
                </c:pt>
              </c:strCache>
            </c:strRef>
          </c:cat>
          <c:val>
            <c:numRef>
              <c:f>Sheet1!$B$2:$B$7</c:f>
              <c:numCache>
                <c:formatCode>General</c:formatCode>
                <c:ptCount val="6"/>
                <c:pt idx="0">
                  <c:v>82.8</c:v>
                </c:pt>
                <c:pt idx="1">
                  <c:v>9.7</c:v>
                </c:pt>
                <c:pt idx="2">
                  <c:v>3.7</c:v>
                </c:pt>
                <c:pt idx="3">
                  <c:v>3.3</c:v>
                </c:pt>
                <c:pt idx="4">
                  <c:v>0.4</c:v>
                </c:pt>
                <c:pt idx="5">
                  <c:v>0.04</c:v>
                </c:pt>
              </c:numCache>
            </c:numRef>
          </c:val>
        </c:ser>
        <c:dLbls>
          <c:numFmt formatCode="0.0" sourceLinked="0"/>
          <c:txPr>
            <a:bodyPr/>
            <a:lstStyle/>
            <a:p>
              <a:pPr>
                <a:defRPr sz="1400">
                  <a:solidFill>
                    <a:srgbClr val="343434"/>
                  </a:solidFill>
                  <a:latin typeface="Calibri"/>
                </a:defRPr>
              </a:pPr>
            </a:p>
          </c:txPr>
          <c:dLblPos val="outEnd"/>
          <c:showLegendKey val="0"/>
          <c:showVal val="1"/>
          <c:showCatName val="0"/>
          <c:showSerName val="0"/>
          <c:showPercent val="0"/>
          <c:showBubbleSize val="0"/>
          <c:showLeaderLines val="1"/>
        </c:dLbls>
        <c:gapWidth val="40"/>
        <c:axId val="-2068027336"/>
        <c:axId val="-2113994440"/>
      </c:barChart>
      <c:catAx>
        <c:axId val="-2068027336"/>
        <c:scaling>
          <c:orientation val="maxMin"/>
        </c:scaling>
        <c:delete val="0"/>
        <c:axPos val="l"/>
        <c:majorTickMark val="out"/>
        <c:minorTickMark val="none"/>
        <c:tickLblPos val="nextTo"/>
        <c:spPr>
          <a:ln>
            <a:solidFill>
              <a:srgbClr val="9FB3C8"/>
            </a:solidFill>
          </a:ln>
        </c:spPr>
        <c:txPr>
          <a:bodyPr/>
          <a:lstStyle/>
          <a:p>
            <a:pPr>
              <a:defRPr sz="1600"/>
            </a:pPr>
          </a:p>
        </c:txPr>
        <c:crossAx val="-2113994440"/>
        <c:crosses val="autoZero"/>
        <c:auto val="1"/>
        <c:lblAlgn val="ctr"/>
        <c:lblOffset val="100"/>
        <c:noMultiLvlLbl val="0"/>
      </c:catAx>
      <c:valAx>
        <c:axId val="-2113994440"/>
        <c:scaling>
          <c:max val="100.0"/>
          <c:min val="0.0"/>
        </c:scaling>
        <c:delete/>
        <c:axPos val="b"/>
        <c:numFmt formatCode="0.0" sourceLinked="0"/>
        <c:majorTickMark val="out"/>
        <c:minorTickMark val="none"/>
        <c:tickLblPos val="nextTo"/>
        <c:spPr>
          <a:ln>
            <a:noFill/>
          </a:ln>
        </c:spPr>
        <c:txPr>
          <a:bodyPr/>
          <a:lstStyle/>
          <a:p>
            <a:pPr>
              <a:defRPr sz="1600"/>
            </a:pPr>
          </a:p>
        </c:txPr>
        <c:crossAx val="-2068027336"/>
        <c:crosses val="autoZero"/>
      </c:valAx>
    </c:plotArea>
    <c:dispBlanksAs val="gap"/>
  </c:chart>
  <c:txPr>
    <a:bodyPr/>
    <a:lstStyle/>
    <a:p>
      <a:pPr>
        <a:defRPr sz="1600">
          <a:solidFill>
            <a:srgbClr val="343434"/>
          </a:solidFill>
          <a:latin typeface="Calibri"/>
        </a:defRPr>
      </a:pPr>
      <a:endParaRPr lang="en-US"/>
    </a:p>
  </c:txPr>
  <c:externalData r:id="rId1">
    <c:autoUpdate val="0"/>
  </c:externalData>
</c:chartSpace>
</file>

<file path=ppt/charts/chart3.xml><?xml version="1.0" encoding="utf-8"?>
<c:chartSpace xmlns:c="http://schemas.openxmlformats.org/drawingml/2006/chart" xmlns:a="http://schemas.openxmlformats.org/drawingml/2006/main" xmlns:r="http://schemas.openxmlformats.org/officeDocument/2006/relationships">
  <c:date1904 val="0"/>
  <c:chart>
    <c:title>
      <c:tx>
        <c:rich>
          <a:bodyPr/>
          <a:lstStyle/>
          <a:p>
            <a:r>
              <a:rPr sz="1800" b="1">
                <a:solidFill>
                  <a:srgbClr val="164B82"/>
                </a:solidFill>
                <a:latin typeface="Calibri"/>
              </a:rPr>
              <a:t>Task 2 in-language macro-F1</a:t>
            </a:r>
          </a:p>
        </c:rich>
      </c:tx>
      <c:layout/>
      <c:overlay val="0"/>
    </c:title>
    <c:autoTitleDeleted val="0"/>
    <c:plotArea>
      <c:barChart>
        <c:barDir val="col"/>
        <c:grouping val="clustered"/>
        <c:ser>
          <c:idx val="0"/>
          <c:order val="0"/>
          <c:tx>
            <c:strRef>
              <c:f>Sheet1!$B$1</c:f>
              <c:strCache>
                <c:ptCount val="1"/>
                <c:pt idx="0">
                  <c:v>Published (IndicFinNLP)</c:v>
                </c:pt>
              </c:strCache>
            </c:strRef>
          </c:tx>
          <c:spPr>
            <a:solidFill>
              <a:srgbClr val="699ACD"/>
            </a:solidFill>
          </c:spPr>
          <c:cat>
            <c:strRef>
              <c:f>Sheet1!$A$2:$A$4</c:f>
              <c:strCache>
                <c:ptCount val="3"/>
                <c:pt idx="0">
                  <c:v>Hindi</c:v>
                </c:pt>
                <c:pt idx="1">
                  <c:v>Bengali</c:v>
                </c:pt>
                <c:pt idx="2">
                  <c:v>Telugu</c:v>
                </c:pt>
              </c:strCache>
            </c:strRef>
          </c:cat>
          <c:val>
            <c:numRef>
              <c:f>Sheet1!$B$2:$B$4</c:f>
              <c:numCache>
                <c:formatCode>General</c:formatCode>
                <c:ptCount val="3"/>
                <c:pt idx="0">
                  <c:v>0.86</c:v>
                </c:pt>
                <c:pt idx="1">
                  <c:v>0.8</c:v>
                </c:pt>
                <c:pt idx="2">
                  <c:v>0.79</c:v>
                </c:pt>
              </c:numCache>
            </c:numRef>
          </c:val>
        </c:ser>
        <c:ser>
          <c:idx val="1"/>
          <c:order val="1"/>
          <c:tx>
            <c:strRef>
              <c:f>Sheet1!$C$1</c:f>
              <c:strCache>
                <c:ptCount val="1"/>
                <c:pt idx="0">
                  <c:v>IndicBERT (ours)</c:v>
                </c:pt>
              </c:strCache>
            </c:strRef>
          </c:tx>
          <c:spPr>
            <a:solidFill>
              <a:srgbClr val="164B82"/>
            </a:solidFill>
          </c:spPr>
          <c:cat>
            <c:strRef>
              <c:f>Sheet1!$A$2:$A$4</c:f>
              <c:strCache>
                <c:ptCount val="3"/>
                <c:pt idx="0">
                  <c:v>Hindi</c:v>
                </c:pt>
                <c:pt idx="1">
                  <c:v>Bengali</c:v>
                </c:pt>
                <c:pt idx="2">
                  <c:v>Telugu</c:v>
                </c:pt>
              </c:strCache>
            </c:strRef>
          </c:cat>
          <c:val>
            <c:numRef>
              <c:f>Sheet1!$C$2:$C$4</c:f>
              <c:numCache>
                <c:formatCode>General</c:formatCode>
                <c:ptCount val="3"/>
                <c:pt idx="0">
                  <c:v>0.823</c:v>
                </c:pt>
                <c:pt idx="1">
                  <c:v>0.82</c:v>
                </c:pt>
                <c:pt idx="2">
                  <c:v>0.819</c:v>
                </c:pt>
              </c:numCache>
            </c:numRef>
          </c:val>
        </c:ser>
        <c:ser>
          <c:idx val="2"/>
          <c:order val="2"/>
          <c:tx>
            <c:strRef>
              <c:f>Sheet1!$D$1</c:f>
              <c:strCache>
                <c:ptCount val="1"/>
                <c:pt idx="0">
                  <c:v>mBERT (ours)</c:v>
                </c:pt>
              </c:strCache>
            </c:strRef>
          </c:tx>
          <c:spPr>
            <a:solidFill>
              <a:srgbClr val="E4B795"/>
            </a:solidFill>
          </c:spPr>
          <c:cat>
            <c:strRef>
              <c:f>Sheet1!$A$2:$A$4</c:f>
              <c:strCache>
                <c:ptCount val="3"/>
                <c:pt idx="0">
                  <c:v>Hindi</c:v>
                </c:pt>
                <c:pt idx="1">
                  <c:v>Bengali</c:v>
                </c:pt>
                <c:pt idx="2">
                  <c:v>Telugu</c:v>
                </c:pt>
              </c:strCache>
            </c:strRef>
          </c:cat>
          <c:val>
            <c:numRef>
              <c:f>Sheet1!$D$2:$D$4</c:f>
              <c:numCache>
                <c:formatCode>General</c:formatCode>
                <c:ptCount val="3"/>
                <c:pt idx="0">
                  <c:v>0.874</c:v>
                </c:pt>
                <c:pt idx="1">
                  <c:v>0.858</c:v>
                </c:pt>
                <c:pt idx="2">
                  <c:v>0.86</c:v>
                </c:pt>
              </c:numCache>
            </c:numRef>
          </c:val>
        </c:ser>
        <c:dLbls>
          <c:numFmt formatCode="0.00" sourceLinked="0"/>
          <c:txPr>
            <a:bodyPr/>
            <a:lstStyle/>
            <a:p>
              <a:pPr>
                <a:defRPr sz="1300">
                  <a:solidFill>
                    <a:srgbClr val="343434"/>
                  </a:solidFill>
                  <a:latin typeface="Calibri"/>
                </a:defRPr>
              </a:pPr>
            </a:p>
          </c:txPr>
          <c:dLblPos val="outEnd"/>
          <c:showLegendKey val="0"/>
          <c:showVal val="1"/>
          <c:showCatName val="0"/>
          <c:showSerName val="0"/>
          <c:showPercent val="0"/>
          <c:showBubbleSize val="0"/>
          <c:showLeaderLines val="1"/>
        </c:dLbls>
        <c:gapWidth val="50"/>
        <c:overlap val="-5"/>
        <c:axId val="-2068027336"/>
        <c:axId val="-2113994440"/>
      </c:barChart>
      <c:catAx>
        <c:axId val="-2068027336"/>
        <c:scaling>
          <c:orientation val="minMax"/>
        </c:scaling>
        <c:delete val="0"/>
        <c:axPos val="b"/>
        <c:majorTickMark val="out"/>
        <c:minorTickMark val="none"/>
        <c:tickLblPos val="nextTo"/>
        <c:spPr>
          <a:ln>
            <a:solidFill>
              <a:srgbClr val="9FB3C8"/>
            </a:solidFill>
          </a:ln>
        </c:spPr>
        <c:txPr>
          <a:bodyPr/>
          <a:lstStyle/>
          <a:p>
            <a:pPr>
              <a:defRPr sz="1600"/>
            </a:pPr>
          </a:p>
        </c:txPr>
        <c:crossAx val="-2113994440"/>
        <c:crosses val="autoZero"/>
        <c:auto val="1"/>
        <c:lblAlgn val="ctr"/>
        <c:lblOffset val="100"/>
        <c:noMultiLvlLbl val="0"/>
      </c:catAx>
      <c:valAx>
        <c:axId val="-2113994440"/>
        <c:scaling>
          <c:max val="1.0"/>
          <c:min val="0.0"/>
        </c:scaling>
        <c:delete val="0"/>
        <c:axPos val="l"/>
        <c:majorGridlines>
          <c:spPr>
            <a:ln w="9525">
              <a:solidFill>
                <a:srgbClr val="D5E0EC"/>
              </a:solidFill>
            </a:ln>
          </c:spPr>
        </c:majorGridlines>
        <c:numFmt formatCode="0.00" sourceLinked="0"/>
        <c:majorTickMark val="out"/>
        <c:minorTickMark val="none"/>
        <c:tickLblPos val="nextTo"/>
        <c:spPr>
          <a:ln>
            <a:noFill/>
          </a:ln>
        </c:spPr>
        <c:txPr>
          <a:bodyPr/>
          <a:lstStyle/>
          <a:p>
            <a:pPr>
              <a:defRPr sz="1600"/>
            </a:pPr>
          </a:p>
        </c:txPr>
        <c:crossAx val="-2068027336"/>
        <c:crosses val="autoZero"/>
      </c:valAx>
    </c:plotArea>
    <c:legend>
      <c:legendPos val="b"/>
      <c:overlay val="0"/>
      <c:txPr>
        <a:bodyPr/>
        <a:lstStyle/>
        <a:p>
          <a:pPr>
            <a:defRPr sz="1600"/>
          </a:pPr>
        </a:p>
      </c:txPr>
    </c:legend>
    <c:dispBlanksAs val="gap"/>
  </c:chart>
  <c:txPr>
    <a:bodyPr/>
    <a:lstStyle/>
    <a:p>
      <a:pPr>
        <a:defRPr sz="1600">
          <a:solidFill>
            <a:srgbClr val="343434"/>
          </a:solidFill>
          <a:latin typeface="Calibri"/>
        </a:defRPr>
      </a:pPr>
      <a:endParaRPr lang="en-US"/>
    </a:p>
  </c:txPr>
  <c:externalData r:id="rId1">
    <c:autoUpdate val="0"/>
  </c:externalData>
</c:chartSpace>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Good morning. I am presenting my BCSE497J Project I pre-final review. The project is called Cross-Linguistic Transfer Diagnostics for Low-Resource Financial NLP in Indic Languages. In one sentence: we ask whether language models keep the meaning of financial text intact when knowledge moves between Hindi, Bengali, Telugu and Malayalam, and we build the test data and the diagnostics needed to answer that. I will take about ten to twelve minutes, with most of the time on implementation, the demo and the results. [TO FILL: introduce yourself and your guide.]</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Multilingual models transfer well on general language benchmarks, but nobody has checked whether they preserve financial meaning between Indic languages. IndicFinNLP gives baselines for Hindi, Bengali and Telugu, but each language split has different topics and entities, so any difference between languages mixes language effects with content effects. And there is no parallel Indic financial or ESG test set. Finance makes it harder: numerals in lakh and crore, domain terms and named entities all have to survive a change of language. So our research question is on the right: do multilingual models preserve financial meaning when knowledge transfers between Indic languages?</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We have three objectives. One: build a controlled four-way parallel financial corpus in Hindi, Bengali, Telugu and Malayalam, so that language is the only thing that changes. Two: measure zero-shot transfer with IndicBERT and mBERT, training on one language and testing on the others. Three: diagnose why transfer fails, using a three-stage router that gives every failure one cause. In scope are the three IndicFinNLP tasks for corpus building, and the two classification tasks for transfer. Out of scope are few-shot and translate-train training, XLM-R which did not fit on our 4 GB GPU, and native Malayalam data, which does not exist upstream.</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We reviewed twenty peer-reviewed works in four groups: financial NLP, Indic NLP resources, cross-lingual transfer, and the validity of translation-based benchmarks. The table shows the closest work and what each leaves open. IndicFinNLP has no transfer measure. MultiFin and ML-ESG are not built for Indic transfer, and ML-ESG includes no Indic language. IndicXTREME and IndicXNLI give parallel Indic benchmarks but no finance. XTREME and Lauscher et al. measure transfer gaps, but do not link them to numerals or terminology. Agrawal et al. warn that unverified machine-translated benchmarks can measure translation quality instead of transfer. Our work closes these gaps together.</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the whole system on one page. Phase A builds the corpus: we start from IndicFinNLP, audit whether the three language splits are independent, translate directly between Indic languages with IndicTrans2, and run three quality gates on every translated row. The result is frozen as a read-only release of 92,760 machine-translated rows. Phase B and C use it: we fine-tune IndicBERT and mBERT on one language, test zero-shot on the others across a fixed condition matrix, and a diagnostic router gives each failure one cause. Findings go into the report and into a read-only dashboard, which you will see in the demo. No row is ever dropped: bad rows are flagged.</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system has three modules, each feeding the next. Module one is corpus construction: audit and align the native splits, translate directly between Indic languages, apply three quality gates, and freeze a read-only release giving twelve splits per task. Module two is transfer evaluation: a condition matrix fixed in advance with 21 conditions per task, fine-tuning on native text only, zero-shot testing with three seeds, and the transfer gap as source minus target macro-F1. Module three is diagnostics: a semantic gate first, then linguistic modules, then data and model labels, followed by a bootstrap finding rule fixed before any table was read. The strip at the bottom is the end-to-end workflow.</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Four measures drive the method. First, semantic similarity: the cosine of LaBSE embeddings of source and translation; below tau the row is flagged translation drift and kept. Second, the transfer gap: the source model's in-language macro-F1 minus its target-language score, on the same items. Third, a transfer failure: an item the model got right in the source language and wrong in the target, joined on item and seed, so task ability and item difficulty are ruled out. Fourth, tokenizer fragmentation, which fires at a ratio of two or more. The router on the right applies these in a fixed order: the semantic gate first, so translation noise is never blamed on linguistics, then linguistic modules, then data and model labels. Whatever fits nothing is reported as unattributed.</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dataset is IndicFinNLP, from Ghosh and colleagues at LREC-COLING 2024. It has three tasks in Hindi, Bengali and Telugu: numeral spans in financial text, binary sustainability classification and ten-class ESG theme classification. The table shows native rows per block. Malayalam does not exist upstream, so it appears only as machine translation. The upstream files are kept byte-for-byte with checksums. On the right are the tools: IndicTrans2 1B for translation, LaBSE for similarity, IndicBERT and mBERT as the two encoders, Parquet with SHA-256 manifests for storage, and a single 4 GB RTX 3050 laptop GPU for everything, which shaped our design: checkpoint every batch, retry on out-of-memory, and never fall back silently to CPU.</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All seven project phases are built and integrated end to end: corpus construction, quality gates, fine-tuning, zero-shot evaluation, encoder and source comparison, failure diagnosis and root-cause aggregation, plus a read-only dashboard over their outputs. The table lists each module with its output. Everything is reproducible: corpus data is Parquet, every artefact records its configuration hash, and two runs of one configuration give byte-identical output. On the right is the integrated dashboard. It loads no model and writes nothing; every number comes from a report or data file produced by an earlier phase.</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For the demo we run the dashboard with streamlit run dashboard slash app dot py. It is read-only. Step one, the Transfer page: pick a task and read the heatmap of how much macro-F1 drops from each training language to each test language, for both encoders. Step two, the Causes page: each bar shows what one setup's failures are made of, split into linguistic, data, model and unattributed. Step three, the Explorer: pick a setup, click one failing sentence, and see the training-language sentence beside the test-language sentence, every training run's prediction, and the cause given to each. This shows the full chain from corpus to measured gap to diagnosed failure. [TO FILL: add a backup screen recording in case the live demo fails.]</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Here are the same three screens at reading size. Top left, the Transfer page for task 2: each cell is the drop in macro-F1 from training language to test language. Hindi-trained IndicBERT loses 0.45 into Bengali and Telugu, and mBERT loses less in every cell. Top right, the Causes page: each bar is one setup's failures split into linguistic, data, model and unattributed, so you can see most failures are described by where they occur, not by a linguistic property. Bottom, the Explorer: here a Hindi sentence the model classified correctly, and its Bengali counterpart that every training run got wrong, with each run's prediction and cause label. [TO FILL: pick the one sentence or direction you want to walk through live.]</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We validate at every layer. Source models must reproduce the published in-language macro-F1 within plus or minus 0.02 before any transfer number is read. All three corpora pass every blocking integrity check: every block joins four ways, no label drifted, and no output came back empty. Every configuration runs with three seeds and is reported as mean and standard deviation, with 95 percent confidence intervals from a 1,000-sample bootstrap. For the diagnostic router, we hand-checked 200 failure labels, 50 per target language, and 197 agreed, which is 98.5 percent. The project maintainer also hand-checked 180 translated rows per task. That is a sample, not an audit of the whole corpus, and we say so. Zero-shot inference asserts no optimiser exists and no gradient step is taken.</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Three headline results. First, translation quality: on the numeral task the annotated numeral is recovered in 82.8 percent of translations, so roughly one financial numeral in six does not survive Indic-to-Indic translation intact; the right-hand chart breaks down where the rest goes. Second, transfer is costly: on sustainability classification the transfer gap is 0.26 to 0.45 macro-F1 for IndicBERT and 0.11 to 0.24 for mBERT; the left chart shows every direction. Third, mBERT beats IndicBERT in all twelve Hindi-source cells, and Hindi is the worst source language on both encoders. Moving into a Dravidian language costs more than into an Indo-Aryan one: mean gap 0.406 versus 0.349 for IndicBERT, and 0.194 versus 0.151 for mBERT.</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Two comparisons. On the left, our in-language baselines against IndicFinNLP's published sustainability macro-F1. IndicBERT is at or above the published figure in five of six baselines; the exception is task-2 Hindi, 3.7 points below, which we attribute to our smaller per-seed test fold and untuned hyperparameters. mBERT is higher in every language. This matters because it shows a transfer gap cannot be blamed on a badly trained source model. On the right, how the study differs from prior work: prior transfer studies report aggregate gaps; we report them by direction, source, provenance and cause, on a corpus where every one of 92,760 translated rows is checked and flagged.</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We state the limits plainly. Malayalam has no native text, so Malayalam results combine transfer difficulty with translation quality. Human verification covers a sample of 180 rows per task, not the corpus. LaBSE similarity ranks directions well but rewards literal translation, so it is not an absolute quality score; in fact machine translation outscores human translation on it. Training and evaluation share content across languages by design, so the gaps measure the cost of changing language, not generalisation to unseen sentences. And XLM-R did not fit on our 4 GB GPU. For interpretation: linguistic causes explain only 8.8 to 12 percent of failures, and two linguistic modules predict failure no better than chance. We therefore report the size and shape of the gap with confidence, and its causes as open.</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[TO FILL] This slide needs your submission details. The manuscript is written: abstract, introduction, related work, methodology, results and conclusion are complete in the project report. State the venue and whether it is a journal or a conference, the submission date, the current status, and the submission or paper ID, then show the acknowledgement screenshot on the right. If the paper is not yet submitted, say so and give the planned venue and date.</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To conclude: we built a four-way parallel financial corpus of 92,760 machine-translated rows, every row kept and flagged. About one annotated numeral in six does not survive translation, and no direction of the numeral task reaches 95 percent preservation. Transfer is costly: 0.26 to 0.45 macro-F1 for IndicBERT and 0.11 to 0.24 for mBERT on sustainability classification, and moving into a Dravidian language costs more than into an Indo-Aryan one, in both transfer and translation quality. The causes remain open. For future work: run XLM-R against mBERT on larger hardware, get native-speaker review and a native Malayalam test set, redesign the two modules that did not validate, test few-shot and translate-train recovery, and extend to more Indian languages.</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These are the works cited in this presentation, in APA style, alphabetical by first author. The full list of twenty-two references is in the project report. [TO FILL: author initials, since the report lists surnames only, and DOIs or URLs if your guide wants them.]</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Thank you. To recap: we built a controlled four-way parallel financial corpus, measured how much IndicBERT and mBERT lose when moving between Indic languages, and diagnosed the failures, finding that the size of the gap is clear and its causes are still open. I am happy to take questions, and I can reopen the dashboard to show any specific direction or sentence.</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1D8BD707-D9CF-40AE-B4C6-C98DA3205C09}" type="datetimeFigureOut">
              <a:rPr lang="en-US" smtClean="0"/>
              <a:pPr/>
              <a:t>8/1/2011</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1D8BD707-D9CF-40AE-B4C6-C98DA3205C09}" type="datetimeFigureOut">
              <a:rPr lang="en-US" smtClean="0"/>
              <a:pPr/>
              <a:t>8/1/2011</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1D8BD707-D9CF-40AE-B4C6-C98DA3205C09}" type="datetimeFigureOut">
              <a:rPr lang="en-US" smtClean="0"/>
              <a:pPr/>
              <a:t>8/1/2011</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1D8BD707-D9CF-40AE-B4C6-C98DA3205C09}" type="datetimeFigureOut">
              <a:rPr lang="en-US" smtClean="0"/>
              <a:pPr/>
              <a:t>8/1/2011</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1D8BD707-D9CF-40AE-B4C6-C98DA3205C09}" type="datetimeFigureOut">
              <a:rPr lang="en-US" smtClean="0"/>
              <a:pPr/>
              <a:t>8/1/2011</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1D8BD707-D9CF-40AE-B4C6-C98DA3205C09}" type="datetimeFigureOut">
              <a:rPr lang="en-US" smtClean="0"/>
              <a:pPr/>
              <a:t>8/1/2011</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1D8BD707-D9CF-40AE-B4C6-C98DA3205C09}" type="datetimeFigureOut">
              <a:rPr lang="en-US" smtClean="0"/>
              <a:pPr/>
              <a:t>8/1/2011</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1D8BD707-D9CF-40AE-B4C6-C98DA3205C09}" type="datetimeFigureOut">
              <a:rPr lang="en-US" smtClean="0"/>
              <a:pPr/>
              <a:t>8/1/2011</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1D8BD707-D9CF-40AE-B4C6-C98DA3205C09}" type="datetimeFigureOut">
              <a:rPr lang="en-US" smtClean="0"/>
              <a:pPr/>
              <a:t>8/1/2011</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1D8BD707-D9CF-40AE-B4C6-C98DA3205C09}" type="datetimeFigureOut">
              <a:rPr lang="en-US" smtClean="0"/>
              <a:pPr/>
              <a:t>8/1/2011</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1D8BD707-D9CF-40AE-B4C6-C98DA3205C09}" type="datetimeFigureOut">
              <a:rPr lang="en-US" smtClean="0"/>
              <a:pPr/>
              <a:t>8/1/2011</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1D8BD707-D9CF-40AE-B4C6-C98DA3205C09}" type="datetimeFigureOut">
              <a:rPr lang="en-US" smtClean="0"/>
              <a:pPr/>
              <a:t>8/1/2011</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B6F15528-21DE-4FAA-801E-634DDDAF4B2B}" type="slidenum">
              <a:rPr lang="en-US" smtClean="0"/>
              <a:pPr/>
              <a:t>‹#›</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notesSlide" Target="../notesSlides/notesSlide1.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19.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3.png"/><Relationship Id="rId4" Type="http://schemas.openxmlformats.org/officeDocument/2006/relationships/notesSlide" Target="../notesSlides/notesSlide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3.png"/><Relationship Id="rId4" Type="http://schemas.openxmlformats.org/officeDocument/2006/relationships/notesSlide" Target="../notesSlides/notesSlide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3.png"/><Relationship Id="rId4" Type="http://schemas.openxmlformats.org/officeDocument/2006/relationships/notesSlide" Target="../notesSlides/notesSlide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3.png"/><Relationship Id="rId4" Type="http://schemas.openxmlformats.org/officeDocument/2006/relationships/notesSlide" Target="../notesSlides/notesSlide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3.png"/><Relationship Id="rId4" Type="http://schemas.openxmlformats.org/officeDocument/2006/relationships/notesSlide" Target="../notesSlides/notesSlide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3.png"/><Relationship Id="rId4" Type="http://schemas.openxmlformats.org/officeDocument/2006/relationships/notesSlide" Target="../notesSlides/notesSlide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3.png"/><Relationship Id="rId4" Type="http://schemas.openxmlformats.org/officeDocument/2006/relationships/notesSlide" Target="../notesSlides/notesSlide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3.png"/><Relationship Id="rId4" Type="http://schemas.openxmlformats.org/officeDocument/2006/relationships/notesSlide" Target="../notesSlides/notesSlide9.xml"/><Relationship Id="rId5" Type="http://schemas.openxmlformats.org/officeDocument/2006/relationships/image" Target="../media/image4.png"/></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3.png"/><Relationship Id="rId4" Type="http://schemas.openxmlformats.org/officeDocument/2006/relationships/notesSlide" Target="../notesSlides/notesSlide10.xml"/><Relationship Id="rId5" Type="http://schemas.openxmlformats.org/officeDocument/2006/relationships/image" Target="../media/image4.png"/><Relationship Id="rId6" Type="http://schemas.openxmlformats.org/officeDocument/2006/relationships/image" Target="../media/image5.png"/><Relationship Id="rId7" Type="http://schemas.openxmlformats.org/officeDocument/2006/relationships/image" Target="../media/image6.png"/></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3.png"/><Relationship Id="rId4" Type="http://schemas.openxmlformats.org/officeDocument/2006/relationships/notesSlide" Target="../notesSlides/notesSlide11.xml"/><Relationship Id="rId5" Type="http://schemas.openxmlformats.org/officeDocument/2006/relationships/image" Target="../media/image7.png"/><Relationship Id="rId6" Type="http://schemas.openxmlformats.org/officeDocument/2006/relationships/image" Target="../media/image8.png"/><Relationship Id="rId7" Type="http://schemas.openxmlformats.org/officeDocument/2006/relationships/image" Target="../media/image9.png"/></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3.png"/><Relationship Id="rId4" Type="http://schemas.openxmlformats.org/officeDocument/2006/relationships/notesSlide" Target="../notesSlides/notesSlide1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3.png"/><Relationship Id="rId4" Type="http://schemas.openxmlformats.org/officeDocument/2006/relationships/notesSlide" Target="../notesSlides/notesSlide13.xml"/><Relationship Id="rId5" Type="http://schemas.openxmlformats.org/officeDocument/2006/relationships/chart" Target="../charts/chart1.xml"/><Relationship Id="rId6" Type="http://schemas.openxmlformats.org/officeDocument/2006/relationships/chart" Target="../charts/chart2.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3.png"/><Relationship Id="rId4" Type="http://schemas.openxmlformats.org/officeDocument/2006/relationships/notesSlide" Target="../notesSlides/notesSlide14.xml"/><Relationship Id="rId5" Type="http://schemas.openxmlformats.org/officeDocument/2006/relationships/chart" Target="../charts/chart3.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3.png"/><Relationship Id="rId4" Type="http://schemas.openxmlformats.org/officeDocument/2006/relationships/notesSlide" Target="../notesSlides/notesSlide1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3.png"/><Relationship Id="rId4" Type="http://schemas.openxmlformats.org/officeDocument/2006/relationships/notesSlide" Target="../notesSlides/notesSlide1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3.png"/><Relationship Id="rId4" Type="http://schemas.openxmlformats.org/officeDocument/2006/relationships/notesSlide" Target="../notesSlides/notesSlide1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3.png"/><Relationship Id="rId4" Type="http://schemas.openxmlformats.org/officeDocument/2006/relationships/notesSlide" Target="../notesSlides/notesSlide18.xml"/></Relationships>
</file>

<file path=ppt/slides/slide1.xml><?xml version="1.0" encoding="utf-8"?>
<p:sld xmlns:p="http://schemas.openxmlformats.org/presentationml/2006/main" xmlns:a="http://schemas.openxmlformats.org/drawingml/2006/main" xmlns:r="http://schemas.openxmlformats.org/officeDocument/2006/relationships">
  <p:cSld>
    <p:bg>
      <p:bgPr>
        <a:solidFill>
          <a:srgbClr val="F2F7FA"/>
        </a:solidFill>
      </p:bgPr>
    </p:bg>
    <p:spTree>
      <p:nvGrpSpPr>
        <p:cNvPr id="1" name=""/>
        <p:cNvGrpSpPr/>
        <p:nvPr/>
      </p:nvGrpSpPr>
      <p:grpSpPr>
        <a:xfrm>
          <a:off x="0" y="0"/>
          <a:ext cx="0" cy="0"/>
          <a:chOff x="0" y="0"/>
          <a:chExt cx="0" cy="0"/>
        </a:xfrm>
      </p:grpSpPr>
      <p:sp>
        <p:nvSpPr>
          <p:cNvPr name="Freeform 2" id="2"/>
          <p:cNvSpPr/>
          <p:nvPr/>
        </p:nvSpPr>
        <p:spPr>
          <a:xfrm flipH="false" flipV="false" rot="-207862">
            <a:off x="6110388" y="5304279"/>
            <a:ext cx="15048401" cy="6376760"/>
          </a:xfrm>
          <a:custGeom>
            <a:avLst/>
            <a:gdLst/>
            <a:ahLst/>
            <a:cxnLst/>
            <a:rect r="r" b="b" t="t" l="l"/>
            <a:pathLst>
              <a:path h="6376760" w="15048401">
                <a:moveTo>
                  <a:pt x="0" y="0"/>
                </a:moveTo>
                <a:lnTo>
                  <a:pt x="15048401" y="0"/>
                </a:lnTo>
                <a:lnTo>
                  <a:pt x="15048401" y="6376760"/>
                </a:lnTo>
                <a:lnTo>
                  <a:pt x="0" y="6376760"/>
                </a:lnTo>
                <a:lnTo>
                  <a:pt x="0" y="0"/>
                </a:lnTo>
                <a:close/>
              </a:path>
            </a:pathLst>
          </a:custGeom>
          <a:blipFill>
            <a:blip r:embed="rId2"/>
            <a:stretch>
              <a:fillRect l="0" t="0" r="0" b="0"/>
            </a:stretch>
          </a:blipFill>
        </p:spPr>
      </p:sp>
      <p:grpSp>
        <p:nvGrpSpPr>
          <p:cNvPr name="Group 3" id="3"/>
          <p:cNvGrpSpPr/>
          <p:nvPr/>
        </p:nvGrpSpPr>
        <p:grpSpPr>
          <a:xfrm rot="0">
            <a:off x="-332478" y="7009521"/>
            <a:ext cx="9637365" cy="212578"/>
            <a:chOff x="0" y="0"/>
            <a:chExt cx="2538236" cy="55988"/>
          </a:xfrm>
        </p:grpSpPr>
        <p:sp>
          <p:nvSpPr>
            <p:cNvPr name="Freeform 4" id="4"/>
            <p:cNvSpPr/>
            <p:nvPr/>
          </p:nvSpPr>
          <p:spPr>
            <a:xfrm flipH="false" flipV="false" rot="0">
              <a:off x="0" y="0"/>
              <a:ext cx="2538236" cy="55988"/>
            </a:xfrm>
            <a:custGeom>
              <a:avLst/>
              <a:gdLst/>
              <a:ahLst/>
              <a:cxnLst/>
              <a:rect r="r" b="b" t="t" l="l"/>
              <a:pathLst>
                <a:path h="55988" w="2538236">
                  <a:moveTo>
                    <a:pt x="0" y="0"/>
                  </a:moveTo>
                  <a:lnTo>
                    <a:pt x="2538236" y="0"/>
                  </a:lnTo>
                  <a:lnTo>
                    <a:pt x="2538236" y="55988"/>
                  </a:lnTo>
                  <a:lnTo>
                    <a:pt x="0" y="55988"/>
                  </a:lnTo>
                  <a:close/>
                </a:path>
              </a:pathLst>
            </a:custGeom>
            <a:gradFill rotWithShape="true">
              <a:gsLst>
                <a:gs pos="0">
                  <a:srgbClr val="E4B795">
                    <a:alpha val="100000"/>
                  </a:srgbClr>
                </a:gs>
                <a:gs pos="50000">
                  <a:srgbClr val="699ACD">
                    <a:alpha val="100000"/>
                  </a:srgbClr>
                </a:gs>
                <a:gs pos="100000">
                  <a:srgbClr val="2F679F">
                    <a:alpha val="100000"/>
                  </a:srgbClr>
                </a:gs>
              </a:gsLst>
              <a:path path="circle">
                <a:fillToRect l="0" r="100000" t="0" b="100000"/>
              </a:path>
              <a:tileRect r="0" l="-100000" b="0" t="-100000"/>
            </a:gradFill>
          </p:spPr>
        </p:sp>
        <p:sp>
          <p:nvSpPr>
            <p:cNvPr name="TextBox 5" id="5"/>
            <p:cNvSpPr txBox="true"/>
            <p:nvPr/>
          </p:nvSpPr>
          <p:spPr>
            <a:xfrm>
              <a:off x="0" y="-57150"/>
              <a:ext cx="2538236" cy="113138"/>
            </a:xfrm>
            <a:prstGeom prst="rect">
              <a:avLst/>
            </a:prstGeom>
          </p:spPr>
          <p:txBody>
            <a:bodyPr anchor="ctr" rtlCol="false" tIns="50800" lIns="50800" bIns="50800" rIns="50800"/>
            <a:lstStyle/>
            <a:p>
              <a:pPr algn="ctr">
                <a:lnSpc>
                  <a:spcPts val="3639"/>
                </a:lnSpc>
              </a:pPr>
            </a:p>
          </p:txBody>
        </p:sp>
      </p:grpSp>
      <p:sp>
        <p:nvSpPr>
          <p:cNvPr name="Freeform 6" id="6"/>
          <p:cNvSpPr/>
          <p:nvPr/>
        </p:nvSpPr>
        <p:spPr>
          <a:xfrm flipH="false" flipV="true" rot="0">
            <a:off x="-641393" y="-1165054"/>
            <a:ext cx="6732105" cy="4030848"/>
          </a:xfrm>
          <a:custGeom>
            <a:avLst/>
            <a:gdLst/>
            <a:ahLst/>
            <a:cxnLst/>
            <a:rect r="r" b="b" t="t" l="l"/>
            <a:pathLst>
              <a:path h="4030848" w="6732105">
                <a:moveTo>
                  <a:pt x="0" y="4030848"/>
                </a:moveTo>
                <a:lnTo>
                  <a:pt x="6732105" y="4030848"/>
                </a:lnTo>
                <a:lnTo>
                  <a:pt x="6732105" y="0"/>
                </a:lnTo>
                <a:lnTo>
                  <a:pt x="0" y="0"/>
                </a:lnTo>
                <a:lnTo>
                  <a:pt x="0" y="4030848"/>
                </a:lnTo>
                <a:close/>
              </a:path>
            </a:pathLst>
          </a:custGeom>
          <a:blipFill>
            <a:blip r:embed="rId3"/>
            <a:stretch>
              <a:fillRect l="0" t="0" r="0" b="0"/>
            </a:stretch>
          </a:blipFill>
        </p:spPr>
      </p:sp>
      <p:sp>
        <p:nvSpPr>
          <p:cNvPr name="TextBox 11" id="11"/>
          <p:cNvSpPr txBox="true"/>
          <p:nvPr/>
        </p:nvSpPr>
        <p:spPr>
          <a:xfrm rot="0">
            <a:off x="8704575" y="783695"/>
            <a:ext cx="3001947" cy="351790"/>
          </a:xfrm>
          <a:prstGeom prst="rect">
            <a:avLst/>
          </a:prstGeom>
        </p:spPr>
        <p:txBody>
          <a:bodyPr anchor="t" rtlCol="false" tIns="0" lIns="0" bIns="0" rIns="0">
            <a:spAutoFit/>
          </a:bodyPr>
          <a:lstStyle/>
          <a:p>
            <a:pPr algn="l">
              <a:lnSpc>
                <a:spcPts val="2660"/>
              </a:lnSpc>
              <a:spcBef>
                <a:spcPct val="0"/>
              </a:spcBef>
            </a:pPr>
            <a:r>
              <a:rPr lang="en-US" sz="1900" spc="95">
                <a:solidFill>
                  <a:srgbClr val="164B82"/>
                </a:solidFill>
                <a:latin typeface="Calibri"/>
                <a:ea typeface="Telegraf Extra-Light"/>
                <a:cs typeface="Telegraf Extra-Light"/>
                <a:sym typeface="Telegraf Extra-Light"/>
              </a:rPr>
              <a:t>VIT Chennai</a:t>
            </a:r>
          </a:p>
        </p:txBody>
      </p:sp>
      <p:sp>
        <p:nvSpPr>
          <p:cNvPr name="TextBox 12" id="12"/>
          <p:cNvSpPr txBox="true"/>
          <p:nvPr/>
        </p:nvSpPr>
        <p:spPr>
          <a:xfrm rot="0">
            <a:off x="15067703" y="783695"/>
            <a:ext cx="2191597" cy="351790"/>
          </a:xfrm>
          <a:prstGeom prst="rect">
            <a:avLst/>
          </a:prstGeom>
        </p:spPr>
        <p:txBody>
          <a:bodyPr anchor="t" rtlCol="false" tIns="0" lIns="0" bIns="0" rIns="0">
            <a:spAutoFit/>
          </a:bodyPr>
          <a:lstStyle/>
          <a:p>
            <a:pPr algn="r">
              <a:lnSpc>
                <a:spcPts val="2660"/>
              </a:lnSpc>
              <a:spcBef>
                <a:spcPct val="0"/>
              </a:spcBef>
            </a:pPr>
            <a:r>
              <a:rPr lang="en-US" sz="1900" spc="95">
                <a:solidFill>
                  <a:srgbClr val="164B82"/>
                </a:solidFill>
                <a:latin typeface="Calibri"/>
                <a:ea typeface="Telegraf Extra-Light"/>
                <a:cs typeface="Telegraf Extra-Light"/>
                <a:sym typeface="Telegraf Extra-Light"/>
              </a:rPr>
              <a:t>2026</a:t>
            </a:r>
          </a:p>
        </p:txBody>
      </p:sp>
      <p:sp>
        <p:nvSpPr>
          <p:cNvPr name="TextBox 13" id="13"/>
          <p:cNvSpPr txBox="true"/>
          <p:nvPr/>
        </p:nvSpPr>
        <p:spPr>
          <a:xfrm rot="0">
            <a:off x="12346639" y="783695"/>
            <a:ext cx="2191597" cy="351790"/>
          </a:xfrm>
          <a:prstGeom prst="rect">
            <a:avLst/>
          </a:prstGeom>
        </p:spPr>
        <p:txBody>
          <a:bodyPr anchor="t" rtlCol="false" tIns="0" lIns="0" bIns="0" rIns="0">
            <a:spAutoFit/>
          </a:bodyPr>
          <a:lstStyle/>
          <a:p>
            <a:pPr algn="ctr">
              <a:lnSpc>
                <a:spcPts val="2660"/>
              </a:lnSpc>
              <a:spcBef>
                <a:spcPct val="0"/>
              </a:spcBef>
            </a:pPr>
            <a:r>
              <a:rPr lang="en-US" sz="1900" spc="95">
                <a:solidFill>
                  <a:srgbClr val="164B82"/>
                </a:solidFill>
                <a:latin typeface="Calibri"/>
                <a:ea typeface="Telegraf Extra-Light"/>
                <a:cs typeface="Telegraf Extra-Light"/>
                <a:sym typeface="Telegraf Extra-Light"/>
              </a:rPr>
              <a:t>BCSE497J</a:t>
            </a:r>
          </a:p>
        </p:txBody>
      </p:sp>
      <p:grpSp>
        <p:nvGrpSpPr>
          <p:cNvPr name="Group 14" id="14"/>
          <p:cNvGrpSpPr/>
          <p:nvPr/>
        </p:nvGrpSpPr>
        <p:grpSpPr>
          <a:xfrm rot="5400000">
            <a:off x="12742276" y="-5341984"/>
            <a:ext cx="643045" cy="12669823"/>
            <a:chOff x="0" y="0"/>
            <a:chExt cx="169362" cy="3336908"/>
          </a:xfrm>
        </p:grpSpPr>
        <p:sp>
          <p:nvSpPr>
            <p:cNvPr name="Freeform 15" id="15"/>
            <p:cNvSpPr/>
            <p:nvPr/>
          </p:nvSpPr>
          <p:spPr>
            <a:xfrm flipH="false" flipV="false" rot="0">
              <a:off x="0" y="0"/>
              <a:ext cx="169362" cy="3336908"/>
            </a:xfrm>
            <a:custGeom>
              <a:avLst/>
              <a:gdLst/>
              <a:ahLst/>
              <a:cxnLst/>
              <a:rect r="r" b="b" t="t" l="l"/>
              <a:pathLst>
                <a:path h="3336908" w="169362">
                  <a:moveTo>
                    <a:pt x="84681" y="0"/>
                  </a:moveTo>
                  <a:lnTo>
                    <a:pt x="84681" y="0"/>
                  </a:lnTo>
                  <a:cubicBezTo>
                    <a:pt x="107140" y="0"/>
                    <a:pt x="128678" y="8922"/>
                    <a:pt x="144559" y="24802"/>
                  </a:cubicBezTo>
                  <a:cubicBezTo>
                    <a:pt x="160440" y="40683"/>
                    <a:pt x="169362" y="62222"/>
                    <a:pt x="169362" y="84681"/>
                  </a:cubicBezTo>
                  <a:lnTo>
                    <a:pt x="169362" y="3252227"/>
                  </a:lnTo>
                  <a:cubicBezTo>
                    <a:pt x="169362" y="3274686"/>
                    <a:pt x="160440" y="3296225"/>
                    <a:pt x="144559" y="3312106"/>
                  </a:cubicBezTo>
                  <a:cubicBezTo>
                    <a:pt x="128678" y="3327986"/>
                    <a:pt x="107140" y="3336908"/>
                    <a:pt x="84681" y="3336908"/>
                  </a:cubicBezTo>
                  <a:lnTo>
                    <a:pt x="84681" y="3336908"/>
                  </a:lnTo>
                  <a:cubicBezTo>
                    <a:pt x="37913" y="3336908"/>
                    <a:pt x="0" y="3298995"/>
                    <a:pt x="0" y="3252227"/>
                  </a:cubicBezTo>
                  <a:lnTo>
                    <a:pt x="0" y="84681"/>
                  </a:lnTo>
                  <a:cubicBezTo>
                    <a:pt x="0" y="37913"/>
                    <a:pt x="37913" y="0"/>
                    <a:pt x="84681" y="0"/>
                  </a:cubicBezTo>
                  <a:close/>
                </a:path>
              </a:pathLst>
            </a:custGeom>
            <a:ln w="19050" cap="rnd">
              <a:solidFill>
                <a:srgbClr val="164B82"/>
              </a:solidFill>
              <a:prstDash val="solid"/>
              <a:round/>
            </a:ln>
          </p:spPr>
        </p:sp>
        <p:sp>
          <p:nvSpPr>
            <p:cNvPr name="TextBox 16" id="16"/>
            <p:cNvSpPr txBox="true"/>
            <p:nvPr/>
          </p:nvSpPr>
          <p:spPr>
            <a:xfrm>
              <a:off x="0" y="-57150"/>
              <a:ext cx="169362" cy="3394058"/>
            </a:xfrm>
            <a:prstGeom prst="rect">
              <a:avLst/>
            </a:prstGeom>
          </p:spPr>
          <p:txBody>
            <a:bodyPr anchor="ctr" rtlCol="false" tIns="50800" lIns="50800" bIns="50800" rIns="50800"/>
            <a:lstStyle/>
            <a:p>
              <a:pPr algn="ctr">
                <a:lnSpc>
                  <a:spcPts val="3639"/>
                </a:lnSpc>
              </a:pPr>
            </a:p>
          </p:txBody>
        </p:sp>
      </p:grpSp>
      <p:sp>
        <p:nvSpPr>
          <p:cNvPr id="17" name="Title"/>
          <p:cNvSpPr txBox="1"/>
          <p:nvPr/>
        </p:nvSpPr>
        <p:spPr>
          <a:xfrm>
            <a:off x="1024128" y="3063240"/>
            <a:ext cx="13258800" cy="3566160"/>
          </a:xfrm>
          <a:prstGeom prst="rect">
            <a:avLst/>
          </a:prstGeom>
          <a:noFill/>
        </p:spPr>
        <p:txBody>
          <a:bodyPr wrap="square" lIns="0" rIns="0" tIns="0" bIns="0" anchor="b">
            <a:spAutoFit/>
          </a:bodyPr>
          <a:lstStyle/>
          <a:p>
            <a:pPr algn="l"/>
            <a:r>
              <a:rPr sz="5400" b="1" i="0">
                <a:solidFill>
                  <a:srgbClr val="343434"/>
                </a:solidFill>
                <a:latin typeface="Calibri"/>
              </a:rPr>
              <a:t>Cross-Linguistic Transfer Diagnostics for Low-Resource Financial NLP in Indic Languages</a:t>
            </a:r>
          </a:p>
        </p:txBody>
      </p:sp>
      <p:sp>
        <p:nvSpPr>
          <p:cNvPr id="18" name="Subtitle"/>
          <p:cNvSpPr txBox="1"/>
          <p:nvPr/>
        </p:nvSpPr>
        <p:spPr>
          <a:xfrm>
            <a:off x="1024128" y="7315200"/>
            <a:ext cx="12801600" cy="548640"/>
          </a:xfrm>
          <a:prstGeom prst="rect">
            <a:avLst/>
          </a:prstGeom>
          <a:noFill/>
        </p:spPr>
        <p:txBody>
          <a:bodyPr wrap="square" lIns="0" rIns="0" tIns="0" bIns="0" anchor="t">
            <a:spAutoFit/>
          </a:bodyPr>
          <a:lstStyle/>
          <a:p>
            <a:pPr algn="l"/>
            <a:r>
              <a:rPr sz="2800" b="0" i="0">
                <a:solidFill>
                  <a:srgbClr val="343434"/>
                </a:solidFill>
                <a:latin typeface="Calibri"/>
              </a:rPr>
              <a:t>BCSE497J · Project I · Pre-final Guide Review · VIT Chennai</a:t>
            </a:r>
          </a:p>
        </p:txBody>
      </p:sp>
      <p:sp>
        <p:nvSpPr>
          <p:cNvPr id="19" name="Presenter"/>
          <p:cNvSpPr txBox="1"/>
          <p:nvPr/>
        </p:nvSpPr>
        <p:spPr>
          <a:xfrm>
            <a:off x="1024128" y="8138160"/>
            <a:ext cx="12801600" cy="457200"/>
          </a:xfrm>
          <a:prstGeom prst="rect">
            <a:avLst/>
          </a:prstGeom>
          <a:noFill/>
        </p:spPr>
        <p:txBody>
          <a:bodyPr wrap="square" lIns="0" rIns="0" tIns="0" bIns="0" anchor="t">
            <a:spAutoFit/>
          </a:bodyPr>
          <a:lstStyle/>
          <a:p>
            <a:pPr algn="l"/>
            <a:r>
              <a:rPr sz="2400" b="1" i="0">
                <a:solidFill>
                  <a:srgbClr val="164B82"/>
                </a:solidFill>
                <a:latin typeface="Calibri"/>
              </a:rPr>
              <a:t>Presented by: </a:t>
            </a:r>
            <a:r>
              <a:rPr sz="2400" b="0" i="0">
                <a:solidFill>
                  <a:srgbClr val="343434"/>
                </a:solidFill>
                <a:latin typeface="Calibri"/>
              </a:rPr>
              <a:t>[TO FILL: student name, register number]</a:t>
            </a:r>
          </a:p>
        </p:txBody>
      </p:sp>
      <p:sp>
        <p:nvSpPr>
          <p:cNvPr id="20" name="Guide"/>
          <p:cNvSpPr txBox="1"/>
          <p:nvPr/>
        </p:nvSpPr>
        <p:spPr>
          <a:xfrm>
            <a:off x="1024128" y="8732520"/>
            <a:ext cx="12801600" cy="457200"/>
          </a:xfrm>
          <a:prstGeom prst="rect">
            <a:avLst/>
          </a:prstGeom>
          <a:noFill/>
        </p:spPr>
        <p:txBody>
          <a:bodyPr wrap="square" lIns="0" rIns="0" tIns="0" bIns="0" anchor="t">
            <a:spAutoFit/>
          </a:bodyPr>
          <a:lstStyle/>
          <a:p>
            <a:pPr algn="l"/>
            <a:r>
              <a:rPr sz="2400" b="1" i="0">
                <a:solidFill>
                  <a:srgbClr val="164B82"/>
                </a:solidFill>
                <a:latin typeface="Calibri"/>
              </a:rPr>
              <a:t>Guide: </a:t>
            </a:r>
            <a:r>
              <a:rPr sz="2400" b="0" i="0">
                <a:solidFill>
                  <a:srgbClr val="343434"/>
                </a:solidFill>
                <a:latin typeface="Calibri"/>
              </a:rPr>
              <a:t>[TO FILL: guide name, designation]</a:t>
            </a:r>
          </a:p>
        </p:txBody>
      </p:sp>
    </p:spTree>
  </p:cSld>
  <p:clrMapOvr>
    <a:masterClrMapping/>
  </p:clrMapOvr>
</p:sld>
</file>

<file path=ppt/slides/slide11.xml><?xml version="1.0" encoding="utf-8"?>
<p:sld xmlns:p="http://schemas.openxmlformats.org/presentationml/2006/main" xmlns:a="http://schemas.openxmlformats.org/drawingml/2006/main" xmlns:r="http://schemas.openxmlformats.org/officeDocument/2006/relationships">
  <p:cSld>
    <p:bg>
      <p:bgPr>
        <a:solidFill>
          <a:srgbClr val="F2F7FA"/>
        </a:solidFill>
      </p:bgPr>
    </p:bg>
    <p:spTree>
      <p:nvGrpSpPr>
        <p:cNvPr id="1" name=""/>
        <p:cNvGrpSpPr/>
        <p:nvPr/>
      </p:nvGrpSpPr>
      <p:grpSpPr>
        <a:xfrm>
          <a:off x="0" y="0"/>
          <a:ext cx="0" cy="0"/>
          <a:chOff x="0" y="0"/>
          <a:chExt cx="0" cy="0"/>
        </a:xfrm>
      </p:grpSpPr>
      <p:grpSp>
        <p:nvGrpSpPr>
          <p:cNvPr name="Group 2" id="2"/>
          <p:cNvGrpSpPr/>
          <p:nvPr/>
        </p:nvGrpSpPr>
        <p:grpSpPr>
          <a:xfrm rot="0">
            <a:off x="4928310" y="5143500"/>
            <a:ext cx="8431381" cy="6106672"/>
            <a:chOff x="0" y="0"/>
            <a:chExt cx="2220611" cy="1608342"/>
          </a:xfrm>
        </p:grpSpPr>
        <p:sp>
          <p:nvSpPr>
            <p:cNvPr name="Freeform 3" id="3"/>
            <p:cNvSpPr/>
            <p:nvPr/>
          </p:nvSpPr>
          <p:spPr>
            <a:xfrm flipH="false" flipV="false" rot="0">
              <a:off x="0" y="0"/>
              <a:ext cx="2220611" cy="1608342"/>
            </a:xfrm>
            <a:custGeom>
              <a:avLst/>
              <a:gdLst/>
              <a:ahLst/>
              <a:cxnLst/>
              <a:rect r="r" b="b" t="t" l="l"/>
              <a:pathLst>
                <a:path h="1608342" w="2220611">
                  <a:moveTo>
                    <a:pt x="0" y="0"/>
                  </a:moveTo>
                  <a:lnTo>
                    <a:pt x="2220611" y="0"/>
                  </a:lnTo>
                  <a:lnTo>
                    <a:pt x="2220611" y="1608342"/>
                  </a:lnTo>
                  <a:lnTo>
                    <a:pt x="0" y="1608342"/>
                  </a:lnTo>
                  <a:close/>
                </a:path>
              </a:pathLst>
            </a:custGeom>
            <a:gradFill rotWithShape="true">
              <a:gsLst>
                <a:gs pos="0">
                  <a:srgbClr val="E4B795">
                    <a:alpha val="100000"/>
                  </a:srgbClr>
                </a:gs>
                <a:gs pos="50000">
                  <a:srgbClr val="699ACD">
                    <a:alpha val="100000"/>
                  </a:srgbClr>
                </a:gs>
                <a:gs pos="100000">
                  <a:srgbClr val="2F679F">
                    <a:alpha val="100000"/>
                  </a:srgbClr>
                </a:gs>
              </a:gsLst>
              <a:path path="circle">
                <a:fillToRect l="0" r="100000" t="0" b="100000"/>
              </a:path>
              <a:tileRect r="0" l="-100000" b="0" t="-100000"/>
            </a:gradFill>
          </p:spPr>
        </p:sp>
        <p:sp>
          <p:nvSpPr>
            <p:cNvPr name="TextBox 4" id="4"/>
            <p:cNvSpPr txBox="true"/>
            <p:nvPr/>
          </p:nvSpPr>
          <p:spPr>
            <a:xfrm>
              <a:off x="0" y="-57150"/>
              <a:ext cx="2220611" cy="1665492"/>
            </a:xfrm>
            <a:prstGeom prst="rect">
              <a:avLst/>
            </a:prstGeom>
          </p:spPr>
          <p:txBody>
            <a:bodyPr anchor="ctr" rtlCol="false" tIns="50800" lIns="50800" bIns="50800" rIns="50800"/>
            <a:lstStyle/>
            <a:p>
              <a:pPr algn="ctr">
                <a:lnSpc>
                  <a:spcPts val="3639"/>
                </a:lnSpc>
              </a:pPr>
            </a:p>
          </p:txBody>
        </p:sp>
      </p:grpSp>
      <p:sp>
        <p:nvSpPr>
          <p:cNvPr name="Freeform 5" id="5"/>
          <p:cNvSpPr/>
          <p:nvPr/>
        </p:nvSpPr>
        <p:spPr>
          <a:xfrm flipH="false" flipV="false" rot="760705">
            <a:off x="1423346" y="-1948290"/>
            <a:ext cx="15441309" cy="6543255"/>
          </a:xfrm>
          <a:custGeom>
            <a:avLst/>
            <a:gdLst/>
            <a:ahLst/>
            <a:cxnLst/>
            <a:rect r="r" b="b" t="t" l="l"/>
            <a:pathLst>
              <a:path h="6543255" w="15441309">
                <a:moveTo>
                  <a:pt x="0" y="0"/>
                </a:moveTo>
                <a:lnTo>
                  <a:pt x="15441308" y="0"/>
                </a:lnTo>
                <a:lnTo>
                  <a:pt x="15441308" y="6543255"/>
                </a:lnTo>
                <a:lnTo>
                  <a:pt x="0" y="6543255"/>
                </a:lnTo>
                <a:lnTo>
                  <a:pt x="0" y="0"/>
                </a:lnTo>
                <a:close/>
              </a:path>
            </a:pathLst>
          </a:custGeom>
          <a:blipFill>
            <a:blip r:embed="rId2"/>
            <a:stretch>
              <a:fillRect l="0" t="0" r="0" b="0"/>
            </a:stretch>
          </a:blipFill>
        </p:spPr>
      </p:sp>
      <p:sp>
        <p:nvSpPr>
          <p:cNvPr name="TextBox 6" id="6"/>
          <p:cNvSpPr txBox="true"/>
          <p:nvPr/>
        </p:nvSpPr>
        <p:spPr>
          <a:xfrm rot="0">
            <a:off x="4421043" y="3816797"/>
            <a:ext cx="9445915" cy="1311026"/>
          </a:xfrm>
          <a:prstGeom prst="rect">
            <a:avLst/>
          </a:prstGeom>
        </p:spPr>
        <p:txBody>
          <a:bodyPr anchor="t" rtlCol="false" tIns="0" lIns="0" bIns="0" rIns="0">
            <a:spAutoFit/>
          </a:bodyPr>
          <a:lstStyle/>
          <a:p>
            <a:pPr algn="ctr">
              <a:lnSpc>
                <a:spcPts val="9059"/>
              </a:lnSpc>
            </a:pPr>
            <a:r>
              <a:rPr lang="en-US" b="true" sz="9339">
                <a:solidFill>
                  <a:srgbClr val="343434"/>
                </a:solidFill>
                <a:latin typeface="Calibri"/>
                <a:ea typeface="Telegraf Bold"/>
                <a:cs typeface="Telegraf Bold"/>
                <a:sym typeface="Telegraf Bold"/>
              </a:rPr>
              <a:t>THANK YOU</a:t>
            </a:r>
          </a:p>
        </p:txBody>
      </p:sp>
      <p:sp>
        <p:nvSpPr>
          <p:cNvPr name="TextBox 7" id="7"/>
          <p:cNvSpPr txBox="true"/>
          <p:nvPr/>
        </p:nvSpPr>
        <p:spPr>
          <a:xfrm rot="0">
            <a:off x="5435577" y="5566396"/>
            <a:ext cx="7416846" cy="1431417"/>
          </a:xfrm>
          <a:prstGeom prst="rect">
            <a:avLst/>
          </a:prstGeom>
        </p:spPr>
        <p:txBody>
          <a:bodyPr anchor="t" rtlCol="false" tIns="0" lIns="0" bIns="0" rIns="0">
            <a:spAutoFit/>
          </a:bodyPr>
          <a:lstStyle/>
          <a:p>
            <a:pPr algn="ctr">
              <a:lnSpc>
                <a:spcPts val="5544"/>
              </a:lnSpc>
            </a:pPr>
            <a:r>
              <a:rPr lang="en-US" sz="4200" spc="100">
                <a:solidFill>
                  <a:srgbClr val="F2F7FA"/>
                </a:solidFill>
                <a:latin typeface="Calibri"/>
                <a:ea typeface="Telegraf"/>
                <a:cs typeface="Telegraf"/>
                <a:sym typeface="Telegraf"/>
              </a:rPr>
              <a:t>QUESTIONS AND DISCUSSION</a:t>
            </a:r>
          </a:p>
        </p:txBody>
      </p:sp>
      <p:sp>
        <p:nvSpPr>
          <p:cNvPr name="TextBox 8" id="8"/>
          <p:cNvSpPr txBox="true"/>
          <p:nvPr/>
        </p:nvSpPr>
        <p:spPr>
          <a:xfrm rot="0">
            <a:off x="6660997" y="8911970"/>
            <a:ext cx="4966006" cy="346330"/>
          </a:xfrm>
          <a:prstGeom prst="rect">
            <a:avLst/>
          </a:prstGeom>
        </p:spPr>
        <p:txBody>
          <a:bodyPr anchor="t" rtlCol="false" tIns="0" lIns="0" bIns="0" rIns="0">
            <a:spAutoFit/>
          </a:bodyPr>
          <a:lstStyle/>
          <a:p>
            <a:pPr algn="ctr">
              <a:lnSpc>
                <a:spcPts val="2328"/>
              </a:lnSpc>
            </a:pPr>
            <a:r>
              <a:rPr lang="en-US" sz="2400">
                <a:solidFill>
                  <a:srgbClr val="F2F7FA"/>
                </a:solidFill>
                <a:latin typeface="Calibri"/>
                <a:ea typeface="Telegraf"/>
                <a:cs typeface="Telegraf"/>
                <a:sym typeface="Telegraf"/>
              </a:rPr>
              <a:t>[TO FILL: contact email]</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name="Freeform 2" id="2"/>
          <p:cNvSpPr/>
          <p:nvPr/>
        </p:nvSpPr>
        <p:spPr>
          <a:xfrm flipH="false" flipV="false" rot="225008">
            <a:off x="-467361" y="-2757747"/>
            <a:ext cx="12701350" cy="5382197"/>
          </a:xfrm>
          <a:custGeom>
            <a:avLst/>
            <a:gdLst/>
            <a:ahLst/>
            <a:cxnLst/>
            <a:rect r="r" b="b" t="t" l="l"/>
            <a:pathLst>
              <a:path h="5382197" w="12701350">
                <a:moveTo>
                  <a:pt x="0" y="0"/>
                </a:moveTo>
                <a:lnTo>
                  <a:pt x="12701349" y="0"/>
                </a:lnTo>
                <a:lnTo>
                  <a:pt x="12701349" y="5382197"/>
                </a:lnTo>
                <a:lnTo>
                  <a:pt x="0" y="5382197"/>
                </a:lnTo>
                <a:lnTo>
                  <a:pt x="0" y="0"/>
                </a:lnTo>
                <a:close/>
              </a:path>
            </a:pathLst>
          </a:custGeom>
          <a:blipFill>
            <a:blip r:embed="rId2"/>
            <a:stretch>
              <a:fillRect l="0" t="0" r="0" b="0"/>
            </a:stretch>
          </a:blipFill>
        </p:spPr>
      </p:sp>
      <p:sp>
        <p:nvSpPr>
          <p:cNvPr name="Freeform 3" id="3"/>
          <p:cNvSpPr/>
          <p:nvPr/>
        </p:nvSpPr>
        <p:spPr>
          <a:xfrm flipH="false" flipV="false" rot="0">
            <a:off x="10986204" y="6250419"/>
            <a:ext cx="11514218" cy="8506128"/>
          </a:xfrm>
          <a:custGeom>
            <a:avLst/>
            <a:gdLst/>
            <a:ahLst/>
            <a:cxnLst/>
            <a:rect r="r" b="b" t="t" l="l"/>
            <a:pathLst>
              <a:path h="8506128" w="11514218">
                <a:moveTo>
                  <a:pt x="0" y="0"/>
                </a:moveTo>
                <a:lnTo>
                  <a:pt x="11514218" y="0"/>
                </a:lnTo>
                <a:lnTo>
                  <a:pt x="11514218" y="8506128"/>
                </a:lnTo>
                <a:lnTo>
                  <a:pt x="0" y="8506128"/>
                </a:lnTo>
                <a:lnTo>
                  <a:pt x="0" y="0"/>
                </a:lnTo>
                <a:close/>
              </a:path>
            </a:pathLst>
          </a:custGeom>
          <a:blipFill>
            <a:blip r:embed="rId3"/>
            <a:stretch>
              <a:fillRect l="0" t="0" r="0" b="0"/>
            </a:stretch>
          </a:blipFill>
        </p:spPr>
      </p:sp>
      <p:grpSp>
        <p:nvGrpSpPr>
          <p:cNvPr name="Group 4" id="4"/>
          <p:cNvGrpSpPr/>
          <p:nvPr/>
        </p:nvGrpSpPr>
        <p:grpSpPr>
          <a:xfrm rot="0">
            <a:off x="17259300" y="-392510"/>
            <a:ext cx="1437565" cy="11072020"/>
            <a:chOff x="0" y="0"/>
            <a:chExt cx="378618" cy="2916088"/>
          </a:xfrm>
        </p:grpSpPr>
        <p:sp>
          <p:nvSpPr>
            <p:cNvPr name="Freeform 5" id="5"/>
            <p:cNvSpPr/>
            <p:nvPr/>
          </p:nvSpPr>
          <p:spPr>
            <a:xfrm flipH="false" flipV="false" rot="0">
              <a:off x="0" y="0"/>
              <a:ext cx="378618" cy="2916088"/>
            </a:xfrm>
            <a:custGeom>
              <a:avLst/>
              <a:gdLst/>
              <a:ahLst/>
              <a:cxnLst/>
              <a:rect r="r" b="b" t="t" l="l"/>
              <a:pathLst>
                <a:path h="2916088" w="378618">
                  <a:moveTo>
                    <a:pt x="0" y="0"/>
                  </a:moveTo>
                  <a:lnTo>
                    <a:pt x="378618" y="0"/>
                  </a:lnTo>
                  <a:lnTo>
                    <a:pt x="378618" y="2916088"/>
                  </a:lnTo>
                  <a:lnTo>
                    <a:pt x="0" y="2916088"/>
                  </a:lnTo>
                  <a:close/>
                </a:path>
              </a:pathLst>
            </a:custGeom>
            <a:gradFill rotWithShape="true">
              <a:gsLst>
                <a:gs pos="0">
                  <a:srgbClr val="E4B795">
                    <a:alpha val="100000"/>
                  </a:srgbClr>
                </a:gs>
                <a:gs pos="50000">
                  <a:srgbClr val="699ACD">
                    <a:alpha val="100000"/>
                  </a:srgbClr>
                </a:gs>
                <a:gs pos="100000">
                  <a:srgbClr val="2F679F">
                    <a:alpha val="100000"/>
                  </a:srgbClr>
                </a:gs>
              </a:gsLst>
              <a:path path="circle">
                <a:fillToRect l="0" r="100000" t="0" b="100000"/>
              </a:path>
              <a:tileRect r="0" l="-100000" b="0" t="-100000"/>
            </a:gradFill>
          </p:spPr>
        </p:sp>
        <p:sp>
          <p:nvSpPr>
            <p:cNvPr name="TextBox 6" id="6"/>
            <p:cNvSpPr txBox="true"/>
            <p:nvPr/>
          </p:nvSpPr>
          <p:spPr>
            <a:xfrm>
              <a:off x="0" y="-57150"/>
              <a:ext cx="378618" cy="2973238"/>
            </a:xfrm>
            <a:prstGeom prst="rect">
              <a:avLst/>
            </a:prstGeom>
          </p:spPr>
          <p:txBody>
            <a:bodyPr anchor="ctr" rtlCol="false" tIns="50800" lIns="50800" bIns="50800" rIns="50800"/>
            <a:lstStyle/>
            <a:p>
              <a:pPr algn="ctr">
                <a:lnSpc>
                  <a:spcPts val="3639"/>
                </a:lnSpc>
              </a:pPr>
            </a:p>
          </p:txBody>
        </p:sp>
      </p:grpSp>
      <p:sp>
        <p:nvSpPr>
          <p:cNvPr name="TextBox 7" id="7"/>
          <p:cNvSpPr txBox="true"/>
          <p:nvPr/>
        </p:nvSpPr>
        <p:spPr>
          <a:xfrm rot="0">
            <a:off x="8021110" y="782737"/>
            <a:ext cx="2492949" cy="351790"/>
          </a:xfrm>
          <a:prstGeom prst="rect">
            <a:avLst/>
          </a:prstGeom>
        </p:spPr>
        <p:txBody>
          <a:bodyPr anchor="t" rtlCol="false" tIns="0" lIns="0" bIns="0" rIns="0">
            <a:spAutoFit/>
          </a:bodyPr>
          <a:lstStyle/>
          <a:p>
            <a:pPr algn="l">
              <a:lnSpc>
                <a:spcPts val="2660"/>
              </a:lnSpc>
              <a:spcBef>
                <a:spcPct val="0"/>
              </a:spcBef>
            </a:pPr>
            <a:r>
              <a:rPr lang="en-US" sz="1900" spc="95">
                <a:solidFill>
                  <a:srgbClr val="164B82"/>
                </a:solidFill>
                <a:latin typeface="Calibri"/>
                <a:ea typeface="Telegraf Extra-Light"/>
                <a:cs typeface="Telegraf Extra-Light"/>
                <a:sym typeface="Telegraf Extra-Light"/>
              </a:rPr>
              <a:t>BCSE497J · Project I</a:t>
            </a:r>
          </a:p>
        </p:txBody>
      </p:sp>
      <p:sp>
        <p:nvSpPr>
          <p:cNvPr name="TextBox 8" id="8"/>
          <p:cNvSpPr txBox="true"/>
          <p:nvPr/>
        </p:nvSpPr>
        <p:spPr>
          <a:xfrm rot="0">
            <a:off x="13305333" y="782737"/>
            <a:ext cx="1819999" cy="351790"/>
          </a:xfrm>
          <a:prstGeom prst="rect">
            <a:avLst/>
          </a:prstGeom>
        </p:spPr>
        <p:txBody>
          <a:bodyPr anchor="t" rtlCol="false" tIns="0" lIns="0" bIns="0" rIns="0">
            <a:spAutoFit/>
          </a:bodyPr>
          <a:lstStyle/>
          <a:p>
            <a:pPr algn="r">
              <a:lnSpc>
                <a:spcPts val="2660"/>
              </a:lnSpc>
              <a:spcBef>
                <a:spcPct val="0"/>
              </a:spcBef>
            </a:pPr>
            <a:r>
              <a:rPr lang="en-US" sz="1900" spc="95">
                <a:solidFill>
                  <a:srgbClr val="164B82"/>
                </a:solidFill>
                <a:latin typeface="Calibri"/>
                <a:ea typeface="Telegraf Extra-Light"/>
                <a:cs typeface="Telegraf Extra-Light"/>
                <a:sym typeface="Telegraf Extra-Light"/>
              </a:rPr>
              <a:t>Oct 2026</a:t>
            </a:r>
          </a:p>
        </p:txBody>
      </p:sp>
      <p:sp>
        <p:nvSpPr>
          <p:cNvPr name="TextBox 9" id="9"/>
          <p:cNvSpPr txBox="true"/>
          <p:nvPr/>
        </p:nvSpPr>
        <p:spPr>
          <a:xfrm rot="0">
            <a:off x="11045641" y="782737"/>
            <a:ext cx="1819999" cy="351790"/>
          </a:xfrm>
          <a:prstGeom prst="rect">
            <a:avLst/>
          </a:prstGeom>
        </p:spPr>
        <p:txBody>
          <a:bodyPr anchor="t" rtlCol="false" tIns="0" lIns="0" bIns="0" rIns="0">
            <a:spAutoFit/>
          </a:bodyPr>
          <a:lstStyle/>
          <a:p>
            <a:pPr algn="ctr">
              <a:lnSpc>
                <a:spcPts val="2660"/>
              </a:lnSpc>
              <a:spcBef>
                <a:spcPct val="0"/>
              </a:spcBef>
            </a:pPr>
            <a:r>
              <a:rPr lang="en-US" sz="1900" spc="95">
                <a:solidFill>
                  <a:srgbClr val="164B82"/>
                </a:solidFill>
                <a:latin typeface="Calibri"/>
                <a:ea typeface="Telegraf Extra-Light"/>
                <a:cs typeface="Telegraf Extra-Light"/>
                <a:sym typeface="Telegraf Extra-Light"/>
              </a:rPr>
              <a:t>Guide Review</a:t>
            </a:r>
          </a:p>
        </p:txBody>
      </p:sp>
      <p:grpSp>
        <p:nvGrpSpPr>
          <p:cNvPr name="Group 10" id="10"/>
          <p:cNvGrpSpPr/>
          <p:nvPr/>
        </p:nvGrpSpPr>
        <p:grpSpPr>
          <a:xfrm rot="5400000">
            <a:off x="11279340" y="-3711595"/>
            <a:ext cx="643045" cy="9407130"/>
            <a:chOff x="0" y="0"/>
            <a:chExt cx="169362" cy="2477598"/>
          </a:xfrm>
        </p:grpSpPr>
        <p:sp>
          <p:nvSpPr>
            <p:cNvPr name="Freeform 11" id="11"/>
            <p:cNvSpPr/>
            <p:nvPr/>
          </p:nvSpPr>
          <p:spPr>
            <a:xfrm flipH="false" flipV="false" rot="0">
              <a:off x="0" y="0"/>
              <a:ext cx="169362" cy="2477598"/>
            </a:xfrm>
            <a:custGeom>
              <a:avLst/>
              <a:gdLst/>
              <a:ahLst/>
              <a:cxnLst/>
              <a:rect r="r" b="b" t="t" l="l"/>
              <a:pathLst>
                <a:path h="2477598" w="169362">
                  <a:moveTo>
                    <a:pt x="84681" y="0"/>
                  </a:moveTo>
                  <a:lnTo>
                    <a:pt x="84681" y="0"/>
                  </a:lnTo>
                  <a:cubicBezTo>
                    <a:pt x="107140" y="0"/>
                    <a:pt x="128678" y="8922"/>
                    <a:pt x="144559" y="24802"/>
                  </a:cubicBezTo>
                  <a:cubicBezTo>
                    <a:pt x="160440" y="40683"/>
                    <a:pt x="169362" y="62222"/>
                    <a:pt x="169362" y="84681"/>
                  </a:cubicBezTo>
                  <a:lnTo>
                    <a:pt x="169362" y="2392917"/>
                  </a:lnTo>
                  <a:cubicBezTo>
                    <a:pt x="169362" y="2439685"/>
                    <a:pt x="131449" y="2477598"/>
                    <a:pt x="84681" y="2477598"/>
                  </a:cubicBezTo>
                  <a:lnTo>
                    <a:pt x="84681" y="2477598"/>
                  </a:lnTo>
                  <a:cubicBezTo>
                    <a:pt x="37913" y="2477598"/>
                    <a:pt x="0" y="2439685"/>
                    <a:pt x="0" y="2392917"/>
                  </a:cubicBezTo>
                  <a:lnTo>
                    <a:pt x="0" y="84681"/>
                  </a:lnTo>
                  <a:cubicBezTo>
                    <a:pt x="0" y="37913"/>
                    <a:pt x="37913" y="0"/>
                    <a:pt x="84681" y="0"/>
                  </a:cubicBezTo>
                  <a:close/>
                </a:path>
              </a:pathLst>
            </a:custGeom>
            <a:ln w="19050" cap="rnd">
              <a:solidFill>
                <a:srgbClr val="164B82"/>
              </a:solidFill>
              <a:prstDash val="solid"/>
              <a:round/>
            </a:ln>
          </p:spPr>
        </p:sp>
        <p:sp>
          <p:nvSpPr>
            <p:cNvPr name="TextBox 12" id="12"/>
            <p:cNvSpPr txBox="true"/>
            <p:nvPr/>
          </p:nvSpPr>
          <p:spPr>
            <a:xfrm>
              <a:off x="0" y="-57150"/>
              <a:ext cx="169362" cy="2534748"/>
            </a:xfrm>
            <a:prstGeom prst="rect">
              <a:avLst/>
            </a:prstGeom>
          </p:spPr>
          <p:txBody>
            <a:bodyPr anchor="ctr" rtlCol="false" tIns="50800" lIns="50800" bIns="50800" rIns="50800"/>
            <a:lstStyle/>
            <a:p>
              <a:pPr algn="ctr">
                <a:lnSpc>
                  <a:spcPts val="3639"/>
                </a:lnSpc>
              </a:pPr>
            </a:p>
          </p:txBody>
        </p:sp>
      </p:grpSp>
      <p:sp>
        <p:nvSpPr>
          <p:cNvPr id="13" name="Title"/>
          <p:cNvSpPr txBox="1"/>
          <p:nvPr/>
        </p:nvSpPr>
        <p:spPr>
          <a:xfrm>
            <a:off x="1005840" y="1371600"/>
            <a:ext cx="15727680" cy="1097280"/>
          </a:xfrm>
          <a:prstGeom prst="rect">
            <a:avLst/>
          </a:prstGeom>
          <a:noFill/>
        </p:spPr>
        <p:txBody>
          <a:bodyPr wrap="square" lIns="0" rIns="0" tIns="0" bIns="0" anchor="ctr">
            <a:spAutoFit/>
          </a:bodyPr>
          <a:lstStyle/>
          <a:p>
            <a:pPr algn="l"/>
            <a:r>
              <a:rPr sz="4800" b="1" i="0">
                <a:solidFill>
                  <a:srgbClr val="343434"/>
                </a:solidFill>
                <a:latin typeface="Calibri"/>
              </a:rPr>
              <a:t>Problem Statement and Motivation</a:t>
            </a:r>
          </a:p>
        </p:txBody>
      </p:sp>
      <p:sp>
        <p:nvSpPr>
          <p:cNvPr id="14" name="Page"/>
          <p:cNvSpPr txBox="1"/>
          <p:nvPr/>
        </p:nvSpPr>
        <p:spPr>
          <a:xfrm>
            <a:off x="1005840" y="9646920"/>
            <a:ext cx="3657600" cy="365760"/>
          </a:xfrm>
          <a:prstGeom prst="rect">
            <a:avLst/>
          </a:prstGeom>
          <a:noFill/>
        </p:spPr>
        <p:txBody>
          <a:bodyPr wrap="square" lIns="0" rIns="0" tIns="0" bIns="0" anchor="t">
            <a:spAutoFit/>
          </a:bodyPr>
          <a:lstStyle/>
          <a:p>
            <a:pPr algn="l"/>
            <a:r>
              <a:rPr sz="1800" b="0" i="0">
                <a:solidFill>
                  <a:srgbClr val="164B82"/>
                </a:solidFill>
                <a:latin typeface="Calibri"/>
              </a:rPr>
              <a:t>2 / 19</a:t>
            </a:r>
          </a:p>
        </p:txBody>
      </p:sp>
      <p:sp>
        <p:nvSpPr>
          <p:cNvPr id="15" name="Problem bullets"/>
          <p:cNvSpPr txBox="1"/>
          <p:nvPr/>
        </p:nvSpPr>
        <p:spPr>
          <a:xfrm>
            <a:off x="1005840" y="2834640"/>
            <a:ext cx="8503920" cy="4206240"/>
          </a:xfrm>
          <a:prstGeom prst="rect">
            <a:avLst/>
          </a:prstGeom>
          <a:noFill/>
        </p:spPr>
        <p:txBody>
          <a:bodyPr wrap="square" lIns="0" rIns="0" tIns="0" bIns="0">
            <a:spAutoFit/>
          </a:bodyPr>
          <a:lstStyle/>
          <a:p>
            <a:pPr marL="384048" indent="-384048">
              <a:spcAft>
                <a:spcPts val="1600"/>
              </a:spcAft>
              <a:buClr>
                <a:srgbClr val="2F679F"/>
              </a:buClr>
              <a:buFont typeface="Arial"/>
              <a:buChar char="•"/>
            </a:pPr>
            <a:r>
              <a:rPr sz="3000" b="0">
                <a:solidFill>
                  <a:srgbClr val="343434"/>
                </a:solidFill>
                <a:latin typeface="Calibri"/>
              </a:rPr>
              <a:t>Multilingual models transfer well on general benchmarks</a:t>
            </a:r>
          </a:p>
          <a:p>
            <a:pPr marL="384048" indent="-384048">
              <a:spcAft>
                <a:spcPts val="1600"/>
              </a:spcAft>
              <a:buClr>
                <a:srgbClr val="2F679F"/>
              </a:buClr>
              <a:buFont typeface="Arial"/>
              <a:buChar char="•"/>
            </a:pPr>
            <a:r>
              <a:rPr sz="3000" b="0">
                <a:solidFill>
                  <a:srgbClr val="343434"/>
                </a:solidFill>
                <a:latin typeface="Calibri"/>
              </a:rPr>
              <a:t>Financial meaning across Indic languages is untested</a:t>
            </a:r>
          </a:p>
          <a:p>
            <a:pPr marL="384048" indent="-384048">
              <a:spcAft>
                <a:spcPts val="1600"/>
              </a:spcAft>
              <a:buClr>
                <a:srgbClr val="2F679F"/>
              </a:buClr>
              <a:buFont typeface="Arial"/>
              <a:buChar char="•"/>
            </a:pPr>
            <a:r>
              <a:rPr sz="3000" b="0">
                <a:solidFill>
                  <a:srgbClr val="343434"/>
                </a:solidFill>
                <a:latin typeface="Calibri"/>
              </a:rPr>
              <a:t>IndicFinNLP offers single-language baselines only</a:t>
            </a:r>
          </a:p>
          <a:p>
            <a:pPr marL="384048" indent="-384048">
              <a:spcAft>
                <a:spcPts val="1600"/>
              </a:spcAft>
              <a:buClr>
                <a:srgbClr val="2F679F"/>
              </a:buClr>
              <a:buFont typeface="Arial"/>
              <a:buChar char="•"/>
            </a:pPr>
            <a:r>
              <a:rPr sz="3000" b="0">
                <a:solidFill>
                  <a:srgbClr val="343434"/>
                </a:solidFill>
                <a:latin typeface="Calibri"/>
              </a:rPr>
              <a:t>Language splits differ in topic, entity and difficulty</a:t>
            </a:r>
          </a:p>
          <a:p>
            <a:pPr marL="384048" indent="-384048">
              <a:spcAft>
                <a:spcPts val="1600"/>
              </a:spcAft>
              <a:buClr>
                <a:srgbClr val="2F679F"/>
              </a:buClr>
              <a:buFont typeface="Arial"/>
              <a:buChar char="•"/>
            </a:pPr>
            <a:r>
              <a:rPr sz="3000" b="0">
                <a:solidFill>
                  <a:srgbClr val="343434"/>
                </a:solidFill>
                <a:latin typeface="Calibri"/>
              </a:rPr>
              <a:t>No parallel Indic financial or ESG test set exists</a:t>
            </a:r>
          </a:p>
        </p:txBody>
      </p:sp>
      <p:sp>
        <p:nvSpPr>
          <p:cNvPr id="16" name="RQ card"/>
          <p:cNvSpPr/>
          <p:nvPr/>
        </p:nvSpPr>
        <p:spPr>
          <a:xfrm>
            <a:off x="9966960" y="2834640"/>
            <a:ext cx="6766560" cy="4114800"/>
          </a:xfrm>
          <a:prstGeom prst="roundRect">
            <a:avLst>
              <a:gd name="adj" fmla="val 6000"/>
            </a:avLst>
          </a:prstGeom>
          <a:solidFill>
            <a:srgbClr val="164B82">
              <a:alpha val="100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TextBox 16"/>
          <p:cNvSpPr txBox="1"/>
          <p:nvPr/>
        </p:nvSpPr>
        <p:spPr>
          <a:xfrm>
            <a:off x="10424160" y="3154680"/>
            <a:ext cx="5852160" cy="457200"/>
          </a:xfrm>
          <a:prstGeom prst="rect">
            <a:avLst/>
          </a:prstGeom>
          <a:noFill/>
        </p:spPr>
        <p:txBody>
          <a:bodyPr wrap="square" lIns="0" rIns="0" tIns="0" bIns="0" anchor="t">
            <a:spAutoFit/>
          </a:bodyPr>
          <a:lstStyle/>
          <a:p>
            <a:pPr algn="l"/>
            <a:r>
              <a:rPr sz="2000" b="1" i="0">
                <a:solidFill>
                  <a:srgbClr val="E4B795"/>
                </a:solidFill>
                <a:latin typeface="Calibri"/>
              </a:rPr>
              <a:t>RESEARCH QUESTION</a:t>
            </a:r>
          </a:p>
        </p:txBody>
      </p:sp>
      <p:sp>
        <p:nvSpPr>
          <p:cNvPr id="18" name="RQ text"/>
          <p:cNvSpPr txBox="1"/>
          <p:nvPr/>
        </p:nvSpPr>
        <p:spPr>
          <a:xfrm>
            <a:off x="10424160" y="3749039"/>
            <a:ext cx="5852160" cy="3017520"/>
          </a:xfrm>
          <a:prstGeom prst="rect">
            <a:avLst/>
          </a:prstGeom>
          <a:noFill/>
        </p:spPr>
        <p:txBody>
          <a:bodyPr wrap="square" lIns="0" rIns="0" tIns="0" bIns="0" anchor="t">
            <a:spAutoFit/>
          </a:bodyPr>
          <a:lstStyle/>
          <a:p>
            <a:pPr algn="l"/>
            <a:r>
              <a:rPr sz="3000" b="1" i="0">
                <a:solidFill>
                  <a:srgbClr val="FFFFFF"/>
                </a:solidFill>
                <a:latin typeface="Calibri"/>
              </a:rPr>
              <a:t>Do multilingual language models preserve financial meaning when knowledge transfers between Indic languages?</a:t>
            </a:r>
          </a:p>
        </p:txBody>
      </p:sp>
      <p:sp>
        <p:nvSpPr>
          <p:cNvPr id="19" name="Finance demands"/>
          <p:cNvSpPr/>
          <p:nvPr/>
        </p:nvSpPr>
        <p:spPr>
          <a:xfrm>
            <a:off x="1005840" y="7498079"/>
            <a:ext cx="15727680" cy="1737360"/>
          </a:xfrm>
          <a:prstGeom prst="roundRect">
            <a:avLst>
              <a:gd name="adj" fmla="val 6000"/>
            </a:avLst>
          </a:prstGeom>
          <a:solidFill>
            <a:srgbClr val="FFFFFF">
              <a:alpha val="88000"/>
            </a:srgbClr>
          </a:solidFill>
          <a:ln w="15875">
            <a:solidFill>
              <a:srgbClr val="CFDDEC"/>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0" name="TextBox 19"/>
          <p:cNvSpPr txBox="1"/>
          <p:nvPr/>
        </p:nvSpPr>
        <p:spPr>
          <a:xfrm>
            <a:off x="1371600" y="7726679"/>
            <a:ext cx="3291840" cy="1280160"/>
          </a:xfrm>
          <a:prstGeom prst="rect">
            <a:avLst/>
          </a:prstGeom>
          <a:noFill/>
        </p:spPr>
        <p:txBody>
          <a:bodyPr wrap="square" lIns="0" rIns="0" tIns="0" bIns="0" anchor="ctr">
            <a:spAutoFit/>
          </a:bodyPr>
          <a:lstStyle/>
          <a:p>
            <a:pPr algn="l"/>
            <a:r>
              <a:rPr sz="2400" b="1" i="0">
                <a:solidFill>
                  <a:srgbClr val="164B82"/>
                </a:solidFill>
                <a:latin typeface="Calibri"/>
              </a:rPr>
              <a:t>Finance adds its own demands</a:t>
            </a:r>
          </a:p>
        </p:txBody>
      </p:sp>
      <p:sp>
        <p:nvSpPr>
          <p:cNvPr id="21" name="Rounded Rectangle 20"/>
          <p:cNvSpPr/>
          <p:nvPr/>
        </p:nvSpPr>
        <p:spPr>
          <a:xfrm>
            <a:off x="5120640" y="7863840"/>
            <a:ext cx="3566160" cy="1005840"/>
          </a:xfrm>
          <a:prstGeom prst="roundRect">
            <a:avLst>
              <a:gd name="adj" fmla="val 30000"/>
            </a:avLst>
          </a:prstGeom>
          <a:solidFill>
            <a:srgbClr val="E3ED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5120640" y="7863840"/>
            <a:ext cx="3566160" cy="1005840"/>
          </a:xfrm>
          <a:prstGeom prst="rect">
            <a:avLst/>
          </a:prstGeom>
          <a:noFill/>
        </p:spPr>
        <p:txBody>
          <a:bodyPr wrap="square" lIns="0" rIns="0" tIns="0" bIns="0" anchor="ctr">
            <a:spAutoFit/>
          </a:bodyPr>
          <a:lstStyle/>
          <a:p>
            <a:pPr algn="ctr"/>
            <a:r>
              <a:rPr sz="2200" b="1" i="0">
                <a:solidFill>
                  <a:srgbClr val="164B82"/>
                </a:solidFill>
                <a:latin typeface="Calibri"/>
              </a:rPr>
              <a:t>Lakh / crore numerals</a:t>
            </a:r>
          </a:p>
        </p:txBody>
      </p:sp>
      <p:sp>
        <p:nvSpPr>
          <p:cNvPr id="23" name="Rounded Rectangle 22"/>
          <p:cNvSpPr/>
          <p:nvPr/>
        </p:nvSpPr>
        <p:spPr>
          <a:xfrm>
            <a:off x="8961120" y="7863840"/>
            <a:ext cx="3566160" cy="1005840"/>
          </a:xfrm>
          <a:prstGeom prst="roundRect">
            <a:avLst>
              <a:gd name="adj" fmla="val 30000"/>
            </a:avLst>
          </a:prstGeom>
          <a:solidFill>
            <a:srgbClr val="E3ED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4" name="TextBox 23"/>
          <p:cNvSpPr txBox="1"/>
          <p:nvPr/>
        </p:nvSpPr>
        <p:spPr>
          <a:xfrm>
            <a:off x="8961120" y="7863840"/>
            <a:ext cx="3566160" cy="1005840"/>
          </a:xfrm>
          <a:prstGeom prst="rect">
            <a:avLst/>
          </a:prstGeom>
          <a:noFill/>
        </p:spPr>
        <p:txBody>
          <a:bodyPr wrap="square" lIns="0" rIns="0" tIns="0" bIns="0" anchor="ctr">
            <a:spAutoFit/>
          </a:bodyPr>
          <a:lstStyle/>
          <a:p>
            <a:pPr algn="ctr"/>
            <a:r>
              <a:rPr sz="2200" b="1" i="0">
                <a:solidFill>
                  <a:srgbClr val="164B82"/>
                </a:solidFill>
                <a:latin typeface="Calibri"/>
              </a:rPr>
              <a:t>Domain terminology</a:t>
            </a:r>
          </a:p>
        </p:txBody>
      </p:sp>
      <p:sp>
        <p:nvSpPr>
          <p:cNvPr id="25" name="Rounded Rectangle 24"/>
          <p:cNvSpPr/>
          <p:nvPr/>
        </p:nvSpPr>
        <p:spPr>
          <a:xfrm>
            <a:off x="12801600" y="7863840"/>
            <a:ext cx="3566160" cy="1005840"/>
          </a:xfrm>
          <a:prstGeom prst="roundRect">
            <a:avLst>
              <a:gd name="adj" fmla="val 30000"/>
            </a:avLst>
          </a:prstGeom>
          <a:solidFill>
            <a:srgbClr val="E3ED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6" name="TextBox 25"/>
          <p:cNvSpPr txBox="1"/>
          <p:nvPr/>
        </p:nvSpPr>
        <p:spPr>
          <a:xfrm>
            <a:off x="12801600" y="7863840"/>
            <a:ext cx="3566160" cy="1005840"/>
          </a:xfrm>
          <a:prstGeom prst="rect">
            <a:avLst/>
          </a:prstGeom>
          <a:noFill/>
        </p:spPr>
        <p:txBody>
          <a:bodyPr wrap="square" lIns="0" rIns="0" tIns="0" bIns="0" anchor="ctr">
            <a:spAutoFit/>
          </a:bodyPr>
          <a:lstStyle/>
          <a:p>
            <a:pPr algn="ctr"/>
            <a:r>
              <a:rPr sz="2200" b="1" i="0">
                <a:solidFill>
                  <a:srgbClr val="164B82"/>
                </a:solidFill>
                <a:latin typeface="Calibri"/>
              </a:rPr>
              <a:t>Entities that must survive</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name="Freeform 2" id="2"/>
          <p:cNvSpPr/>
          <p:nvPr/>
        </p:nvSpPr>
        <p:spPr>
          <a:xfrm flipH="false" flipV="false" rot="225008">
            <a:off x="-467361" y="-2757747"/>
            <a:ext cx="12701350" cy="5382197"/>
          </a:xfrm>
          <a:custGeom>
            <a:avLst/>
            <a:gdLst/>
            <a:ahLst/>
            <a:cxnLst/>
            <a:rect r="r" b="b" t="t" l="l"/>
            <a:pathLst>
              <a:path h="5382197" w="12701350">
                <a:moveTo>
                  <a:pt x="0" y="0"/>
                </a:moveTo>
                <a:lnTo>
                  <a:pt x="12701349" y="0"/>
                </a:lnTo>
                <a:lnTo>
                  <a:pt x="12701349" y="5382197"/>
                </a:lnTo>
                <a:lnTo>
                  <a:pt x="0" y="5382197"/>
                </a:lnTo>
                <a:lnTo>
                  <a:pt x="0" y="0"/>
                </a:lnTo>
                <a:close/>
              </a:path>
            </a:pathLst>
          </a:custGeom>
          <a:blipFill>
            <a:blip r:embed="rId2"/>
            <a:stretch>
              <a:fillRect l="0" t="0" r="0" b="0"/>
            </a:stretch>
          </a:blipFill>
        </p:spPr>
      </p:sp>
      <p:sp>
        <p:nvSpPr>
          <p:cNvPr name="Freeform 3" id="3"/>
          <p:cNvSpPr/>
          <p:nvPr/>
        </p:nvSpPr>
        <p:spPr>
          <a:xfrm flipH="false" flipV="false" rot="0">
            <a:off x="10986204" y="6250419"/>
            <a:ext cx="11514218" cy="8506128"/>
          </a:xfrm>
          <a:custGeom>
            <a:avLst/>
            <a:gdLst/>
            <a:ahLst/>
            <a:cxnLst/>
            <a:rect r="r" b="b" t="t" l="l"/>
            <a:pathLst>
              <a:path h="8506128" w="11514218">
                <a:moveTo>
                  <a:pt x="0" y="0"/>
                </a:moveTo>
                <a:lnTo>
                  <a:pt x="11514218" y="0"/>
                </a:lnTo>
                <a:lnTo>
                  <a:pt x="11514218" y="8506128"/>
                </a:lnTo>
                <a:lnTo>
                  <a:pt x="0" y="8506128"/>
                </a:lnTo>
                <a:lnTo>
                  <a:pt x="0" y="0"/>
                </a:lnTo>
                <a:close/>
              </a:path>
            </a:pathLst>
          </a:custGeom>
          <a:blipFill>
            <a:blip r:embed="rId3"/>
            <a:stretch>
              <a:fillRect l="0" t="0" r="0" b="0"/>
            </a:stretch>
          </a:blipFill>
        </p:spPr>
      </p:sp>
      <p:grpSp>
        <p:nvGrpSpPr>
          <p:cNvPr name="Group 4" id="4"/>
          <p:cNvGrpSpPr/>
          <p:nvPr/>
        </p:nvGrpSpPr>
        <p:grpSpPr>
          <a:xfrm rot="0">
            <a:off x="17259300" y="-392510"/>
            <a:ext cx="1437565" cy="11072020"/>
            <a:chOff x="0" y="0"/>
            <a:chExt cx="378618" cy="2916088"/>
          </a:xfrm>
        </p:grpSpPr>
        <p:sp>
          <p:nvSpPr>
            <p:cNvPr name="Freeform 5" id="5"/>
            <p:cNvSpPr/>
            <p:nvPr/>
          </p:nvSpPr>
          <p:spPr>
            <a:xfrm flipH="false" flipV="false" rot="0">
              <a:off x="0" y="0"/>
              <a:ext cx="378618" cy="2916088"/>
            </a:xfrm>
            <a:custGeom>
              <a:avLst/>
              <a:gdLst/>
              <a:ahLst/>
              <a:cxnLst/>
              <a:rect r="r" b="b" t="t" l="l"/>
              <a:pathLst>
                <a:path h="2916088" w="378618">
                  <a:moveTo>
                    <a:pt x="0" y="0"/>
                  </a:moveTo>
                  <a:lnTo>
                    <a:pt x="378618" y="0"/>
                  </a:lnTo>
                  <a:lnTo>
                    <a:pt x="378618" y="2916088"/>
                  </a:lnTo>
                  <a:lnTo>
                    <a:pt x="0" y="2916088"/>
                  </a:lnTo>
                  <a:close/>
                </a:path>
              </a:pathLst>
            </a:custGeom>
            <a:gradFill rotWithShape="true">
              <a:gsLst>
                <a:gs pos="0">
                  <a:srgbClr val="E4B795">
                    <a:alpha val="100000"/>
                  </a:srgbClr>
                </a:gs>
                <a:gs pos="50000">
                  <a:srgbClr val="699ACD">
                    <a:alpha val="100000"/>
                  </a:srgbClr>
                </a:gs>
                <a:gs pos="100000">
                  <a:srgbClr val="2F679F">
                    <a:alpha val="100000"/>
                  </a:srgbClr>
                </a:gs>
              </a:gsLst>
              <a:path path="circle">
                <a:fillToRect l="0" r="100000" t="0" b="100000"/>
              </a:path>
              <a:tileRect r="0" l="-100000" b="0" t="-100000"/>
            </a:gradFill>
          </p:spPr>
        </p:sp>
        <p:sp>
          <p:nvSpPr>
            <p:cNvPr name="TextBox 6" id="6"/>
            <p:cNvSpPr txBox="true"/>
            <p:nvPr/>
          </p:nvSpPr>
          <p:spPr>
            <a:xfrm>
              <a:off x="0" y="-57150"/>
              <a:ext cx="378618" cy="2973238"/>
            </a:xfrm>
            <a:prstGeom prst="rect">
              <a:avLst/>
            </a:prstGeom>
          </p:spPr>
          <p:txBody>
            <a:bodyPr anchor="ctr" rtlCol="false" tIns="50800" lIns="50800" bIns="50800" rIns="50800"/>
            <a:lstStyle/>
            <a:p>
              <a:pPr algn="ctr">
                <a:lnSpc>
                  <a:spcPts val="3639"/>
                </a:lnSpc>
              </a:pPr>
            </a:p>
          </p:txBody>
        </p:sp>
      </p:grpSp>
      <p:sp>
        <p:nvSpPr>
          <p:cNvPr name="TextBox 7" id="7"/>
          <p:cNvSpPr txBox="true"/>
          <p:nvPr/>
        </p:nvSpPr>
        <p:spPr>
          <a:xfrm rot="0">
            <a:off x="8021110" y="782737"/>
            <a:ext cx="2492949" cy="351790"/>
          </a:xfrm>
          <a:prstGeom prst="rect">
            <a:avLst/>
          </a:prstGeom>
        </p:spPr>
        <p:txBody>
          <a:bodyPr anchor="t" rtlCol="false" tIns="0" lIns="0" bIns="0" rIns="0">
            <a:spAutoFit/>
          </a:bodyPr>
          <a:lstStyle/>
          <a:p>
            <a:pPr algn="l">
              <a:lnSpc>
                <a:spcPts val="2660"/>
              </a:lnSpc>
              <a:spcBef>
                <a:spcPct val="0"/>
              </a:spcBef>
            </a:pPr>
            <a:r>
              <a:rPr lang="en-US" sz="1900" spc="95">
                <a:solidFill>
                  <a:srgbClr val="164B82"/>
                </a:solidFill>
                <a:latin typeface="Calibri"/>
                <a:ea typeface="Telegraf Extra-Light"/>
                <a:cs typeface="Telegraf Extra-Light"/>
                <a:sym typeface="Telegraf Extra-Light"/>
              </a:rPr>
              <a:t>BCSE497J · Project I</a:t>
            </a:r>
          </a:p>
        </p:txBody>
      </p:sp>
      <p:sp>
        <p:nvSpPr>
          <p:cNvPr name="TextBox 8" id="8"/>
          <p:cNvSpPr txBox="true"/>
          <p:nvPr/>
        </p:nvSpPr>
        <p:spPr>
          <a:xfrm rot="0">
            <a:off x="13305333" y="782737"/>
            <a:ext cx="1819999" cy="351790"/>
          </a:xfrm>
          <a:prstGeom prst="rect">
            <a:avLst/>
          </a:prstGeom>
        </p:spPr>
        <p:txBody>
          <a:bodyPr anchor="t" rtlCol="false" tIns="0" lIns="0" bIns="0" rIns="0">
            <a:spAutoFit/>
          </a:bodyPr>
          <a:lstStyle/>
          <a:p>
            <a:pPr algn="r">
              <a:lnSpc>
                <a:spcPts val="2660"/>
              </a:lnSpc>
              <a:spcBef>
                <a:spcPct val="0"/>
              </a:spcBef>
            </a:pPr>
            <a:r>
              <a:rPr lang="en-US" sz="1900" spc="95">
                <a:solidFill>
                  <a:srgbClr val="164B82"/>
                </a:solidFill>
                <a:latin typeface="Calibri"/>
                <a:ea typeface="Telegraf Extra-Light"/>
                <a:cs typeface="Telegraf Extra-Light"/>
                <a:sym typeface="Telegraf Extra-Light"/>
              </a:rPr>
              <a:t>Oct 2026</a:t>
            </a:r>
          </a:p>
        </p:txBody>
      </p:sp>
      <p:sp>
        <p:nvSpPr>
          <p:cNvPr name="TextBox 9" id="9"/>
          <p:cNvSpPr txBox="true"/>
          <p:nvPr/>
        </p:nvSpPr>
        <p:spPr>
          <a:xfrm rot="0">
            <a:off x="11045641" y="782737"/>
            <a:ext cx="1819999" cy="351790"/>
          </a:xfrm>
          <a:prstGeom prst="rect">
            <a:avLst/>
          </a:prstGeom>
        </p:spPr>
        <p:txBody>
          <a:bodyPr anchor="t" rtlCol="false" tIns="0" lIns="0" bIns="0" rIns="0">
            <a:spAutoFit/>
          </a:bodyPr>
          <a:lstStyle/>
          <a:p>
            <a:pPr algn="ctr">
              <a:lnSpc>
                <a:spcPts val="2660"/>
              </a:lnSpc>
              <a:spcBef>
                <a:spcPct val="0"/>
              </a:spcBef>
            </a:pPr>
            <a:r>
              <a:rPr lang="en-US" sz="1900" spc="95">
                <a:solidFill>
                  <a:srgbClr val="164B82"/>
                </a:solidFill>
                <a:latin typeface="Calibri"/>
                <a:ea typeface="Telegraf Extra-Light"/>
                <a:cs typeface="Telegraf Extra-Light"/>
                <a:sym typeface="Telegraf Extra-Light"/>
              </a:rPr>
              <a:t>Guide Review</a:t>
            </a:r>
          </a:p>
        </p:txBody>
      </p:sp>
      <p:grpSp>
        <p:nvGrpSpPr>
          <p:cNvPr name="Group 10" id="10"/>
          <p:cNvGrpSpPr/>
          <p:nvPr/>
        </p:nvGrpSpPr>
        <p:grpSpPr>
          <a:xfrm rot="5400000">
            <a:off x="11279340" y="-3711595"/>
            <a:ext cx="643045" cy="9407130"/>
            <a:chOff x="0" y="0"/>
            <a:chExt cx="169362" cy="2477598"/>
          </a:xfrm>
        </p:grpSpPr>
        <p:sp>
          <p:nvSpPr>
            <p:cNvPr name="Freeform 11" id="11"/>
            <p:cNvSpPr/>
            <p:nvPr/>
          </p:nvSpPr>
          <p:spPr>
            <a:xfrm flipH="false" flipV="false" rot="0">
              <a:off x="0" y="0"/>
              <a:ext cx="169362" cy="2477598"/>
            </a:xfrm>
            <a:custGeom>
              <a:avLst/>
              <a:gdLst/>
              <a:ahLst/>
              <a:cxnLst/>
              <a:rect r="r" b="b" t="t" l="l"/>
              <a:pathLst>
                <a:path h="2477598" w="169362">
                  <a:moveTo>
                    <a:pt x="84681" y="0"/>
                  </a:moveTo>
                  <a:lnTo>
                    <a:pt x="84681" y="0"/>
                  </a:lnTo>
                  <a:cubicBezTo>
                    <a:pt x="107140" y="0"/>
                    <a:pt x="128678" y="8922"/>
                    <a:pt x="144559" y="24802"/>
                  </a:cubicBezTo>
                  <a:cubicBezTo>
                    <a:pt x="160440" y="40683"/>
                    <a:pt x="169362" y="62222"/>
                    <a:pt x="169362" y="84681"/>
                  </a:cubicBezTo>
                  <a:lnTo>
                    <a:pt x="169362" y="2392917"/>
                  </a:lnTo>
                  <a:cubicBezTo>
                    <a:pt x="169362" y="2439685"/>
                    <a:pt x="131449" y="2477598"/>
                    <a:pt x="84681" y="2477598"/>
                  </a:cubicBezTo>
                  <a:lnTo>
                    <a:pt x="84681" y="2477598"/>
                  </a:lnTo>
                  <a:cubicBezTo>
                    <a:pt x="37913" y="2477598"/>
                    <a:pt x="0" y="2439685"/>
                    <a:pt x="0" y="2392917"/>
                  </a:cubicBezTo>
                  <a:lnTo>
                    <a:pt x="0" y="84681"/>
                  </a:lnTo>
                  <a:cubicBezTo>
                    <a:pt x="0" y="37913"/>
                    <a:pt x="37913" y="0"/>
                    <a:pt x="84681" y="0"/>
                  </a:cubicBezTo>
                  <a:close/>
                </a:path>
              </a:pathLst>
            </a:custGeom>
            <a:ln w="19050" cap="rnd">
              <a:solidFill>
                <a:srgbClr val="164B82"/>
              </a:solidFill>
              <a:prstDash val="solid"/>
              <a:round/>
            </a:ln>
          </p:spPr>
        </p:sp>
        <p:sp>
          <p:nvSpPr>
            <p:cNvPr name="TextBox 12" id="12"/>
            <p:cNvSpPr txBox="true"/>
            <p:nvPr/>
          </p:nvSpPr>
          <p:spPr>
            <a:xfrm>
              <a:off x="0" y="-57150"/>
              <a:ext cx="169362" cy="2534748"/>
            </a:xfrm>
            <a:prstGeom prst="rect">
              <a:avLst/>
            </a:prstGeom>
          </p:spPr>
          <p:txBody>
            <a:bodyPr anchor="ctr" rtlCol="false" tIns="50800" lIns="50800" bIns="50800" rIns="50800"/>
            <a:lstStyle/>
            <a:p>
              <a:pPr algn="ctr">
                <a:lnSpc>
                  <a:spcPts val="3639"/>
                </a:lnSpc>
              </a:pPr>
            </a:p>
          </p:txBody>
        </p:sp>
      </p:grpSp>
      <p:sp>
        <p:nvSpPr>
          <p:cNvPr id="13" name="Title"/>
          <p:cNvSpPr txBox="1"/>
          <p:nvPr/>
        </p:nvSpPr>
        <p:spPr>
          <a:xfrm>
            <a:off x="1005840" y="1371600"/>
            <a:ext cx="15727680" cy="1097280"/>
          </a:xfrm>
          <a:prstGeom prst="rect">
            <a:avLst/>
          </a:prstGeom>
          <a:noFill/>
        </p:spPr>
        <p:txBody>
          <a:bodyPr wrap="square" lIns="0" rIns="0" tIns="0" bIns="0" anchor="ctr">
            <a:spAutoFit/>
          </a:bodyPr>
          <a:lstStyle/>
          <a:p>
            <a:pPr algn="l"/>
            <a:r>
              <a:rPr sz="4800" b="1" i="0">
                <a:solidFill>
                  <a:srgbClr val="343434"/>
                </a:solidFill>
                <a:latin typeface="Calibri"/>
              </a:rPr>
              <a:t>Objectives and Scope</a:t>
            </a:r>
          </a:p>
        </p:txBody>
      </p:sp>
      <p:sp>
        <p:nvSpPr>
          <p:cNvPr id="14" name="Page"/>
          <p:cNvSpPr txBox="1"/>
          <p:nvPr/>
        </p:nvSpPr>
        <p:spPr>
          <a:xfrm>
            <a:off x="1005840" y="9646920"/>
            <a:ext cx="3657600" cy="365760"/>
          </a:xfrm>
          <a:prstGeom prst="rect">
            <a:avLst/>
          </a:prstGeom>
          <a:noFill/>
        </p:spPr>
        <p:txBody>
          <a:bodyPr wrap="square" lIns="0" rIns="0" tIns="0" bIns="0" anchor="t">
            <a:spAutoFit/>
          </a:bodyPr>
          <a:lstStyle/>
          <a:p>
            <a:pPr algn="l"/>
            <a:r>
              <a:rPr sz="1800" b="0" i="0">
                <a:solidFill>
                  <a:srgbClr val="164B82"/>
                </a:solidFill>
                <a:latin typeface="Calibri"/>
              </a:rPr>
              <a:t>3 / 19</a:t>
            </a:r>
          </a:p>
        </p:txBody>
      </p:sp>
      <p:sp>
        <p:nvSpPr>
          <p:cNvPr id="15" name="Objective 1"/>
          <p:cNvSpPr/>
          <p:nvPr/>
        </p:nvSpPr>
        <p:spPr>
          <a:xfrm>
            <a:off x="1005840" y="2743200"/>
            <a:ext cx="5029200" cy="3657600"/>
          </a:xfrm>
          <a:prstGeom prst="roundRect">
            <a:avLst>
              <a:gd name="adj" fmla="val 6000"/>
            </a:avLst>
          </a:prstGeom>
          <a:solidFill>
            <a:srgbClr val="FFFFFF">
              <a:alpha val="88000"/>
            </a:srgbClr>
          </a:solidFill>
          <a:ln w="15875">
            <a:solidFill>
              <a:srgbClr val="CFDDEC"/>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 name="Badge 1"/>
          <p:cNvSpPr/>
          <p:nvPr/>
        </p:nvSpPr>
        <p:spPr>
          <a:xfrm>
            <a:off x="1371600" y="3063240"/>
            <a:ext cx="868680" cy="868680"/>
          </a:xfrm>
          <a:prstGeom prst="ellipse">
            <a:avLst/>
          </a:prstGeom>
          <a:solidFill>
            <a:srgbClr val="164B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TextBox 16"/>
          <p:cNvSpPr txBox="1"/>
          <p:nvPr/>
        </p:nvSpPr>
        <p:spPr>
          <a:xfrm>
            <a:off x="1371600" y="3063240"/>
            <a:ext cx="868680" cy="868680"/>
          </a:xfrm>
          <a:prstGeom prst="rect">
            <a:avLst/>
          </a:prstGeom>
          <a:noFill/>
        </p:spPr>
        <p:txBody>
          <a:bodyPr wrap="square" lIns="0" rIns="0" tIns="0" bIns="0" anchor="ctr">
            <a:spAutoFit/>
          </a:bodyPr>
          <a:lstStyle/>
          <a:p>
            <a:pPr algn="ctr"/>
            <a:r>
              <a:rPr sz="3400" b="1" i="0">
                <a:solidFill>
                  <a:srgbClr val="FFFFFF"/>
                </a:solidFill>
                <a:latin typeface="Calibri"/>
              </a:rPr>
              <a:t>1</a:t>
            </a:r>
          </a:p>
        </p:txBody>
      </p:sp>
      <p:sp>
        <p:nvSpPr>
          <p:cNvPr id="18" name="TextBox 17"/>
          <p:cNvSpPr txBox="1"/>
          <p:nvPr/>
        </p:nvSpPr>
        <p:spPr>
          <a:xfrm>
            <a:off x="1371600" y="4160520"/>
            <a:ext cx="4389120" cy="822960"/>
          </a:xfrm>
          <a:prstGeom prst="rect">
            <a:avLst/>
          </a:prstGeom>
          <a:noFill/>
        </p:spPr>
        <p:txBody>
          <a:bodyPr wrap="square" lIns="0" rIns="0" tIns="0" bIns="0" anchor="t">
            <a:spAutoFit/>
          </a:bodyPr>
          <a:lstStyle/>
          <a:p>
            <a:pPr algn="l"/>
            <a:r>
              <a:rPr sz="2800" b="1" i="0">
                <a:solidFill>
                  <a:srgbClr val="164B82"/>
                </a:solidFill>
                <a:latin typeface="Calibri"/>
              </a:rPr>
              <a:t>Build a controlled corpus</a:t>
            </a:r>
          </a:p>
        </p:txBody>
      </p:sp>
      <p:sp>
        <p:nvSpPr>
          <p:cNvPr id="19" name="TextBox 18"/>
          <p:cNvSpPr txBox="1"/>
          <p:nvPr/>
        </p:nvSpPr>
        <p:spPr>
          <a:xfrm>
            <a:off x="1371600" y="5029200"/>
            <a:ext cx="4389120" cy="1280160"/>
          </a:xfrm>
          <a:prstGeom prst="rect">
            <a:avLst/>
          </a:prstGeom>
          <a:noFill/>
        </p:spPr>
        <p:txBody>
          <a:bodyPr wrap="square" lIns="0" rIns="0" tIns="0" bIns="0" anchor="t">
            <a:spAutoFit/>
          </a:bodyPr>
          <a:lstStyle/>
          <a:p>
            <a:pPr algn="l"/>
            <a:r>
              <a:rPr sz="2400" b="0" i="0">
                <a:solidFill>
                  <a:srgbClr val="343434"/>
                </a:solidFill>
                <a:latin typeface="Calibri"/>
              </a:rPr>
              <a:t>Four-way parallel financial text in Hindi, Bengali, Telugu, Malayalam</a:t>
            </a:r>
          </a:p>
        </p:txBody>
      </p:sp>
      <p:sp>
        <p:nvSpPr>
          <p:cNvPr id="20" name="Objective 2"/>
          <p:cNvSpPr/>
          <p:nvPr/>
        </p:nvSpPr>
        <p:spPr>
          <a:xfrm>
            <a:off x="6355079" y="2743200"/>
            <a:ext cx="5029200" cy="3657600"/>
          </a:xfrm>
          <a:prstGeom prst="roundRect">
            <a:avLst>
              <a:gd name="adj" fmla="val 6000"/>
            </a:avLst>
          </a:prstGeom>
          <a:solidFill>
            <a:srgbClr val="FFFFFF">
              <a:alpha val="88000"/>
            </a:srgbClr>
          </a:solidFill>
          <a:ln w="15875">
            <a:solidFill>
              <a:srgbClr val="CFDDEC"/>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Badge 2"/>
          <p:cNvSpPr/>
          <p:nvPr/>
        </p:nvSpPr>
        <p:spPr>
          <a:xfrm>
            <a:off x="6720840" y="3063240"/>
            <a:ext cx="868680" cy="868680"/>
          </a:xfrm>
          <a:prstGeom prst="ellipse">
            <a:avLst/>
          </a:prstGeom>
          <a:solidFill>
            <a:srgbClr val="164B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6720840" y="3063240"/>
            <a:ext cx="868680" cy="868680"/>
          </a:xfrm>
          <a:prstGeom prst="rect">
            <a:avLst/>
          </a:prstGeom>
          <a:noFill/>
        </p:spPr>
        <p:txBody>
          <a:bodyPr wrap="square" lIns="0" rIns="0" tIns="0" bIns="0" anchor="ctr">
            <a:spAutoFit/>
          </a:bodyPr>
          <a:lstStyle/>
          <a:p>
            <a:pPr algn="ctr"/>
            <a:r>
              <a:rPr sz="3400" b="1" i="0">
                <a:solidFill>
                  <a:srgbClr val="FFFFFF"/>
                </a:solidFill>
                <a:latin typeface="Calibri"/>
              </a:rPr>
              <a:t>2</a:t>
            </a:r>
          </a:p>
        </p:txBody>
      </p:sp>
      <p:sp>
        <p:nvSpPr>
          <p:cNvPr id="23" name="TextBox 22"/>
          <p:cNvSpPr txBox="1"/>
          <p:nvPr/>
        </p:nvSpPr>
        <p:spPr>
          <a:xfrm>
            <a:off x="6720840" y="4160520"/>
            <a:ext cx="4389120" cy="822960"/>
          </a:xfrm>
          <a:prstGeom prst="rect">
            <a:avLst/>
          </a:prstGeom>
          <a:noFill/>
        </p:spPr>
        <p:txBody>
          <a:bodyPr wrap="square" lIns="0" rIns="0" tIns="0" bIns="0" anchor="t">
            <a:spAutoFit/>
          </a:bodyPr>
          <a:lstStyle/>
          <a:p>
            <a:pPr algn="l"/>
            <a:r>
              <a:rPr sz="2800" b="1" i="0">
                <a:solidFill>
                  <a:srgbClr val="164B82"/>
                </a:solidFill>
                <a:latin typeface="Calibri"/>
              </a:rPr>
              <a:t>Measure zero-shot transfer</a:t>
            </a:r>
          </a:p>
        </p:txBody>
      </p:sp>
      <p:sp>
        <p:nvSpPr>
          <p:cNvPr id="24" name="TextBox 23"/>
          <p:cNvSpPr txBox="1"/>
          <p:nvPr/>
        </p:nvSpPr>
        <p:spPr>
          <a:xfrm>
            <a:off x="6720840" y="5029200"/>
            <a:ext cx="4389120" cy="1280160"/>
          </a:xfrm>
          <a:prstGeom prst="rect">
            <a:avLst/>
          </a:prstGeom>
          <a:noFill/>
        </p:spPr>
        <p:txBody>
          <a:bodyPr wrap="square" lIns="0" rIns="0" tIns="0" bIns="0" anchor="t">
            <a:spAutoFit/>
          </a:bodyPr>
          <a:lstStyle/>
          <a:p>
            <a:pPr algn="l"/>
            <a:r>
              <a:rPr sz="2400" b="0" i="0">
                <a:solidFill>
                  <a:srgbClr val="343434"/>
                </a:solidFill>
                <a:latin typeface="Calibri"/>
              </a:rPr>
              <a:t>IndicBERT and mBERT trained on one language, tested on the others</a:t>
            </a:r>
          </a:p>
        </p:txBody>
      </p:sp>
      <p:sp>
        <p:nvSpPr>
          <p:cNvPr id="25" name="Objective 3"/>
          <p:cNvSpPr/>
          <p:nvPr/>
        </p:nvSpPr>
        <p:spPr>
          <a:xfrm>
            <a:off x="11704319" y="2743200"/>
            <a:ext cx="5029200" cy="3657600"/>
          </a:xfrm>
          <a:prstGeom prst="roundRect">
            <a:avLst>
              <a:gd name="adj" fmla="val 6000"/>
            </a:avLst>
          </a:prstGeom>
          <a:solidFill>
            <a:srgbClr val="FFFFFF">
              <a:alpha val="88000"/>
            </a:srgbClr>
          </a:solidFill>
          <a:ln w="15875">
            <a:solidFill>
              <a:srgbClr val="CFDDEC"/>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6" name="Badge 3"/>
          <p:cNvSpPr/>
          <p:nvPr/>
        </p:nvSpPr>
        <p:spPr>
          <a:xfrm>
            <a:off x="12070080" y="3063240"/>
            <a:ext cx="868680" cy="868680"/>
          </a:xfrm>
          <a:prstGeom prst="ellipse">
            <a:avLst/>
          </a:prstGeom>
          <a:solidFill>
            <a:srgbClr val="164B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7" name="TextBox 26"/>
          <p:cNvSpPr txBox="1"/>
          <p:nvPr/>
        </p:nvSpPr>
        <p:spPr>
          <a:xfrm>
            <a:off x="12070080" y="3063240"/>
            <a:ext cx="868680" cy="868680"/>
          </a:xfrm>
          <a:prstGeom prst="rect">
            <a:avLst/>
          </a:prstGeom>
          <a:noFill/>
        </p:spPr>
        <p:txBody>
          <a:bodyPr wrap="square" lIns="0" rIns="0" tIns="0" bIns="0" anchor="ctr">
            <a:spAutoFit/>
          </a:bodyPr>
          <a:lstStyle/>
          <a:p>
            <a:pPr algn="ctr"/>
            <a:r>
              <a:rPr sz="3400" b="1" i="0">
                <a:solidFill>
                  <a:srgbClr val="FFFFFF"/>
                </a:solidFill>
                <a:latin typeface="Calibri"/>
              </a:rPr>
              <a:t>3</a:t>
            </a:r>
          </a:p>
        </p:txBody>
      </p:sp>
      <p:sp>
        <p:nvSpPr>
          <p:cNvPr id="28" name="TextBox 27"/>
          <p:cNvSpPr txBox="1"/>
          <p:nvPr/>
        </p:nvSpPr>
        <p:spPr>
          <a:xfrm>
            <a:off x="12070080" y="4160520"/>
            <a:ext cx="4389120" cy="822960"/>
          </a:xfrm>
          <a:prstGeom prst="rect">
            <a:avLst/>
          </a:prstGeom>
          <a:noFill/>
        </p:spPr>
        <p:txBody>
          <a:bodyPr wrap="square" lIns="0" rIns="0" tIns="0" bIns="0" anchor="t">
            <a:spAutoFit/>
          </a:bodyPr>
          <a:lstStyle/>
          <a:p>
            <a:pPr algn="l"/>
            <a:r>
              <a:rPr sz="2800" b="1" i="0">
                <a:solidFill>
                  <a:srgbClr val="164B82"/>
                </a:solidFill>
                <a:latin typeface="Calibri"/>
              </a:rPr>
              <a:t>Diagnose why transfer fails</a:t>
            </a:r>
          </a:p>
        </p:txBody>
      </p:sp>
      <p:sp>
        <p:nvSpPr>
          <p:cNvPr id="29" name="TextBox 28"/>
          <p:cNvSpPr txBox="1"/>
          <p:nvPr/>
        </p:nvSpPr>
        <p:spPr>
          <a:xfrm>
            <a:off x="12070080" y="5029200"/>
            <a:ext cx="4389120" cy="1280160"/>
          </a:xfrm>
          <a:prstGeom prst="rect">
            <a:avLst/>
          </a:prstGeom>
          <a:noFill/>
        </p:spPr>
        <p:txBody>
          <a:bodyPr wrap="square" lIns="0" rIns="0" tIns="0" bIns="0" anchor="t">
            <a:spAutoFit/>
          </a:bodyPr>
          <a:lstStyle/>
          <a:p>
            <a:pPr algn="l"/>
            <a:r>
              <a:rPr sz="2400" b="0" i="0">
                <a:solidFill>
                  <a:srgbClr val="343434"/>
                </a:solidFill>
                <a:latin typeface="Calibri"/>
              </a:rPr>
              <a:t>A three-stage router gives each failure exactly one cause</a:t>
            </a:r>
          </a:p>
        </p:txBody>
      </p:sp>
      <p:sp>
        <p:nvSpPr>
          <p:cNvPr id="30" name="In scope"/>
          <p:cNvSpPr/>
          <p:nvPr/>
        </p:nvSpPr>
        <p:spPr>
          <a:xfrm>
            <a:off x="1005840" y="6812280"/>
            <a:ext cx="7680960" cy="2606040"/>
          </a:xfrm>
          <a:prstGeom prst="roundRect">
            <a:avLst>
              <a:gd name="adj" fmla="val 6000"/>
            </a:avLst>
          </a:prstGeom>
          <a:solidFill>
            <a:srgbClr val="FFFFFF">
              <a:alpha val="88000"/>
            </a:srgbClr>
          </a:solidFill>
          <a:ln w="15875">
            <a:solidFill>
              <a:srgbClr val="CFDDEC"/>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1" name="TextBox 30"/>
          <p:cNvSpPr txBox="1"/>
          <p:nvPr/>
        </p:nvSpPr>
        <p:spPr>
          <a:xfrm>
            <a:off x="1371600" y="6995160"/>
            <a:ext cx="6949440" cy="457200"/>
          </a:xfrm>
          <a:prstGeom prst="rect">
            <a:avLst/>
          </a:prstGeom>
          <a:noFill/>
        </p:spPr>
        <p:txBody>
          <a:bodyPr wrap="square" lIns="0" rIns="0" tIns="0" bIns="0" anchor="t">
            <a:spAutoFit/>
          </a:bodyPr>
          <a:lstStyle/>
          <a:p>
            <a:pPr algn="l"/>
            <a:r>
              <a:rPr sz="2000" b="1" i="0">
                <a:solidFill>
                  <a:srgbClr val="2F679F"/>
                </a:solidFill>
                <a:latin typeface="Calibri"/>
              </a:rPr>
              <a:t>IN SCOPE</a:t>
            </a:r>
          </a:p>
        </p:txBody>
      </p:sp>
      <p:sp>
        <p:nvSpPr>
          <p:cNvPr id="32" name="TextBox 31"/>
          <p:cNvSpPr txBox="1"/>
          <p:nvPr/>
        </p:nvSpPr>
        <p:spPr>
          <a:xfrm>
            <a:off x="1371600" y="7498079"/>
            <a:ext cx="7040880" cy="1920240"/>
          </a:xfrm>
          <a:prstGeom prst="rect">
            <a:avLst/>
          </a:prstGeom>
          <a:noFill/>
        </p:spPr>
        <p:txBody>
          <a:bodyPr wrap="square" lIns="0" rIns="0" tIns="0" bIns="0">
            <a:spAutoFit/>
          </a:bodyPr>
          <a:lstStyle/>
          <a:p>
            <a:pPr marL="384048" indent="-384048">
              <a:spcAft>
                <a:spcPts val="800"/>
              </a:spcAft>
              <a:buClr>
                <a:srgbClr val="2F679F"/>
              </a:buClr>
              <a:buFont typeface="Arial"/>
              <a:buChar char="•"/>
            </a:pPr>
            <a:r>
              <a:rPr sz="2400" b="0">
                <a:solidFill>
                  <a:srgbClr val="343434"/>
                </a:solidFill>
                <a:latin typeface="Calibri"/>
              </a:rPr>
              <a:t>Three IndicFinNLP tasks, corpus built for all</a:t>
            </a:r>
          </a:p>
          <a:p>
            <a:pPr marL="384048" indent="-384048">
              <a:spcAft>
                <a:spcPts val="800"/>
              </a:spcAft>
              <a:buClr>
                <a:srgbClr val="2F679F"/>
              </a:buClr>
              <a:buFont typeface="Arial"/>
              <a:buChar char="•"/>
            </a:pPr>
            <a:r>
              <a:rPr sz="2400" b="0">
                <a:solidFill>
                  <a:srgbClr val="343434"/>
                </a:solidFill>
                <a:latin typeface="Calibri"/>
              </a:rPr>
              <a:t>Transfer on tasks 2 and 3 (classification)</a:t>
            </a:r>
          </a:p>
          <a:p>
            <a:pPr marL="384048" indent="-384048">
              <a:spcAft>
                <a:spcPts val="800"/>
              </a:spcAft>
              <a:buClr>
                <a:srgbClr val="2F679F"/>
              </a:buClr>
              <a:buFont typeface="Arial"/>
              <a:buChar char="•"/>
            </a:pPr>
            <a:r>
              <a:rPr sz="2400" b="0">
                <a:solidFill>
                  <a:srgbClr val="343434"/>
                </a:solidFill>
                <a:latin typeface="Calibri"/>
              </a:rPr>
              <a:t>3 source languages × 2 encoders × 3 seeds</a:t>
            </a:r>
          </a:p>
        </p:txBody>
      </p:sp>
      <p:sp>
        <p:nvSpPr>
          <p:cNvPr id="33" name="Out of scope"/>
          <p:cNvSpPr/>
          <p:nvPr/>
        </p:nvSpPr>
        <p:spPr>
          <a:xfrm>
            <a:off x="9052560" y="6812280"/>
            <a:ext cx="7680960" cy="2606040"/>
          </a:xfrm>
          <a:prstGeom prst="roundRect">
            <a:avLst>
              <a:gd name="adj" fmla="val 6000"/>
            </a:avLst>
          </a:prstGeom>
          <a:solidFill>
            <a:srgbClr val="FFFFFF">
              <a:alpha val="88000"/>
            </a:srgbClr>
          </a:solidFill>
          <a:ln w="15875">
            <a:solidFill>
              <a:srgbClr val="CFDDEC"/>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4" name="TextBox 33"/>
          <p:cNvSpPr txBox="1"/>
          <p:nvPr/>
        </p:nvSpPr>
        <p:spPr>
          <a:xfrm>
            <a:off x="9418320" y="6995160"/>
            <a:ext cx="6949440" cy="457200"/>
          </a:xfrm>
          <a:prstGeom prst="rect">
            <a:avLst/>
          </a:prstGeom>
          <a:noFill/>
        </p:spPr>
        <p:txBody>
          <a:bodyPr wrap="square" lIns="0" rIns="0" tIns="0" bIns="0" anchor="t">
            <a:spAutoFit/>
          </a:bodyPr>
          <a:lstStyle/>
          <a:p>
            <a:pPr algn="l"/>
            <a:r>
              <a:rPr sz="2000" b="1" i="0">
                <a:solidFill>
                  <a:srgbClr val="B8742F"/>
                </a:solidFill>
                <a:latin typeface="Calibri"/>
              </a:rPr>
              <a:t>OUT OF SCOPE</a:t>
            </a:r>
          </a:p>
        </p:txBody>
      </p:sp>
      <p:sp>
        <p:nvSpPr>
          <p:cNvPr id="35" name="TextBox 34"/>
          <p:cNvSpPr txBox="1"/>
          <p:nvPr/>
        </p:nvSpPr>
        <p:spPr>
          <a:xfrm>
            <a:off x="9418320" y="7498079"/>
            <a:ext cx="7040880" cy="1920240"/>
          </a:xfrm>
          <a:prstGeom prst="rect">
            <a:avLst/>
          </a:prstGeom>
          <a:noFill/>
        </p:spPr>
        <p:txBody>
          <a:bodyPr wrap="square" lIns="0" rIns="0" tIns="0" bIns="0">
            <a:spAutoFit/>
          </a:bodyPr>
          <a:lstStyle/>
          <a:p>
            <a:pPr marL="384048" indent="-384048">
              <a:spcAft>
                <a:spcPts val="800"/>
              </a:spcAft>
              <a:buClr>
                <a:srgbClr val="2F679F"/>
              </a:buClr>
              <a:buFont typeface="Arial"/>
              <a:buChar char="•"/>
            </a:pPr>
            <a:r>
              <a:rPr sz="2400" b="0">
                <a:solidFill>
                  <a:srgbClr val="343434"/>
                </a:solidFill>
                <a:latin typeface="Calibri"/>
              </a:rPr>
              <a:t>Few-shot and translate-train training</a:t>
            </a:r>
          </a:p>
          <a:p>
            <a:pPr marL="384048" indent="-384048">
              <a:spcAft>
                <a:spcPts val="800"/>
              </a:spcAft>
              <a:buClr>
                <a:srgbClr val="2F679F"/>
              </a:buClr>
              <a:buFont typeface="Arial"/>
              <a:buChar char="•"/>
            </a:pPr>
            <a:r>
              <a:rPr sz="2400" b="0">
                <a:solidFill>
                  <a:srgbClr val="343434"/>
                </a:solidFill>
                <a:latin typeface="Calibri"/>
              </a:rPr>
              <a:t>XLM-R (exceeds the 4 GB GPU)</a:t>
            </a:r>
          </a:p>
          <a:p>
            <a:pPr marL="384048" indent="-384048">
              <a:spcAft>
                <a:spcPts val="800"/>
              </a:spcAft>
              <a:buClr>
                <a:srgbClr val="2F679F"/>
              </a:buClr>
              <a:buFont typeface="Arial"/>
              <a:buChar char="•"/>
            </a:pPr>
            <a:r>
              <a:rPr sz="2400" b="0">
                <a:solidFill>
                  <a:srgbClr val="343434"/>
                </a:solidFill>
                <a:latin typeface="Calibri"/>
              </a:rPr>
              <a:t>Native Malayalam text (none upstream)</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name="Freeform 2" id="2"/>
          <p:cNvSpPr/>
          <p:nvPr/>
        </p:nvSpPr>
        <p:spPr>
          <a:xfrm flipH="false" flipV="false" rot="225008">
            <a:off x="-467361" y="-2757747"/>
            <a:ext cx="12701350" cy="5382197"/>
          </a:xfrm>
          <a:custGeom>
            <a:avLst/>
            <a:gdLst/>
            <a:ahLst/>
            <a:cxnLst/>
            <a:rect r="r" b="b" t="t" l="l"/>
            <a:pathLst>
              <a:path h="5382197" w="12701350">
                <a:moveTo>
                  <a:pt x="0" y="0"/>
                </a:moveTo>
                <a:lnTo>
                  <a:pt x="12701349" y="0"/>
                </a:lnTo>
                <a:lnTo>
                  <a:pt x="12701349" y="5382197"/>
                </a:lnTo>
                <a:lnTo>
                  <a:pt x="0" y="5382197"/>
                </a:lnTo>
                <a:lnTo>
                  <a:pt x="0" y="0"/>
                </a:lnTo>
                <a:close/>
              </a:path>
            </a:pathLst>
          </a:custGeom>
          <a:blipFill>
            <a:blip r:embed="rId2"/>
            <a:stretch>
              <a:fillRect l="0" t="0" r="0" b="0"/>
            </a:stretch>
          </a:blipFill>
        </p:spPr>
      </p:sp>
      <p:sp>
        <p:nvSpPr>
          <p:cNvPr name="Freeform 3" id="3"/>
          <p:cNvSpPr/>
          <p:nvPr/>
        </p:nvSpPr>
        <p:spPr>
          <a:xfrm flipH="false" flipV="false" rot="0">
            <a:off x="10986204" y="6250419"/>
            <a:ext cx="11514218" cy="8506128"/>
          </a:xfrm>
          <a:custGeom>
            <a:avLst/>
            <a:gdLst/>
            <a:ahLst/>
            <a:cxnLst/>
            <a:rect r="r" b="b" t="t" l="l"/>
            <a:pathLst>
              <a:path h="8506128" w="11514218">
                <a:moveTo>
                  <a:pt x="0" y="0"/>
                </a:moveTo>
                <a:lnTo>
                  <a:pt x="11514218" y="0"/>
                </a:lnTo>
                <a:lnTo>
                  <a:pt x="11514218" y="8506128"/>
                </a:lnTo>
                <a:lnTo>
                  <a:pt x="0" y="8506128"/>
                </a:lnTo>
                <a:lnTo>
                  <a:pt x="0" y="0"/>
                </a:lnTo>
                <a:close/>
              </a:path>
            </a:pathLst>
          </a:custGeom>
          <a:blipFill>
            <a:blip r:embed="rId3"/>
            <a:stretch>
              <a:fillRect l="0" t="0" r="0" b="0"/>
            </a:stretch>
          </a:blipFill>
        </p:spPr>
      </p:sp>
      <p:grpSp>
        <p:nvGrpSpPr>
          <p:cNvPr name="Group 4" id="4"/>
          <p:cNvGrpSpPr/>
          <p:nvPr/>
        </p:nvGrpSpPr>
        <p:grpSpPr>
          <a:xfrm rot="0">
            <a:off x="17259300" y="-392510"/>
            <a:ext cx="1437565" cy="11072020"/>
            <a:chOff x="0" y="0"/>
            <a:chExt cx="378618" cy="2916088"/>
          </a:xfrm>
        </p:grpSpPr>
        <p:sp>
          <p:nvSpPr>
            <p:cNvPr name="Freeform 5" id="5"/>
            <p:cNvSpPr/>
            <p:nvPr/>
          </p:nvSpPr>
          <p:spPr>
            <a:xfrm flipH="false" flipV="false" rot="0">
              <a:off x="0" y="0"/>
              <a:ext cx="378618" cy="2916088"/>
            </a:xfrm>
            <a:custGeom>
              <a:avLst/>
              <a:gdLst/>
              <a:ahLst/>
              <a:cxnLst/>
              <a:rect r="r" b="b" t="t" l="l"/>
              <a:pathLst>
                <a:path h="2916088" w="378618">
                  <a:moveTo>
                    <a:pt x="0" y="0"/>
                  </a:moveTo>
                  <a:lnTo>
                    <a:pt x="378618" y="0"/>
                  </a:lnTo>
                  <a:lnTo>
                    <a:pt x="378618" y="2916088"/>
                  </a:lnTo>
                  <a:lnTo>
                    <a:pt x="0" y="2916088"/>
                  </a:lnTo>
                  <a:close/>
                </a:path>
              </a:pathLst>
            </a:custGeom>
            <a:gradFill rotWithShape="true">
              <a:gsLst>
                <a:gs pos="0">
                  <a:srgbClr val="E4B795">
                    <a:alpha val="100000"/>
                  </a:srgbClr>
                </a:gs>
                <a:gs pos="50000">
                  <a:srgbClr val="699ACD">
                    <a:alpha val="100000"/>
                  </a:srgbClr>
                </a:gs>
                <a:gs pos="100000">
                  <a:srgbClr val="2F679F">
                    <a:alpha val="100000"/>
                  </a:srgbClr>
                </a:gs>
              </a:gsLst>
              <a:path path="circle">
                <a:fillToRect l="0" r="100000" t="0" b="100000"/>
              </a:path>
              <a:tileRect r="0" l="-100000" b="0" t="-100000"/>
            </a:gradFill>
          </p:spPr>
        </p:sp>
        <p:sp>
          <p:nvSpPr>
            <p:cNvPr name="TextBox 6" id="6"/>
            <p:cNvSpPr txBox="true"/>
            <p:nvPr/>
          </p:nvSpPr>
          <p:spPr>
            <a:xfrm>
              <a:off x="0" y="-57150"/>
              <a:ext cx="378618" cy="2973238"/>
            </a:xfrm>
            <a:prstGeom prst="rect">
              <a:avLst/>
            </a:prstGeom>
          </p:spPr>
          <p:txBody>
            <a:bodyPr anchor="ctr" rtlCol="false" tIns="50800" lIns="50800" bIns="50800" rIns="50800"/>
            <a:lstStyle/>
            <a:p>
              <a:pPr algn="ctr">
                <a:lnSpc>
                  <a:spcPts val="3639"/>
                </a:lnSpc>
              </a:pPr>
            </a:p>
          </p:txBody>
        </p:sp>
      </p:grpSp>
      <p:sp>
        <p:nvSpPr>
          <p:cNvPr name="TextBox 7" id="7"/>
          <p:cNvSpPr txBox="true"/>
          <p:nvPr/>
        </p:nvSpPr>
        <p:spPr>
          <a:xfrm rot="0">
            <a:off x="8021110" y="782737"/>
            <a:ext cx="2492949" cy="351790"/>
          </a:xfrm>
          <a:prstGeom prst="rect">
            <a:avLst/>
          </a:prstGeom>
        </p:spPr>
        <p:txBody>
          <a:bodyPr anchor="t" rtlCol="false" tIns="0" lIns="0" bIns="0" rIns="0">
            <a:spAutoFit/>
          </a:bodyPr>
          <a:lstStyle/>
          <a:p>
            <a:pPr algn="l">
              <a:lnSpc>
                <a:spcPts val="2660"/>
              </a:lnSpc>
              <a:spcBef>
                <a:spcPct val="0"/>
              </a:spcBef>
            </a:pPr>
            <a:r>
              <a:rPr lang="en-US" sz="1900" spc="95">
                <a:solidFill>
                  <a:srgbClr val="164B82"/>
                </a:solidFill>
                <a:latin typeface="Calibri"/>
                <a:ea typeface="Telegraf Extra-Light"/>
                <a:cs typeface="Telegraf Extra-Light"/>
                <a:sym typeface="Telegraf Extra-Light"/>
              </a:rPr>
              <a:t>BCSE497J · Project I</a:t>
            </a:r>
          </a:p>
        </p:txBody>
      </p:sp>
      <p:sp>
        <p:nvSpPr>
          <p:cNvPr name="TextBox 8" id="8"/>
          <p:cNvSpPr txBox="true"/>
          <p:nvPr/>
        </p:nvSpPr>
        <p:spPr>
          <a:xfrm rot="0">
            <a:off x="13305333" y="782737"/>
            <a:ext cx="1819999" cy="351790"/>
          </a:xfrm>
          <a:prstGeom prst="rect">
            <a:avLst/>
          </a:prstGeom>
        </p:spPr>
        <p:txBody>
          <a:bodyPr anchor="t" rtlCol="false" tIns="0" lIns="0" bIns="0" rIns="0">
            <a:spAutoFit/>
          </a:bodyPr>
          <a:lstStyle/>
          <a:p>
            <a:pPr algn="r">
              <a:lnSpc>
                <a:spcPts val="2660"/>
              </a:lnSpc>
              <a:spcBef>
                <a:spcPct val="0"/>
              </a:spcBef>
            </a:pPr>
            <a:r>
              <a:rPr lang="en-US" sz="1900" spc="95">
                <a:solidFill>
                  <a:srgbClr val="164B82"/>
                </a:solidFill>
                <a:latin typeface="Calibri"/>
                <a:ea typeface="Telegraf Extra-Light"/>
                <a:cs typeface="Telegraf Extra-Light"/>
                <a:sym typeface="Telegraf Extra-Light"/>
              </a:rPr>
              <a:t>Oct 2026</a:t>
            </a:r>
          </a:p>
        </p:txBody>
      </p:sp>
      <p:sp>
        <p:nvSpPr>
          <p:cNvPr name="TextBox 9" id="9"/>
          <p:cNvSpPr txBox="true"/>
          <p:nvPr/>
        </p:nvSpPr>
        <p:spPr>
          <a:xfrm rot="0">
            <a:off x="11045641" y="782737"/>
            <a:ext cx="1819999" cy="351790"/>
          </a:xfrm>
          <a:prstGeom prst="rect">
            <a:avLst/>
          </a:prstGeom>
        </p:spPr>
        <p:txBody>
          <a:bodyPr anchor="t" rtlCol="false" tIns="0" lIns="0" bIns="0" rIns="0">
            <a:spAutoFit/>
          </a:bodyPr>
          <a:lstStyle/>
          <a:p>
            <a:pPr algn="ctr">
              <a:lnSpc>
                <a:spcPts val="2660"/>
              </a:lnSpc>
              <a:spcBef>
                <a:spcPct val="0"/>
              </a:spcBef>
            </a:pPr>
            <a:r>
              <a:rPr lang="en-US" sz="1900" spc="95">
                <a:solidFill>
                  <a:srgbClr val="164B82"/>
                </a:solidFill>
                <a:latin typeface="Calibri"/>
                <a:ea typeface="Telegraf Extra-Light"/>
                <a:cs typeface="Telegraf Extra-Light"/>
                <a:sym typeface="Telegraf Extra-Light"/>
              </a:rPr>
              <a:t>Guide Review</a:t>
            </a:r>
          </a:p>
        </p:txBody>
      </p:sp>
      <p:grpSp>
        <p:nvGrpSpPr>
          <p:cNvPr name="Group 10" id="10"/>
          <p:cNvGrpSpPr/>
          <p:nvPr/>
        </p:nvGrpSpPr>
        <p:grpSpPr>
          <a:xfrm rot="5400000">
            <a:off x="11279340" y="-3711595"/>
            <a:ext cx="643045" cy="9407130"/>
            <a:chOff x="0" y="0"/>
            <a:chExt cx="169362" cy="2477598"/>
          </a:xfrm>
        </p:grpSpPr>
        <p:sp>
          <p:nvSpPr>
            <p:cNvPr name="Freeform 11" id="11"/>
            <p:cNvSpPr/>
            <p:nvPr/>
          </p:nvSpPr>
          <p:spPr>
            <a:xfrm flipH="false" flipV="false" rot="0">
              <a:off x="0" y="0"/>
              <a:ext cx="169362" cy="2477598"/>
            </a:xfrm>
            <a:custGeom>
              <a:avLst/>
              <a:gdLst/>
              <a:ahLst/>
              <a:cxnLst/>
              <a:rect r="r" b="b" t="t" l="l"/>
              <a:pathLst>
                <a:path h="2477598" w="169362">
                  <a:moveTo>
                    <a:pt x="84681" y="0"/>
                  </a:moveTo>
                  <a:lnTo>
                    <a:pt x="84681" y="0"/>
                  </a:lnTo>
                  <a:cubicBezTo>
                    <a:pt x="107140" y="0"/>
                    <a:pt x="128678" y="8922"/>
                    <a:pt x="144559" y="24802"/>
                  </a:cubicBezTo>
                  <a:cubicBezTo>
                    <a:pt x="160440" y="40683"/>
                    <a:pt x="169362" y="62222"/>
                    <a:pt x="169362" y="84681"/>
                  </a:cubicBezTo>
                  <a:lnTo>
                    <a:pt x="169362" y="2392917"/>
                  </a:lnTo>
                  <a:cubicBezTo>
                    <a:pt x="169362" y="2439685"/>
                    <a:pt x="131449" y="2477598"/>
                    <a:pt x="84681" y="2477598"/>
                  </a:cubicBezTo>
                  <a:lnTo>
                    <a:pt x="84681" y="2477598"/>
                  </a:lnTo>
                  <a:cubicBezTo>
                    <a:pt x="37913" y="2477598"/>
                    <a:pt x="0" y="2439685"/>
                    <a:pt x="0" y="2392917"/>
                  </a:cubicBezTo>
                  <a:lnTo>
                    <a:pt x="0" y="84681"/>
                  </a:lnTo>
                  <a:cubicBezTo>
                    <a:pt x="0" y="37913"/>
                    <a:pt x="37913" y="0"/>
                    <a:pt x="84681" y="0"/>
                  </a:cubicBezTo>
                  <a:close/>
                </a:path>
              </a:pathLst>
            </a:custGeom>
            <a:ln w="19050" cap="rnd">
              <a:solidFill>
                <a:srgbClr val="164B82"/>
              </a:solidFill>
              <a:prstDash val="solid"/>
              <a:round/>
            </a:ln>
          </p:spPr>
        </p:sp>
        <p:sp>
          <p:nvSpPr>
            <p:cNvPr name="TextBox 12" id="12"/>
            <p:cNvSpPr txBox="true"/>
            <p:nvPr/>
          </p:nvSpPr>
          <p:spPr>
            <a:xfrm>
              <a:off x="0" y="-57150"/>
              <a:ext cx="169362" cy="2534748"/>
            </a:xfrm>
            <a:prstGeom prst="rect">
              <a:avLst/>
            </a:prstGeom>
          </p:spPr>
          <p:txBody>
            <a:bodyPr anchor="ctr" rtlCol="false" tIns="50800" lIns="50800" bIns="50800" rIns="50800"/>
            <a:lstStyle/>
            <a:p>
              <a:pPr algn="ctr">
                <a:lnSpc>
                  <a:spcPts val="3639"/>
                </a:lnSpc>
              </a:pPr>
            </a:p>
          </p:txBody>
        </p:sp>
      </p:grpSp>
      <p:sp>
        <p:nvSpPr>
          <p:cNvPr id="13" name="Title"/>
          <p:cNvSpPr txBox="1"/>
          <p:nvPr/>
        </p:nvSpPr>
        <p:spPr>
          <a:xfrm>
            <a:off x="1005840" y="1371600"/>
            <a:ext cx="15727680" cy="1097280"/>
          </a:xfrm>
          <a:prstGeom prst="rect">
            <a:avLst/>
          </a:prstGeom>
          <a:noFill/>
        </p:spPr>
        <p:txBody>
          <a:bodyPr wrap="square" lIns="0" rIns="0" tIns="0" bIns="0" anchor="ctr">
            <a:spAutoFit/>
          </a:bodyPr>
          <a:lstStyle/>
          <a:p>
            <a:pPr algn="l"/>
            <a:r>
              <a:rPr sz="4800" b="1" i="0">
                <a:solidFill>
                  <a:srgbClr val="343434"/>
                </a:solidFill>
                <a:latin typeface="Calibri"/>
              </a:rPr>
              <a:t>Literature Survey: Gaps Found</a:t>
            </a:r>
          </a:p>
        </p:txBody>
      </p:sp>
      <p:sp>
        <p:nvSpPr>
          <p:cNvPr id="14" name="Page"/>
          <p:cNvSpPr txBox="1"/>
          <p:nvPr/>
        </p:nvSpPr>
        <p:spPr>
          <a:xfrm>
            <a:off x="1005840" y="9646920"/>
            <a:ext cx="3657600" cy="365760"/>
          </a:xfrm>
          <a:prstGeom prst="rect">
            <a:avLst/>
          </a:prstGeom>
          <a:noFill/>
        </p:spPr>
        <p:txBody>
          <a:bodyPr wrap="square" lIns="0" rIns="0" tIns="0" bIns="0" anchor="t">
            <a:spAutoFit/>
          </a:bodyPr>
          <a:lstStyle/>
          <a:p>
            <a:pPr algn="l"/>
            <a:r>
              <a:rPr sz="1800" b="0" i="0">
                <a:solidFill>
                  <a:srgbClr val="164B82"/>
                </a:solidFill>
                <a:latin typeface="Calibri"/>
              </a:rPr>
              <a:t>4 / 19</a:t>
            </a:r>
          </a:p>
        </p:txBody>
      </p:sp>
      <p:graphicFrame>
        <p:nvGraphicFramePr>
          <p:cNvPr id="15" name="Literature table"/>
          <p:cNvGraphicFramePr>
            <a:graphicFrameLocks noGrp="1"/>
          </p:cNvGraphicFramePr>
          <p:nvPr/>
        </p:nvGraphicFramePr>
        <p:xfrm>
          <a:off x="1005840" y="2697480"/>
          <a:ext cx="15727680" cy="6729984"/>
        </p:xfrm>
        <a:graphic>
          <a:graphicData uri="http://schemas.openxmlformats.org/drawingml/2006/table">
            <a:tbl>
              <a:tblPr firstRow="0" bandRow="0">
                <a:tableStyleId>{2D5ABB26-0587-4C30-8999-92F81FD0307C}</a:tableStyleId>
              </a:tblPr>
              <a:tblGrid>
                <a:gridCol w="4480560"/>
                <a:gridCol w="5486400"/>
                <a:gridCol w="5760720"/>
              </a:tblGrid>
              <a:tr h="841248">
                <a:tc>
                  <a:txBody>
                    <a:bodyPr wrap="square"/>
                    <a:lstStyle/>
                    <a:p>
                      <a:r>
                        <a:rPr sz="2200" b="1">
                          <a:solidFill>
                            <a:srgbClr val="FFFFFF"/>
                          </a:solidFill>
                          <a:latin typeface="Calibri"/>
                        </a:rPr>
                        <a:t>Work</a:t>
                      </a:r>
                    </a:p>
                  </a:txBody>
                  <a:tcPr marL="128016" marR="128016" marT="45720" marB="45720" anchor="ctr">
                    <a:solidFill>
                      <a:srgbClr val="164B82"/>
                    </a:solidFill>
                  </a:tcPr>
                </a:tc>
                <a:tc>
                  <a:txBody>
                    <a:bodyPr wrap="square"/>
                    <a:lstStyle/>
                    <a:p>
                      <a:r>
                        <a:rPr sz="2200" b="1">
                          <a:solidFill>
                            <a:srgbClr val="FFFFFF"/>
                          </a:solidFill>
                          <a:latin typeface="Calibri"/>
                        </a:rPr>
                        <a:t>What it provides</a:t>
                      </a:r>
                    </a:p>
                  </a:txBody>
                  <a:tcPr marL="128016" marR="128016" marT="45720" marB="45720" anchor="ctr">
                    <a:solidFill>
                      <a:srgbClr val="164B82"/>
                    </a:solidFill>
                  </a:tcPr>
                </a:tc>
                <a:tc>
                  <a:txBody>
                    <a:bodyPr wrap="square"/>
                    <a:lstStyle/>
                    <a:p>
                      <a:r>
                        <a:rPr sz="2200" b="1">
                          <a:solidFill>
                            <a:srgbClr val="FFFFFF"/>
                          </a:solidFill>
                          <a:latin typeface="Calibri"/>
                        </a:rPr>
                        <a:t>Gap for this study</a:t>
                      </a:r>
                    </a:p>
                  </a:txBody>
                  <a:tcPr marL="128016" marR="128016" marT="45720" marB="45720" anchor="ctr">
                    <a:solidFill>
                      <a:srgbClr val="164B82"/>
                    </a:solidFill>
                  </a:tcPr>
                </a:tc>
              </a:tr>
              <a:tr h="841248">
                <a:tc>
                  <a:txBody>
                    <a:bodyPr wrap="square"/>
                    <a:lstStyle/>
                    <a:p>
                      <a:r>
                        <a:rPr sz="2200" b="1">
                          <a:solidFill>
                            <a:srgbClr val="343434"/>
                          </a:solidFill>
                          <a:latin typeface="Calibri"/>
                        </a:rPr>
                        <a:t>IndicFinNLP (Ghosh et al., 2024)</a:t>
                      </a:r>
                    </a:p>
                  </a:txBody>
                  <a:tcPr marL="128016" marR="128016" marT="45720" marB="45720" anchor="ctr">
                    <a:solidFill>
                      <a:srgbClr val="FFFFFF"/>
                    </a:solidFill>
                  </a:tcPr>
                </a:tc>
                <a:tc>
                  <a:txBody>
                    <a:bodyPr wrap="square"/>
                    <a:lstStyle/>
                    <a:p>
                      <a:r>
                        <a:rPr sz="2200" b="0">
                          <a:solidFill>
                            <a:srgbClr val="343434"/>
                          </a:solidFill>
                          <a:latin typeface="Calibri"/>
                        </a:rPr>
                        <a:t>3 financial tasks in Hi, Bn, Te</a:t>
                      </a:r>
                    </a:p>
                  </a:txBody>
                  <a:tcPr marL="128016" marR="128016" marT="45720" marB="45720" anchor="ctr">
                    <a:solidFill>
                      <a:srgbClr val="FFFFFF"/>
                    </a:solidFill>
                  </a:tcPr>
                </a:tc>
                <a:tc>
                  <a:txBody>
                    <a:bodyPr wrap="square"/>
                    <a:lstStyle/>
                    <a:p>
                      <a:r>
                        <a:rPr sz="2200" b="0">
                          <a:solidFill>
                            <a:srgbClr val="343434"/>
                          </a:solidFill>
                          <a:latin typeface="Calibri"/>
                        </a:rPr>
                        <a:t>Single-language baselines; no transfer measure</a:t>
                      </a:r>
                    </a:p>
                  </a:txBody>
                  <a:tcPr marL="128016" marR="128016" marT="45720" marB="45720" anchor="ctr">
                    <a:solidFill>
                      <a:srgbClr val="FFFFFF"/>
                    </a:solidFill>
                  </a:tcPr>
                </a:tc>
              </a:tr>
              <a:tr h="841248">
                <a:tc>
                  <a:txBody>
                    <a:bodyPr wrap="square"/>
                    <a:lstStyle/>
                    <a:p>
                      <a:r>
                        <a:rPr sz="2200" b="1">
                          <a:solidFill>
                            <a:srgbClr val="343434"/>
                          </a:solidFill>
                          <a:latin typeface="Calibri"/>
                        </a:rPr>
                        <a:t>MultiFin (Jørgensen et al., 2023)</a:t>
                      </a:r>
                    </a:p>
                  </a:txBody>
                  <a:tcPr marL="128016" marR="128016" marT="45720" marB="45720" anchor="ctr">
                    <a:solidFill>
                      <a:srgbClr val="EAF1F8"/>
                    </a:solidFill>
                  </a:tcPr>
                </a:tc>
                <a:tc>
                  <a:txBody>
                    <a:bodyPr wrap="square"/>
                    <a:lstStyle/>
                    <a:p>
                      <a:r>
                        <a:rPr sz="2200" b="0">
                          <a:solidFill>
                            <a:srgbClr val="343434"/>
                          </a:solidFill>
                          <a:latin typeface="Calibri"/>
                        </a:rPr>
                        <a:t>Headline classification, 15 languages</a:t>
                      </a:r>
                    </a:p>
                  </a:txBody>
                  <a:tcPr marL="128016" marR="128016" marT="45720" marB="45720" anchor="ctr">
                    <a:solidFill>
                      <a:srgbClr val="EAF1F8"/>
                    </a:solidFill>
                  </a:tcPr>
                </a:tc>
                <a:tc>
                  <a:txBody>
                    <a:bodyPr wrap="square"/>
                    <a:lstStyle/>
                    <a:p>
                      <a:r>
                        <a:rPr sz="2200" b="0">
                          <a:solidFill>
                            <a:srgbClr val="343434"/>
                          </a:solidFill>
                          <a:latin typeface="Calibri"/>
                        </a:rPr>
                        <a:t>No financial parallel set for Indic</a:t>
                      </a:r>
                    </a:p>
                  </a:txBody>
                  <a:tcPr marL="128016" marR="128016" marT="45720" marB="45720" anchor="ctr">
                    <a:solidFill>
                      <a:srgbClr val="EAF1F8"/>
                    </a:solidFill>
                  </a:tcPr>
                </a:tc>
              </a:tr>
              <a:tr h="841248">
                <a:tc>
                  <a:txBody>
                    <a:bodyPr wrap="square"/>
                    <a:lstStyle/>
                    <a:p>
                      <a:r>
                        <a:rPr sz="2200" b="1">
                          <a:solidFill>
                            <a:srgbClr val="343434"/>
                          </a:solidFill>
                          <a:latin typeface="Calibri"/>
                        </a:rPr>
                        <a:t>ML-ESG-2 (Chen et al., 2023)</a:t>
                      </a:r>
                    </a:p>
                  </a:txBody>
                  <a:tcPr marL="128016" marR="128016" marT="45720" marB="45720" anchor="ctr">
                    <a:solidFill>
                      <a:srgbClr val="FFFFFF"/>
                    </a:solidFill>
                  </a:tcPr>
                </a:tc>
                <a:tc>
                  <a:txBody>
                    <a:bodyPr wrap="square"/>
                    <a:lstStyle/>
                    <a:p>
                      <a:r>
                        <a:rPr sz="2200" b="0">
                          <a:solidFill>
                            <a:srgbClr val="343434"/>
                          </a:solidFill>
                          <a:latin typeface="Calibri"/>
                        </a:rPr>
                        <a:t>ESG impact in En, Zh, Ja, Fr</a:t>
                      </a:r>
                    </a:p>
                  </a:txBody>
                  <a:tcPr marL="128016" marR="128016" marT="45720" marB="45720" anchor="ctr">
                    <a:solidFill>
                      <a:srgbClr val="FFFFFF"/>
                    </a:solidFill>
                  </a:tcPr>
                </a:tc>
                <a:tc>
                  <a:txBody>
                    <a:bodyPr wrap="square"/>
                    <a:lstStyle/>
                    <a:p>
                      <a:r>
                        <a:rPr sz="2200" b="0">
                          <a:solidFill>
                            <a:srgbClr val="343434"/>
                          </a:solidFill>
                          <a:latin typeface="Calibri"/>
                        </a:rPr>
                        <a:t>No Indic language included</a:t>
                      </a:r>
                    </a:p>
                  </a:txBody>
                  <a:tcPr marL="128016" marR="128016" marT="45720" marB="45720" anchor="ctr">
                    <a:solidFill>
                      <a:srgbClr val="FFFFFF"/>
                    </a:solidFill>
                  </a:tcPr>
                </a:tc>
              </a:tr>
              <a:tr h="841248">
                <a:tc>
                  <a:txBody>
                    <a:bodyPr wrap="square"/>
                    <a:lstStyle/>
                    <a:p>
                      <a:r>
                        <a:rPr sz="2200" b="1">
                          <a:solidFill>
                            <a:srgbClr val="343434"/>
                          </a:solidFill>
                          <a:latin typeface="Calibri"/>
                        </a:rPr>
                        <a:t>IndicXTREME; IndicXNLI</a:t>
                      </a:r>
                    </a:p>
                  </a:txBody>
                  <a:tcPr marL="128016" marR="128016" marT="45720" marB="45720" anchor="ctr">
                    <a:solidFill>
                      <a:srgbClr val="EAF1F8"/>
                    </a:solidFill>
                  </a:tcPr>
                </a:tc>
                <a:tc>
                  <a:txBody>
                    <a:bodyPr wrap="square"/>
                    <a:lstStyle/>
                    <a:p>
                      <a:r>
                        <a:rPr sz="2200" b="0">
                          <a:solidFill>
                            <a:srgbClr val="343434"/>
                          </a:solidFill>
                          <a:latin typeface="Calibri"/>
                        </a:rPr>
                        <a:t>Parallel Indic NLU benchmarks</a:t>
                      </a:r>
                    </a:p>
                  </a:txBody>
                  <a:tcPr marL="128016" marR="128016" marT="45720" marB="45720" anchor="ctr">
                    <a:solidFill>
                      <a:srgbClr val="EAF1F8"/>
                    </a:solidFill>
                  </a:tcPr>
                </a:tc>
                <a:tc>
                  <a:txBody>
                    <a:bodyPr wrap="square"/>
                    <a:lstStyle/>
                    <a:p>
                      <a:r>
                        <a:rPr sz="2200" b="0">
                          <a:solidFill>
                            <a:srgbClr val="343434"/>
                          </a:solidFill>
                          <a:latin typeface="Calibri"/>
                        </a:rPr>
                        <a:t>No financial or ESG text</a:t>
                      </a:r>
                    </a:p>
                  </a:txBody>
                  <a:tcPr marL="128016" marR="128016" marT="45720" marB="45720" anchor="ctr">
                    <a:solidFill>
                      <a:srgbClr val="EAF1F8"/>
                    </a:solidFill>
                  </a:tcPr>
                </a:tc>
              </a:tr>
              <a:tr h="841248">
                <a:tc>
                  <a:txBody>
                    <a:bodyPr wrap="square"/>
                    <a:lstStyle/>
                    <a:p>
                      <a:r>
                        <a:rPr sz="2200" b="1">
                          <a:solidFill>
                            <a:srgbClr val="343434"/>
                          </a:solidFill>
                          <a:latin typeface="Calibri"/>
                        </a:rPr>
                        <a:t>XTREME; Lauscher et al.</a:t>
                      </a:r>
                    </a:p>
                  </a:txBody>
                  <a:tcPr marL="128016" marR="128016" marT="45720" marB="45720" anchor="ctr">
                    <a:solidFill>
                      <a:srgbClr val="FFFFFF"/>
                    </a:solidFill>
                  </a:tcPr>
                </a:tc>
                <a:tc>
                  <a:txBody>
                    <a:bodyPr wrap="square"/>
                    <a:lstStyle/>
                    <a:p>
                      <a:r>
                        <a:rPr sz="2200" b="0">
                          <a:solidFill>
                            <a:srgbClr val="343434"/>
                          </a:solidFill>
                          <a:latin typeface="Calibri"/>
                        </a:rPr>
                        <a:t>Transfer gap; worse for distant languages</a:t>
                      </a:r>
                    </a:p>
                  </a:txBody>
                  <a:tcPr marL="128016" marR="128016" marT="45720" marB="45720" anchor="ctr">
                    <a:solidFill>
                      <a:srgbClr val="FFFFFF"/>
                    </a:solidFill>
                  </a:tcPr>
                </a:tc>
                <a:tc>
                  <a:txBody>
                    <a:bodyPr wrap="square"/>
                    <a:lstStyle/>
                    <a:p>
                      <a:r>
                        <a:rPr sz="2200" b="0">
                          <a:solidFill>
                            <a:srgbClr val="343434"/>
                          </a:solidFill>
                          <a:latin typeface="Calibri"/>
                        </a:rPr>
                        <a:t>Not tied to numerals, terms, morphology</a:t>
                      </a:r>
                    </a:p>
                  </a:txBody>
                  <a:tcPr marL="128016" marR="128016" marT="45720" marB="45720" anchor="ctr">
                    <a:solidFill>
                      <a:srgbClr val="FFFFFF"/>
                    </a:solidFill>
                  </a:tcPr>
                </a:tc>
              </a:tr>
              <a:tr h="841248">
                <a:tc>
                  <a:txBody>
                    <a:bodyPr wrap="square"/>
                    <a:lstStyle/>
                    <a:p>
                      <a:r>
                        <a:rPr sz="2200" b="1">
                          <a:solidFill>
                            <a:srgbClr val="343434"/>
                          </a:solidFill>
                          <a:latin typeface="Calibri"/>
                        </a:rPr>
                        <a:t>Agrawal et al. (2024)</a:t>
                      </a:r>
                    </a:p>
                  </a:txBody>
                  <a:tcPr marL="128016" marR="128016" marT="45720" marB="45720" anchor="ctr">
                    <a:solidFill>
                      <a:srgbClr val="EAF1F8"/>
                    </a:solidFill>
                  </a:tcPr>
                </a:tc>
                <a:tc>
                  <a:txBody>
                    <a:bodyPr wrap="square"/>
                    <a:lstStyle/>
                    <a:p>
                      <a:r>
                        <a:rPr sz="2200" b="0">
                          <a:solidFill>
                            <a:srgbClr val="343434"/>
                          </a:solidFill>
                          <a:latin typeface="Calibri"/>
                        </a:rPr>
                        <a:t>MT errors hurt low-resource transfer</a:t>
                      </a:r>
                    </a:p>
                  </a:txBody>
                  <a:tcPr marL="128016" marR="128016" marT="45720" marB="45720" anchor="ctr">
                    <a:solidFill>
                      <a:srgbClr val="EAF1F8"/>
                    </a:solidFill>
                  </a:tcPr>
                </a:tc>
                <a:tc>
                  <a:txBody>
                    <a:bodyPr wrap="square"/>
                    <a:lstStyle/>
                    <a:p>
                      <a:r>
                        <a:rPr sz="2200" b="0">
                          <a:solidFill>
                            <a:srgbClr val="343434"/>
                          </a:solidFill>
                          <a:latin typeface="Calibri"/>
                        </a:rPr>
                        <a:t>New parallel sets need quality checks</a:t>
                      </a:r>
                    </a:p>
                  </a:txBody>
                  <a:tcPr marL="128016" marR="128016" marT="45720" marB="45720" anchor="ctr">
                    <a:solidFill>
                      <a:srgbClr val="EAF1F8"/>
                    </a:solidFill>
                  </a:tcPr>
                </a:tc>
              </a:tr>
              <a:tr h="841248">
                <a:tc>
                  <a:txBody>
                    <a:bodyPr wrap="square"/>
                    <a:lstStyle/>
                    <a:p>
                      <a:r>
                        <a:rPr sz="2200" b="1">
                          <a:solidFill>
                            <a:srgbClr val="343434"/>
                          </a:solidFill>
                          <a:latin typeface="Calibri"/>
                        </a:rPr>
                        <a:t>This study</a:t>
                      </a:r>
                    </a:p>
                  </a:txBody>
                  <a:tcPr marL="128016" marR="128016" marT="45720" marB="45720" anchor="ctr">
                    <a:solidFill>
                      <a:srgbClr val="E4B795"/>
                    </a:solidFill>
                  </a:tcPr>
                </a:tc>
                <a:tc>
                  <a:txBody>
                    <a:bodyPr wrap="square"/>
                    <a:lstStyle/>
                    <a:p>
                      <a:r>
                        <a:rPr sz="2200" b="1">
                          <a:solidFill>
                            <a:srgbClr val="343434"/>
                          </a:solidFill>
                          <a:latin typeface="Calibri"/>
                        </a:rPr>
                        <a:t>4-way parallel financial corpus + transfer + diagnosis</a:t>
                      </a:r>
                    </a:p>
                  </a:txBody>
                  <a:tcPr marL="128016" marR="128016" marT="45720" marB="45720" anchor="ctr">
                    <a:solidFill>
                      <a:srgbClr val="E4B795"/>
                    </a:solidFill>
                  </a:tcPr>
                </a:tc>
                <a:tc>
                  <a:txBody>
                    <a:bodyPr wrap="square"/>
                    <a:lstStyle/>
                    <a:p>
                      <a:r>
                        <a:rPr sz="2200" b="1">
                          <a:solidFill>
                            <a:srgbClr val="343434"/>
                          </a:solidFill>
                          <a:latin typeface="Calibri"/>
                        </a:rPr>
                        <a:t>Closes all gaps together</a:t>
                      </a:r>
                    </a:p>
                  </a:txBody>
                  <a:tcPr marL="128016" marR="128016" marT="45720" marB="45720" anchor="ctr">
                    <a:solidFill>
                      <a:srgbClr val="E4B795"/>
                    </a:solidFill>
                  </a:tcPr>
                </a:tc>
              </a:tr>
            </a:tbl>
          </a:graphicData>
        </a:graphic>
      </p:graphicFrame>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name="Freeform 2" id="2"/>
          <p:cNvSpPr/>
          <p:nvPr/>
        </p:nvSpPr>
        <p:spPr>
          <a:xfrm flipH="false" flipV="false" rot="225008">
            <a:off x="-467361" y="-2757747"/>
            <a:ext cx="12701350" cy="5382197"/>
          </a:xfrm>
          <a:custGeom>
            <a:avLst/>
            <a:gdLst/>
            <a:ahLst/>
            <a:cxnLst/>
            <a:rect r="r" b="b" t="t" l="l"/>
            <a:pathLst>
              <a:path h="5382197" w="12701350">
                <a:moveTo>
                  <a:pt x="0" y="0"/>
                </a:moveTo>
                <a:lnTo>
                  <a:pt x="12701349" y="0"/>
                </a:lnTo>
                <a:lnTo>
                  <a:pt x="12701349" y="5382197"/>
                </a:lnTo>
                <a:lnTo>
                  <a:pt x="0" y="5382197"/>
                </a:lnTo>
                <a:lnTo>
                  <a:pt x="0" y="0"/>
                </a:lnTo>
                <a:close/>
              </a:path>
            </a:pathLst>
          </a:custGeom>
          <a:blipFill>
            <a:blip r:embed="rId2"/>
            <a:stretch>
              <a:fillRect l="0" t="0" r="0" b="0"/>
            </a:stretch>
          </a:blipFill>
        </p:spPr>
      </p:sp>
      <p:sp>
        <p:nvSpPr>
          <p:cNvPr name="Freeform 3" id="3"/>
          <p:cNvSpPr/>
          <p:nvPr/>
        </p:nvSpPr>
        <p:spPr>
          <a:xfrm flipH="false" flipV="false" rot="0">
            <a:off x="10986204" y="6250419"/>
            <a:ext cx="11514218" cy="8506128"/>
          </a:xfrm>
          <a:custGeom>
            <a:avLst/>
            <a:gdLst/>
            <a:ahLst/>
            <a:cxnLst/>
            <a:rect r="r" b="b" t="t" l="l"/>
            <a:pathLst>
              <a:path h="8506128" w="11514218">
                <a:moveTo>
                  <a:pt x="0" y="0"/>
                </a:moveTo>
                <a:lnTo>
                  <a:pt x="11514218" y="0"/>
                </a:lnTo>
                <a:lnTo>
                  <a:pt x="11514218" y="8506128"/>
                </a:lnTo>
                <a:lnTo>
                  <a:pt x="0" y="8506128"/>
                </a:lnTo>
                <a:lnTo>
                  <a:pt x="0" y="0"/>
                </a:lnTo>
                <a:close/>
              </a:path>
            </a:pathLst>
          </a:custGeom>
          <a:blipFill>
            <a:blip r:embed="rId3"/>
            <a:stretch>
              <a:fillRect l="0" t="0" r="0" b="0"/>
            </a:stretch>
          </a:blipFill>
        </p:spPr>
      </p:sp>
      <p:grpSp>
        <p:nvGrpSpPr>
          <p:cNvPr name="Group 4" id="4"/>
          <p:cNvGrpSpPr/>
          <p:nvPr/>
        </p:nvGrpSpPr>
        <p:grpSpPr>
          <a:xfrm rot="0">
            <a:off x="17259300" y="-392510"/>
            <a:ext cx="1437565" cy="11072020"/>
            <a:chOff x="0" y="0"/>
            <a:chExt cx="378618" cy="2916088"/>
          </a:xfrm>
        </p:grpSpPr>
        <p:sp>
          <p:nvSpPr>
            <p:cNvPr name="Freeform 5" id="5"/>
            <p:cNvSpPr/>
            <p:nvPr/>
          </p:nvSpPr>
          <p:spPr>
            <a:xfrm flipH="false" flipV="false" rot="0">
              <a:off x="0" y="0"/>
              <a:ext cx="378618" cy="2916088"/>
            </a:xfrm>
            <a:custGeom>
              <a:avLst/>
              <a:gdLst/>
              <a:ahLst/>
              <a:cxnLst/>
              <a:rect r="r" b="b" t="t" l="l"/>
              <a:pathLst>
                <a:path h="2916088" w="378618">
                  <a:moveTo>
                    <a:pt x="0" y="0"/>
                  </a:moveTo>
                  <a:lnTo>
                    <a:pt x="378618" y="0"/>
                  </a:lnTo>
                  <a:lnTo>
                    <a:pt x="378618" y="2916088"/>
                  </a:lnTo>
                  <a:lnTo>
                    <a:pt x="0" y="2916088"/>
                  </a:lnTo>
                  <a:close/>
                </a:path>
              </a:pathLst>
            </a:custGeom>
            <a:gradFill rotWithShape="true">
              <a:gsLst>
                <a:gs pos="0">
                  <a:srgbClr val="E4B795">
                    <a:alpha val="100000"/>
                  </a:srgbClr>
                </a:gs>
                <a:gs pos="50000">
                  <a:srgbClr val="699ACD">
                    <a:alpha val="100000"/>
                  </a:srgbClr>
                </a:gs>
                <a:gs pos="100000">
                  <a:srgbClr val="2F679F">
                    <a:alpha val="100000"/>
                  </a:srgbClr>
                </a:gs>
              </a:gsLst>
              <a:path path="circle">
                <a:fillToRect l="0" r="100000" t="0" b="100000"/>
              </a:path>
              <a:tileRect r="0" l="-100000" b="0" t="-100000"/>
            </a:gradFill>
          </p:spPr>
        </p:sp>
        <p:sp>
          <p:nvSpPr>
            <p:cNvPr name="TextBox 6" id="6"/>
            <p:cNvSpPr txBox="true"/>
            <p:nvPr/>
          </p:nvSpPr>
          <p:spPr>
            <a:xfrm>
              <a:off x="0" y="-57150"/>
              <a:ext cx="378618" cy="2973238"/>
            </a:xfrm>
            <a:prstGeom prst="rect">
              <a:avLst/>
            </a:prstGeom>
          </p:spPr>
          <p:txBody>
            <a:bodyPr anchor="ctr" rtlCol="false" tIns="50800" lIns="50800" bIns="50800" rIns="50800"/>
            <a:lstStyle/>
            <a:p>
              <a:pPr algn="ctr">
                <a:lnSpc>
                  <a:spcPts val="3639"/>
                </a:lnSpc>
              </a:pPr>
            </a:p>
          </p:txBody>
        </p:sp>
      </p:grpSp>
      <p:sp>
        <p:nvSpPr>
          <p:cNvPr name="TextBox 7" id="7"/>
          <p:cNvSpPr txBox="true"/>
          <p:nvPr/>
        </p:nvSpPr>
        <p:spPr>
          <a:xfrm rot="0">
            <a:off x="8021110" y="782737"/>
            <a:ext cx="2492949" cy="351790"/>
          </a:xfrm>
          <a:prstGeom prst="rect">
            <a:avLst/>
          </a:prstGeom>
        </p:spPr>
        <p:txBody>
          <a:bodyPr anchor="t" rtlCol="false" tIns="0" lIns="0" bIns="0" rIns="0">
            <a:spAutoFit/>
          </a:bodyPr>
          <a:lstStyle/>
          <a:p>
            <a:pPr algn="l">
              <a:lnSpc>
                <a:spcPts val="2660"/>
              </a:lnSpc>
              <a:spcBef>
                <a:spcPct val="0"/>
              </a:spcBef>
            </a:pPr>
            <a:r>
              <a:rPr lang="en-US" sz="1900" spc="95">
                <a:solidFill>
                  <a:srgbClr val="164B82"/>
                </a:solidFill>
                <a:latin typeface="Calibri"/>
                <a:ea typeface="Telegraf Extra-Light"/>
                <a:cs typeface="Telegraf Extra-Light"/>
                <a:sym typeface="Telegraf Extra-Light"/>
              </a:rPr>
              <a:t>BCSE497J · Project I</a:t>
            </a:r>
          </a:p>
        </p:txBody>
      </p:sp>
      <p:sp>
        <p:nvSpPr>
          <p:cNvPr name="TextBox 8" id="8"/>
          <p:cNvSpPr txBox="true"/>
          <p:nvPr/>
        </p:nvSpPr>
        <p:spPr>
          <a:xfrm rot="0">
            <a:off x="13305333" y="782737"/>
            <a:ext cx="1819999" cy="351790"/>
          </a:xfrm>
          <a:prstGeom prst="rect">
            <a:avLst/>
          </a:prstGeom>
        </p:spPr>
        <p:txBody>
          <a:bodyPr anchor="t" rtlCol="false" tIns="0" lIns="0" bIns="0" rIns="0">
            <a:spAutoFit/>
          </a:bodyPr>
          <a:lstStyle/>
          <a:p>
            <a:pPr algn="r">
              <a:lnSpc>
                <a:spcPts val="2660"/>
              </a:lnSpc>
              <a:spcBef>
                <a:spcPct val="0"/>
              </a:spcBef>
            </a:pPr>
            <a:r>
              <a:rPr lang="en-US" sz="1900" spc="95">
                <a:solidFill>
                  <a:srgbClr val="164B82"/>
                </a:solidFill>
                <a:latin typeface="Calibri"/>
                <a:ea typeface="Telegraf Extra-Light"/>
                <a:cs typeface="Telegraf Extra-Light"/>
                <a:sym typeface="Telegraf Extra-Light"/>
              </a:rPr>
              <a:t>Oct 2026</a:t>
            </a:r>
          </a:p>
        </p:txBody>
      </p:sp>
      <p:sp>
        <p:nvSpPr>
          <p:cNvPr name="TextBox 9" id="9"/>
          <p:cNvSpPr txBox="true"/>
          <p:nvPr/>
        </p:nvSpPr>
        <p:spPr>
          <a:xfrm rot="0">
            <a:off x="11045641" y="782737"/>
            <a:ext cx="1819999" cy="351790"/>
          </a:xfrm>
          <a:prstGeom prst="rect">
            <a:avLst/>
          </a:prstGeom>
        </p:spPr>
        <p:txBody>
          <a:bodyPr anchor="t" rtlCol="false" tIns="0" lIns="0" bIns="0" rIns="0">
            <a:spAutoFit/>
          </a:bodyPr>
          <a:lstStyle/>
          <a:p>
            <a:pPr algn="ctr">
              <a:lnSpc>
                <a:spcPts val="2660"/>
              </a:lnSpc>
              <a:spcBef>
                <a:spcPct val="0"/>
              </a:spcBef>
            </a:pPr>
            <a:r>
              <a:rPr lang="en-US" sz="1900" spc="95">
                <a:solidFill>
                  <a:srgbClr val="164B82"/>
                </a:solidFill>
                <a:latin typeface="Calibri"/>
                <a:ea typeface="Telegraf Extra-Light"/>
                <a:cs typeface="Telegraf Extra-Light"/>
                <a:sym typeface="Telegraf Extra-Light"/>
              </a:rPr>
              <a:t>Guide Review</a:t>
            </a:r>
          </a:p>
        </p:txBody>
      </p:sp>
      <p:grpSp>
        <p:nvGrpSpPr>
          <p:cNvPr name="Group 10" id="10"/>
          <p:cNvGrpSpPr/>
          <p:nvPr/>
        </p:nvGrpSpPr>
        <p:grpSpPr>
          <a:xfrm rot="5400000">
            <a:off x="11279340" y="-3711595"/>
            <a:ext cx="643045" cy="9407130"/>
            <a:chOff x="0" y="0"/>
            <a:chExt cx="169362" cy="2477598"/>
          </a:xfrm>
        </p:grpSpPr>
        <p:sp>
          <p:nvSpPr>
            <p:cNvPr name="Freeform 11" id="11"/>
            <p:cNvSpPr/>
            <p:nvPr/>
          </p:nvSpPr>
          <p:spPr>
            <a:xfrm flipH="false" flipV="false" rot="0">
              <a:off x="0" y="0"/>
              <a:ext cx="169362" cy="2477598"/>
            </a:xfrm>
            <a:custGeom>
              <a:avLst/>
              <a:gdLst/>
              <a:ahLst/>
              <a:cxnLst/>
              <a:rect r="r" b="b" t="t" l="l"/>
              <a:pathLst>
                <a:path h="2477598" w="169362">
                  <a:moveTo>
                    <a:pt x="84681" y="0"/>
                  </a:moveTo>
                  <a:lnTo>
                    <a:pt x="84681" y="0"/>
                  </a:lnTo>
                  <a:cubicBezTo>
                    <a:pt x="107140" y="0"/>
                    <a:pt x="128678" y="8922"/>
                    <a:pt x="144559" y="24802"/>
                  </a:cubicBezTo>
                  <a:cubicBezTo>
                    <a:pt x="160440" y="40683"/>
                    <a:pt x="169362" y="62222"/>
                    <a:pt x="169362" y="84681"/>
                  </a:cubicBezTo>
                  <a:lnTo>
                    <a:pt x="169362" y="2392917"/>
                  </a:lnTo>
                  <a:cubicBezTo>
                    <a:pt x="169362" y="2439685"/>
                    <a:pt x="131449" y="2477598"/>
                    <a:pt x="84681" y="2477598"/>
                  </a:cubicBezTo>
                  <a:lnTo>
                    <a:pt x="84681" y="2477598"/>
                  </a:lnTo>
                  <a:cubicBezTo>
                    <a:pt x="37913" y="2477598"/>
                    <a:pt x="0" y="2439685"/>
                    <a:pt x="0" y="2392917"/>
                  </a:cubicBezTo>
                  <a:lnTo>
                    <a:pt x="0" y="84681"/>
                  </a:lnTo>
                  <a:cubicBezTo>
                    <a:pt x="0" y="37913"/>
                    <a:pt x="37913" y="0"/>
                    <a:pt x="84681" y="0"/>
                  </a:cubicBezTo>
                  <a:close/>
                </a:path>
              </a:pathLst>
            </a:custGeom>
            <a:ln w="19050" cap="rnd">
              <a:solidFill>
                <a:srgbClr val="164B82"/>
              </a:solidFill>
              <a:prstDash val="solid"/>
              <a:round/>
            </a:ln>
          </p:spPr>
        </p:sp>
        <p:sp>
          <p:nvSpPr>
            <p:cNvPr name="TextBox 12" id="12"/>
            <p:cNvSpPr txBox="true"/>
            <p:nvPr/>
          </p:nvSpPr>
          <p:spPr>
            <a:xfrm>
              <a:off x="0" y="-57150"/>
              <a:ext cx="169362" cy="2534748"/>
            </a:xfrm>
            <a:prstGeom prst="rect">
              <a:avLst/>
            </a:prstGeom>
          </p:spPr>
          <p:txBody>
            <a:bodyPr anchor="ctr" rtlCol="false" tIns="50800" lIns="50800" bIns="50800" rIns="50800"/>
            <a:lstStyle/>
            <a:p>
              <a:pPr algn="ctr">
                <a:lnSpc>
                  <a:spcPts val="3639"/>
                </a:lnSpc>
              </a:pPr>
            </a:p>
          </p:txBody>
        </p:sp>
      </p:grpSp>
      <p:sp>
        <p:nvSpPr>
          <p:cNvPr id="13" name="Title"/>
          <p:cNvSpPr txBox="1"/>
          <p:nvPr/>
        </p:nvSpPr>
        <p:spPr>
          <a:xfrm>
            <a:off x="1005840" y="1371600"/>
            <a:ext cx="15727680" cy="1097280"/>
          </a:xfrm>
          <a:prstGeom prst="rect">
            <a:avLst/>
          </a:prstGeom>
          <a:noFill/>
        </p:spPr>
        <p:txBody>
          <a:bodyPr wrap="square" lIns="0" rIns="0" tIns="0" bIns="0" anchor="ctr">
            <a:spAutoFit/>
          </a:bodyPr>
          <a:lstStyle/>
          <a:p>
            <a:pPr algn="l"/>
            <a:r>
              <a:rPr sz="4800" b="1" i="0">
                <a:solidFill>
                  <a:srgbClr val="343434"/>
                </a:solidFill>
                <a:latin typeface="Calibri"/>
              </a:rPr>
              <a:t>Proposed System and Architecture</a:t>
            </a:r>
          </a:p>
        </p:txBody>
      </p:sp>
      <p:sp>
        <p:nvSpPr>
          <p:cNvPr id="14" name="Page"/>
          <p:cNvSpPr txBox="1"/>
          <p:nvPr/>
        </p:nvSpPr>
        <p:spPr>
          <a:xfrm>
            <a:off x="1005840" y="9646920"/>
            <a:ext cx="3657600" cy="365760"/>
          </a:xfrm>
          <a:prstGeom prst="rect">
            <a:avLst/>
          </a:prstGeom>
          <a:noFill/>
        </p:spPr>
        <p:txBody>
          <a:bodyPr wrap="square" lIns="0" rIns="0" tIns="0" bIns="0" anchor="t">
            <a:spAutoFit/>
          </a:bodyPr>
          <a:lstStyle/>
          <a:p>
            <a:pPr algn="l"/>
            <a:r>
              <a:rPr sz="1800" b="0" i="0">
                <a:solidFill>
                  <a:srgbClr val="164B82"/>
                </a:solidFill>
                <a:latin typeface="Calibri"/>
              </a:rPr>
              <a:t>5 / 19</a:t>
            </a:r>
          </a:p>
        </p:txBody>
      </p:sp>
      <p:sp>
        <p:nvSpPr>
          <p:cNvPr id="15" name="TextBox 14"/>
          <p:cNvSpPr txBox="1"/>
          <p:nvPr/>
        </p:nvSpPr>
        <p:spPr>
          <a:xfrm>
            <a:off x="1005840" y="2697480"/>
            <a:ext cx="8229600" cy="411480"/>
          </a:xfrm>
          <a:prstGeom prst="rect">
            <a:avLst/>
          </a:prstGeom>
          <a:noFill/>
        </p:spPr>
        <p:txBody>
          <a:bodyPr wrap="square" lIns="0" rIns="0" tIns="0" bIns="0" anchor="t">
            <a:spAutoFit/>
          </a:bodyPr>
          <a:lstStyle/>
          <a:p>
            <a:pPr algn="l"/>
            <a:r>
              <a:rPr sz="2000" b="1" i="0">
                <a:solidFill>
                  <a:srgbClr val="2F679F"/>
                </a:solidFill>
                <a:latin typeface="Calibri"/>
              </a:rPr>
              <a:t>A · CORPUS CONSTRUCTION</a:t>
            </a:r>
          </a:p>
        </p:txBody>
      </p:sp>
      <p:sp>
        <p:nvSpPr>
          <p:cNvPr id="16" name="TextBox 15"/>
          <p:cNvSpPr txBox="1"/>
          <p:nvPr/>
        </p:nvSpPr>
        <p:spPr>
          <a:xfrm>
            <a:off x="3200400" y="6400800"/>
            <a:ext cx="10972800" cy="411480"/>
          </a:xfrm>
          <a:prstGeom prst="rect">
            <a:avLst/>
          </a:prstGeom>
          <a:noFill/>
        </p:spPr>
        <p:txBody>
          <a:bodyPr wrap="square" lIns="0" rIns="0" tIns="0" bIns="0" anchor="t">
            <a:spAutoFit/>
          </a:bodyPr>
          <a:lstStyle/>
          <a:p>
            <a:pPr algn="l"/>
            <a:r>
              <a:rPr sz="2000" b="1" i="0">
                <a:solidFill>
                  <a:srgbClr val="2F679F"/>
                </a:solidFill>
                <a:latin typeface="Calibri"/>
              </a:rPr>
              <a:t>B · TRANSFER EVALUATION     C · FAILURE DIAGNOSIS</a:t>
            </a:r>
          </a:p>
        </p:txBody>
      </p:sp>
      <p:sp>
        <p:nvSpPr>
          <p:cNvPr id="17" name="Arch 00"/>
          <p:cNvSpPr/>
          <p:nvPr/>
        </p:nvSpPr>
        <p:spPr>
          <a:xfrm>
            <a:off x="1005840" y="3200400"/>
            <a:ext cx="3474720" cy="2103120"/>
          </a:xfrm>
          <a:prstGeom prst="roundRect">
            <a:avLst>
              <a:gd name="adj" fmla="val 8000"/>
            </a:avLst>
          </a:prstGeom>
          <a:solidFill>
            <a:srgbClr val="164B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1188720" y="3383280"/>
            <a:ext cx="3108960" cy="685800"/>
          </a:xfrm>
          <a:prstGeom prst="rect">
            <a:avLst/>
          </a:prstGeom>
          <a:noFill/>
        </p:spPr>
        <p:txBody>
          <a:bodyPr wrap="square" lIns="0" rIns="0" tIns="0" bIns="0" anchor="ctr">
            <a:spAutoFit/>
          </a:bodyPr>
          <a:lstStyle/>
          <a:p>
            <a:pPr algn="l"/>
            <a:r>
              <a:rPr sz="2600" b="1" i="0">
                <a:solidFill>
                  <a:srgbClr val="FFFFFF"/>
                </a:solidFill>
                <a:latin typeface="Calibri"/>
              </a:rPr>
              <a:t>IndicFinNLP</a:t>
            </a:r>
          </a:p>
        </p:txBody>
      </p:sp>
      <p:sp>
        <p:nvSpPr>
          <p:cNvPr id="19" name="TextBox 18"/>
          <p:cNvSpPr txBox="1"/>
          <p:nvPr/>
        </p:nvSpPr>
        <p:spPr>
          <a:xfrm>
            <a:off x="1188720" y="4114800"/>
            <a:ext cx="3108960" cy="1097280"/>
          </a:xfrm>
          <a:prstGeom prst="rect">
            <a:avLst/>
          </a:prstGeom>
          <a:noFill/>
        </p:spPr>
        <p:txBody>
          <a:bodyPr wrap="square" lIns="0" rIns="0" tIns="0" bIns="0" anchor="t">
            <a:spAutoFit/>
          </a:bodyPr>
          <a:lstStyle/>
          <a:p>
            <a:pPr algn="l"/>
            <a:r>
              <a:rPr sz="2200" b="0" i="0">
                <a:solidFill>
                  <a:srgbClr val="E8F0F9"/>
                </a:solidFill>
                <a:latin typeface="Calibri"/>
              </a:rPr>
              <a:t>3 tasks · Hindi, Bengali, Telugu</a:t>
            </a:r>
          </a:p>
        </p:txBody>
      </p:sp>
      <p:cxnSp>
        <p:nvCxnSpPr>
          <p:cNvPr id="20" name="Connector 19"/>
          <p:cNvCxnSpPr/>
          <p:nvPr/>
        </p:nvCxnSpPr>
        <p:spPr>
          <a:xfrm>
            <a:off x="4535424" y="4251960"/>
            <a:ext cx="500176" cy="0"/>
          </a:xfrm>
          <a:prstGeom prst="line">
            <a:avLst/>
          </a:prstGeom>
          <a:ln w="31750">
            <a:solidFill>
              <a:srgbClr val="164B82"/>
            </a:solidFill>
            <a:tailEnd type="triangle" w="med" len="med"/>
          </a:ln>
        </p:spPr>
        <p:style>
          <a:lnRef idx="2">
            <a:schemeClr val="accent1"/>
          </a:lnRef>
          <a:fillRef idx="0">
            <a:schemeClr val="accent1"/>
          </a:fillRef>
          <a:effectRef idx="1">
            <a:schemeClr val="accent1"/>
          </a:effectRef>
          <a:fontRef idx="minor">
            <a:schemeClr val="tx1"/>
          </a:fontRef>
        </p:style>
      </p:cxnSp>
      <p:sp>
        <p:nvSpPr>
          <p:cNvPr id="21" name="Arch 01"/>
          <p:cNvSpPr/>
          <p:nvPr/>
        </p:nvSpPr>
        <p:spPr>
          <a:xfrm>
            <a:off x="5090464" y="3200400"/>
            <a:ext cx="3474720" cy="2103120"/>
          </a:xfrm>
          <a:prstGeom prst="roundRect">
            <a:avLst>
              <a:gd name="adj" fmla="val 8000"/>
            </a:avLst>
          </a:prstGeom>
          <a:solidFill>
            <a:srgbClr val="164B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5273344" y="3383280"/>
            <a:ext cx="3108960" cy="685800"/>
          </a:xfrm>
          <a:prstGeom prst="rect">
            <a:avLst/>
          </a:prstGeom>
          <a:noFill/>
        </p:spPr>
        <p:txBody>
          <a:bodyPr wrap="square" lIns="0" rIns="0" tIns="0" bIns="0" anchor="ctr">
            <a:spAutoFit/>
          </a:bodyPr>
          <a:lstStyle/>
          <a:p>
            <a:pPr algn="l"/>
            <a:r>
              <a:rPr sz="2600" b="1" i="0">
                <a:solidFill>
                  <a:srgbClr val="FFFFFF"/>
                </a:solidFill>
                <a:latin typeface="Calibri"/>
              </a:rPr>
              <a:t>Independence audit</a:t>
            </a:r>
          </a:p>
        </p:txBody>
      </p:sp>
      <p:sp>
        <p:nvSpPr>
          <p:cNvPr id="23" name="TextBox 22"/>
          <p:cNvSpPr txBox="1"/>
          <p:nvPr/>
        </p:nvSpPr>
        <p:spPr>
          <a:xfrm>
            <a:off x="5273344" y="4114800"/>
            <a:ext cx="3108960" cy="1097280"/>
          </a:xfrm>
          <a:prstGeom prst="rect">
            <a:avLst/>
          </a:prstGeom>
          <a:noFill/>
        </p:spPr>
        <p:txBody>
          <a:bodyPr wrap="square" lIns="0" rIns="0" tIns="0" bIns="0" anchor="t">
            <a:spAutoFit/>
          </a:bodyPr>
          <a:lstStyle/>
          <a:p>
            <a:pPr algn="l"/>
            <a:r>
              <a:rPr sz="2200" b="0" i="0">
                <a:solidFill>
                  <a:srgbClr val="E8F0F9"/>
                </a:solidFill>
                <a:latin typeface="Calibri"/>
              </a:rPr>
              <a:t>LaBSE tests; align tasks 2 and 3</a:t>
            </a:r>
          </a:p>
        </p:txBody>
      </p:sp>
      <p:cxnSp>
        <p:nvCxnSpPr>
          <p:cNvPr id="24" name="Connector 23"/>
          <p:cNvCxnSpPr/>
          <p:nvPr/>
        </p:nvCxnSpPr>
        <p:spPr>
          <a:xfrm>
            <a:off x="8620048" y="4251960"/>
            <a:ext cx="500177" cy="0"/>
          </a:xfrm>
          <a:prstGeom prst="line">
            <a:avLst/>
          </a:prstGeom>
          <a:ln w="31750">
            <a:solidFill>
              <a:srgbClr val="164B82"/>
            </a:solidFill>
            <a:tailEnd type="triangle" w="med" len="med"/>
          </a:ln>
        </p:spPr>
        <p:style>
          <a:lnRef idx="2">
            <a:schemeClr val="accent1"/>
          </a:lnRef>
          <a:fillRef idx="0">
            <a:schemeClr val="accent1"/>
          </a:fillRef>
          <a:effectRef idx="1">
            <a:schemeClr val="accent1"/>
          </a:effectRef>
          <a:fontRef idx="minor">
            <a:schemeClr val="tx1"/>
          </a:fontRef>
        </p:style>
      </p:cxnSp>
      <p:sp>
        <p:nvSpPr>
          <p:cNvPr id="25" name="Arch 02"/>
          <p:cNvSpPr/>
          <p:nvPr/>
        </p:nvSpPr>
        <p:spPr>
          <a:xfrm>
            <a:off x="9175089" y="3200400"/>
            <a:ext cx="3474720" cy="2103120"/>
          </a:xfrm>
          <a:prstGeom prst="roundRect">
            <a:avLst>
              <a:gd name="adj" fmla="val 8000"/>
            </a:avLst>
          </a:prstGeom>
          <a:solidFill>
            <a:srgbClr val="164B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6" name="TextBox 25"/>
          <p:cNvSpPr txBox="1"/>
          <p:nvPr/>
        </p:nvSpPr>
        <p:spPr>
          <a:xfrm>
            <a:off x="9357969" y="3383280"/>
            <a:ext cx="3108960" cy="685800"/>
          </a:xfrm>
          <a:prstGeom prst="rect">
            <a:avLst/>
          </a:prstGeom>
          <a:noFill/>
        </p:spPr>
        <p:txBody>
          <a:bodyPr wrap="square" lIns="0" rIns="0" tIns="0" bIns="0" anchor="ctr">
            <a:spAutoFit/>
          </a:bodyPr>
          <a:lstStyle/>
          <a:p>
            <a:pPr algn="l"/>
            <a:r>
              <a:rPr sz="2600" b="1" i="0">
                <a:solidFill>
                  <a:srgbClr val="FFFFFF"/>
                </a:solidFill>
                <a:latin typeface="Calibri"/>
              </a:rPr>
              <a:t>Direct translation</a:t>
            </a:r>
          </a:p>
        </p:txBody>
      </p:sp>
      <p:sp>
        <p:nvSpPr>
          <p:cNvPr id="27" name="TextBox 26"/>
          <p:cNvSpPr txBox="1"/>
          <p:nvPr/>
        </p:nvSpPr>
        <p:spPr>
          <a:xfrm>
            <a:off x="9357969" y="4114800"/>
            <a:ext cx="3108960" cy="1097280"/>
          </a:xfrm>
          <a:prstGeom prst="rect">
            <a:avLst/>
          </a:prstGeom>
          <a:noFill/>
        </p:spPr>
        <p:txBody>
          <a:bodyPr wrap="square" lIns="0" rIns="0" tIns="0" bIns="0" anchor="t">
            <a:spAutoFit/>
          </a:bodyPr>
          <a:lstStyle/>
          <a:p>
            <a:pPr algn="l"/>
            <a:r>
              <a:rPr sz="2200" b="0" i="0">
                <a:solidFill>
                  <a:srgbClr val="E8F0F9"/>
                </a:solidFill>
                <a:latin typeface="Calibri"/>
              </a:rPr>
              <a:t>IndicTrans2 1B · 9 directions · no English pivot</a:t>
            </a:r>
          </a:p>
        </p:txBody>
      </p:sp>
      <p:cxnSp>
        <p:nvCxnSpPr>
          <p:cNvPr id="28" name="Connector 27"/>
          <p:cNvCxnSpPr/>
          <p:nvPr/>
        </p:nvCxnSpPr>
        <p:spPr>
          <a:xfrm>
            <a:off x="12704673" y="4251960"/>
            <a:ext cx="500177" cy="0"/>
          </a:xfrm>
          <a:prstGeom prst="line">
            <a:avLst/>
          </a:prstGeom>
          <a:ln w="31750">
            <a:solidFill>
              <a:srgbClr val="164B82"/>
            </a:solidFill>
            <a:tailEnd type="triangle" w="med" len="med"/>
          </a:ln>
        </p:spPr>
        <p:style>
          <a:lnRef idx="2">
            <a:schemeClr val="accent1"/>
          </a:lnRef>
          <a:fillRef idx="0">
            <a:schemeClr val="accent1"/>
          </a:fillRef>
          <a:effectRef idx="1">
            <a:schemeClr val="accent1"/>
          </a:effectRef>
          <a:fontRef idx="minor">
            <a:schemeClr val="tx1"/>
          </a:fontRef>
        </p:style>
      </p:cxnSp>
      <p:sp>
        <p:nvSpPr>
          <p:cNvPr id="29" name="Arch 03"/>
          <p:cNvSpPr/>
          <p:nvPr/>
        </p:nvSpPr>
        <p:spPr>
          <a:xfrm>
            <a:off x="13259714" y="3200400"/>
            <a:ext cx="3474720" cy="2103120"/>
          </a:xfrm>
          <a:prstGeom prst="roundRect">
            <a:avLst>
              <a:gd name="adj" fmla="val 8000"/>
            </a:avLst>
          </a:prstGeom>
          <a:solidFill>
            <a:srgbClr val="2F679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0" name="TextBox 29"/>
          <p:cNvSpPr txBox="1"/>
          <p:nvPr/>
        </p:nvSpPr>
        <p:spPr>
          <a:xfrm>
            <a:off x="13442594" y="3383280"/>
            <a:ext cx="3108960" cy="685800"/>
          </a:xfrm>
          <a:prstGeom prst="rect">
            <a:avLst/>
          </a:prstGeom>
          <a:noFill/>
        </p:spPr>
        <p:txBody>
          <a:bodyPr wrap="square" lIns="0" rIns="0" tIns="0" bIns="0" anchor="ctr">
            <a:spAutoFit/>
          </a:bodyPr>
          <a:lstStyle/>
          <a:p>
            <a:pPr algn="l"/>
            <a:r>
              <a:rPr sz="2600" b="1" i="0">
                <a:solidFill>
                  <a:srgbClr val="FFFFFF"/>
                </a:solidFill>
                <a:latin typeface="Calibri"/>
              </a:rPr>
              <a:t>Quality gates</a:t>
            </a:r>
          </a:p>
        </p:txBody>
      </p:sp>
      <p:sp>
        <p:nvSpPr>
          <p:cNvPr id="31" name="TextBox 30"/>
          <p:cNvSpPr txBox="1"/>
          <p:nvPr/>
        </p:nvSpPr>
        <p:spPr>
          <a:xfrm>
            <a:off x="13442594" y="4114800"/>
            <a:ext cx="3108960" cy="1097280"/>
          </a:xfrm>
          <a:prstGeom prst="rect">
            <a:avLst/>
          </a:prstGeom>
          <a:noFill/>
        </p:spPr>
        <p:txBody>
          <a:bodyPr wrap="square" lIns="0" rIns="0" tIns="0" bIns="0" anchor="t">
            <a:spAutoFit/>
          </a:bodyPr>
          <a:lstStyle/>
          <a:p>
            <a:pPr algn="l"/>
            <a:r>
              <a:rPr sz="2200" b="0" i="0">
                <a:solidFill>
                  <a:srgbClr val="E8F0F9"/>
                </a:solidFill>
                <a:latin typeface="Calibri"/>
              </a:rPr>
              <a:t>Numerals · integrity · LaBSE τ</a:t>
            </a:r>
          </a:p>
        </p:txBody>
      </p:sp>
      <p:sp>
        <p:nvSpPr>
          <p:cNvPr id="32" name="Arch 10"/>
          <p:cNvSpPr/>
          <p:nvPr/>
        </p:nvSpPr>
        <p:spPr>
          <a:xfrm>
            <a:off x="1005840" y="6903720"/>
            <a:ext cx="3474720" cy="2103120"/>
          </a:xfrm>
          <a:prstGeom prst="roundRect">
            <a:avLst>
              <a:gd name="adj" fmla="val 8000"/>
            </a:avLst>
          </a:prstGeom>
          <a:solidFill>
            <a:srgbClr val="164B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3" name="TextBox 32"/>
          <p:cNvSpPr txBox="1"/>
          <p:nvPr/>
        </p:nvSpPr>
        <p:spPr>
          <a:xfrm>
            <a:off x="1188720" y="7086600"/>
            <a:ext cx="3108960" cy="685800"/>
          </a:xfrm>
          <a:prstGeom prst="rect">
            <a:avLst/>
          </a:prstGeom>
          <a:noFill/>
        </p:spPr>
        <p:txBody>
          <a:bodyPr wrap="square" lIns="0" rIns="0" tIns="0" bIns="0" anchor="ctr">
            <a:spAutoFit/>
          </a:bodyPr>
          <a:lstStyle/>
          <a:p>
            <a:pPr algn="l"/>
            <a:r>
              <a:rPr sz="2600" b="1" i="0">
                <a:solidFill>
                  <a:srgbClr val="FFFFFF"/>
                </a:solidFill>
                <a:latin typeface="Calibri"/>
              </a:rPr>
              <a:t>Frozen corpus v1.0</a:t>
            </a:r>
          </a:p>
        </p:txBody>
      </p:sp>
      <p:sp>
        <p:nvSpPr>
          <p:cNvPr id="34" name="TextBox 33"/>
          <p:cNvSpPr txBox="1"/>
          <p:nvPr/>
        </p:nvSpPr>
        <p:spPr>
          <a:xfrm>
            <a:off x="1188720" y="7818120"/>
            <a:ext cx="3108960" cy="1097280"/>
          </a:xfrm>
          <a:prstGeom prst="rect">
            <a:avLst/>
          </a:prstGeom>
          <a:noFill/>
        </p:spPr>
        <p:txBody>
          <a:bodyPr wrap="square" lIns="0" rIns="0" tIns="0" bIns="0" anchor="t">
            <a:spAutoFit/>
          </a:bodyPr>
          <a:lstStyle/>
          <a:p>
            <a:pPr algn="l"/>
            <a:r>
              <a:rPr sz="2200" b="0" i="0">
                <a:solidFill>
                  <a:srgbClr val="E8F0F9"/>
                </a:solidFill>
                <a:latin typeface="Calibri"/>
              </a:rPr>
              <a:t>92,760 MT rows · SHA-256 manifest</a:t>
            </a:r>
          </a:p>
        </p:txBody>
      </p:sp>
      <p:cxnSp>
        <p:nvCxnSpPr>
          <p:cNvPr id="35" name="Connector 34"/>
          <p:cNvCxnSpPr/>
          <p:nvPr/>
        </p:nvCxnSpPr>
        <p:spPr>
          <a:xfrm>
            <a:off x="4535424" y="7955279"/>
            <a:ext cx="500176" cy="0"/>
          </a:xfrm>
          <a:prstGeom prst="line">
            <a:avLst/>
          </a:prstGeom>
          <a:ln w="31750">
            <a:solidFill>
              <a:srgbClr val="164B82"/>
            </a:solidFill>
            <a:tailEnd type="triangle" w="med" len="med"/>
          </a:ln>
        </p:spPr>
        <p:style>
          <a:lnRef idx="2">
            <a:schemeClr val="accent1"/>
          </a:lnRef>
          <a:fillRef idx="0">
            <a:schemeClr val="accent1"/>
          </a:fillRef>
          <a:effectRef idx="1">
            <a:schemeClr val="accent1"/>
          </a:effectRef>
          <a:fontRef idx="minor">
            <a:schemeClr val="tx1"/>
          </a:fontRef>
        </p:style>
      </p:cxnSp>
      <p:sp>
        <p:nvSpPr>
          <p:cNvPr id="36" name="Arch 11"/>
          <p:cNvSpPr/>
          <p:nvPr/>
        </p:nvSpPr>
        <p:spPr>
          <a:xfrm>
            <a:off x="5090464" y="6903720"/>
            <a:ext cx="3474720" cy="2103120"/>
          </a:xfrm>
          <a:prstGeom prst="roundRect">
            <a:avLst>
              <a:gd name="adj" fmla="val 8000"/>
            </a:avLst>
          </a:prstGeom>
          <a:solidFill>
            <a:srgbClr val="2F679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7" name="TextBox 36"/>
          <p:cNvSpPr txBox="1"/>
          <p:nvPr/>
        </p:nvSpPr>
        <p:spPr>
          <a:xfrm>
            <a:off x="5273344" y="7086600"/>
            <a:ext cx="3108960" cy="685800"/>
          </a:xfrm>
          <a:prstGeom prst="rect">
            <a:avLst/>
          </a:prstGeom>
          <a:noFill/>
        </p:spPr>
        <p:txBody>
          <a:bodyPr wrap="square" lIns="0" rIns="0" tIns="0" bIns="0" anchor="ctr">
            <a:spAutoFit/>
          </a:bodyPr>
          <a:lstStyle/>
          <a:p>
            <a:pPr algn="l"/>
            <a:r>
              <a:rPr sz="2600" b="1" i="0">
                <a:solidFill>
                  <a:srgbClr val="FFFFFF"/>
                </a:solidFill>
                <a:latin typeface="Calibri"/>
              </a:rPr>
              <a:t>Zero-shot transfer</a:t>
            </a:r>
          </a:p>
        </p:txBody>
      </p:sp>
      <p:sp>
        <p:nvSpPr>
          <p:cNvPr id="38" name="TextBox 37"/>
          <p:cNvSpPr txBox="1"/>
          <p:nvPr/>
        </p:nvSpPr>
        <p:spPr>
          <a:xfrm>
            <a:off x="5273344" y="7818120"/>
            <a:ext cx="3108960" cy="1097280"/>
          </a:xfrm>
          <a:prstGeom prst="rect">
            <a:avLst/>
          </a:prstGeom>
          <a:noFill/>
        </p:spPr>
        <p:txBody>
          <a:bodyPr wrap="square" lIns="0" rIns="0" tIns="0" bIns="0" anchor="t">
            <a:spAutoFit/>
          </a:bodyPr>
          <a:lstStyle/>
          <a:p>
            <a:pPr algn="l"/>
            <a:r>
              <a:rPr sz="2200" b="0" i="0">
                <a:solidFill>
                  <a:srgbClr val="E8F0F9"/>
                </a:solidFill>
                <a:latin typeface="Calibri"/>
              </a:rPr>
              <a:t>IndicBERT, mBERT · 21 conditions per task</a:t>
            </a:r>
          </a:p>
        </p:txBody>
      </p:sp>
      <p:cxnSp>
        <p:nvCxnSpPr>
          <p:cNvPr id="39" name="Connector 38"/>
          <p:cNvCxnSpPr/>
          <p:nvPr/>
        </p:nvCxnSpPr>
        <p:spPr>
          <a:xfrm>
            <a:off x="8620048" y="7955279"/>
            <a:ext cx="500177" cy="0"/>
          </a:xfrm>
          <a:prstGeom prst="line">
            <a:avLst/>
          </a:prstGeom>
          <a:ln w="31750">
            <a:solidFill>
              <a:srgbClr val="164B82"/>
            </a:solidFill>
            <a:tailEnd type="triangle" w="med" len="med"/>
          </a:ln>
        </p:spPr>
        <p:style>
          <a:lnRef idx="2">
            <a:schemeClr val="accent1"/>
          </a:lnRef>
          <a:fillRef idx="0">
            <a:schemeClr val="accent1"/>
          </a:fillRef>
          <a:effectRef idx="1">
            <a:schemeClr val="accent1"/>
          </a:effectRef>
          <a:fontRef idx="minor">
            <a:schemeClr val="tx1"/>
          </a:fontRef>
        </p:style>
      </p:cxnSp>
      <p:sp>
        <p:nvSpPr>
          <p:cNvPr id="40" name="Arch 12"/>
          <p:cNvSpPr/>
          <p:nvPr/>
        </p:nvSpPr>
        <p:spPr>
          <a:xfrm>
            <a:off x="9175089" y="6903720"/>
            <a:ext cx="3474720" cy="2103120"/>
          </a:xfrm>
          <a:prstGeom prst="roundRect">
            <a:avLst>
              <a:gd name="adj" fmla="val 8000"/>
            </a:avLst>
          </a:prstGeom>
          <a:solidFill>
            <a:srgbClr val="2F679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1" name="TextBox 40"/>
          <p:cNvSpPr txBox="1"/>
          <p:nvPr/>
        </p:nvSpPr>
        <p:spPr>
          <a:xfrm>
            <a:off x="9357969" y="7086600"/>
            <a:ext cx="3108960" cy="685800"/>
          </a:xfrm>
          <a:prstGeom prst="rect">
            <a:avLst/>
          </a:prstGeom>
          <a:noFill/>
        </p:spPr>
        <p:txBody>
          <a:bodyPr wrap="square" lIns="0" rIns="0" tIns="0" bIns="0" anchor="ctr">
            <a:spAutoFit/>
          </a:bodyPr>
          <a:lstStyle/>
          <a:p>
            <a:pPr algn="l"/>
            <a:r>
              <a:rPr sz="2600" b="1" i="0">
                <a:solidFill>
                  <a:srgbClr val="FFFFFF"/>
                </a:solidFill>
                <a:latin typeface="Calibri"/>
              </a:rPr>
              <a:t>Diagnostic router</a:t>
            </a:r>
          </a:p>
        </p:txBody>
      </p:sp>
      <p:sp>
        <p:nvSpPr>
          <p:cNvPr id="42" name="TextBox 41"/>
          <p:cNvSpPr txBox="1"/>
          <p:nvPr/>
        </p:nvSpPr>
        <p:spPr>
          <a:xfrm>
            <a:off x="9357969" y="7818120"/>
            <a:ext cx="3108960" cy="1097280"/>
          </a:xfrm>
          <a:prstGeom prst="rect">
            <a:avLst/>
          </a:prstGeom>
          <a:noFill/>
        </p:spPr>
        <p:txBody>
          <a:bodyPr wrap="square" lIns="0" rIns="0" tIns="0" bIns="0" anchor="t">
            <a:spAutoFit/>
          </a:bodyPr>
          <a:lstStyle/>
          <a:p>
            <a:pPr algn="l"/>
            <a:r>
              <a:rPr sz="2200" b="0" i="0">
                <a:solidFill>
                  <a:srgbClr val="E8F0F9"/>
                </a:solidFill>
                <a:latin typeface="Calibri"/>
              </a:rPr>
              <a:t>3 stages · 72 conditions labelled</a:t>
            </a:r>
          </a:p>
        </p:txBody>
      </p:sp>
      <p:cxnSp>
        <p:nvCxnSpPr>
          <p:cNvPr id="43" name="Connector 42"/>
          <p:cNvCxnSpPr/>
          <p:nvPr/>
        </p:nvCxnSpPr>
        <p:spPr>
          <a:xfrm>
            <a:off x="12704673" y="7955279"/>
            <a:ext cx="500177" cy="0"/>
          </a:xfrm>
          <a:prstGeom prst="line">
            <a:avLst/>
          </a:prstGeom>
          <a:ln w="31750">
            <a:solidFill>
              <a:srgbClr val="164B82"/>
            </a:solidFill>
            <a:tailEnd type="triangle" w="med" len="med"/>
          </a:ln>
        </p:spPr>
        <p:style>
          <a:lnRef idx="2">
            <a:schemeClr val="accent1"/>
          </a:lnRef>
          <a:fillRef idx="0">
            <a:schemeClr val="accent1"/>
          </a:fillRef>
          <a:effectRef idx="1">
            <a:schemeClr val="accent1"/>
          </a:effectRef>
          <a:fontRef idx="minor">
            <a:schemeClr val="tx1"/>
          </a:fontRef>
        </p:style>
      </p:cxnSp>
      <p:sp>
        <p:nvSpPr>
          <p:cNvPr id="44" name="Arch 13"/>
          <p:cNvSpPr/>
          <p:nvPr/>
        </p:nvSpPr>
        <p:spPr>
          <a:xfrm>
            <a:off x="13259714" y="6903720"/>
            <a:ext cx="3474720" cy="2103120"/>
          </a:xfrm>
          <a:prstGeom prst="roundRect">
            <a:avLst>
              <a:gd name="adj" fmla="val 8000"/>
            </a:avLst>
          </a:prstGeom>
          <a:solidFill>
            <a:srgbClr val="2F679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5" name="TextBox 44"/>
          <p:cNvSpPr txBox="1"/>
          <p:nvPr/>
        </p:nvSpPr>
        <p:spPr>
          <a:xfrm>
            <a:off x="13442594" y="7086600"/>
            <a:ext cx="3108960" cy="685800"/>
          </a:xfrm>
          <a:prstGeom prst="rect">
            <a:avLst/>
          </a:prstGeom>
          <a:noFill/>
        </p:spPr>
        <p:txBody>
          <a:bodyPr wrap="square" lIns="0" rIns="0" tIns="0" bIns="0" anchor="ctr">
            <a:spAutoFit/>
          </a:bodyPr>
          <a:lstStyle/>
          <a:p>
            <a:pPr algn="l"/>
            <a:r>
              <a:rPr sz="2600" b="1" i="0">
                <a:solidFill>
                  <a:srgbClr val="FFFFFF"/>
                </a:solidFill>
                <a:latin typeface="Calibri"/>
              </a:rPr>
              <a:t>Findings + dashboard</a:t>
            </a:r>
          </a:p>
        </p:txBody>
      </p:sp>
      <p:sp>
        <p:nvSpPr>
          <p:cNvPr id="46" name="TextBox 45"/>
          <p:cNvSpPr txBox="1"/>
          <p:nvPr/>
        </p:nvSpPr>
        <p:spPr>
          <a:xfrm>
            <a:off x="13442594" y="7818120"/>
            <a:ext cx="3108960" cy="1097280"/>
          </a:xfrm>
          <a:prstGeom prst="rect">
            <a:avLst/>
          </a:prstGeom>
          <a:noFill/>
        </p:spPr>
        <p:txBody>
          <a:bodyPr wrap="square" lIns="0" rIns="0" tIns="0" bIns="0" anchor="t">
            <a:spAutoFit/>
          </a:bodyPr>
          <a:lstStyle/>
          <a:p>
            <a:pPr algn="l"/>
            <a:r>
              <a:rPr sz="2200" b="0" i="0">
                <a:solidFill>
                  <a:srgbClr val="E8F0F9"/>
                </a:solidFill>
                <a:latin typeface="Calibri"/>
              </a:rPr>
              <a:t>Bootstrap finding rule · Streamlit</a:t>
            </a:r>
          </a:p>
        </p:txBody>
      </p:sp>
      <p:cxnSp>
        <p:nvCxnSpPr>
          <p:cNvPr id="47" name="Connector 46"/>
          <p:cNvCxnSpPr/>
          <p:nvPr/>
        </p:nvCxnSpPr>
        <p:spPr>
          <a:xfrm>
            <a:off x="14997074" y="5303520"/>
            <a:ext cx="0" cy="685800"/>
          </a:xfrm>
          <a:prstGeom prst="line">
            <a:avLst/>
          </a:prstGeom>
          <a:ln w="31750">
            <a:solidFill>
              <a:srgbClr val="164B82"/>
            </a:solidFill>
          </a:ln>
        </p:spPr>
        <p:style>
          <a:lnRef idx="2">
            <a:schemeClr val="accent1"/>
          </a:lnRef>
          <a:fillRef idx="0">
            <a:schemeClr val="accent1"/>
          </a:fillRef>
          <a:effectRef idx="1">
            <a:schemeClr val="accent1"/>
          </a:effectRef>
          <a:fontRef idx="minor">
            <a:schemeClr val="tx1"/>
          </a:fontRef>
        </p:style>
      </p:cxnSp>
      <p:cxnSp>
        <p:nvCxnSpPr>
          <p:cNvPr id="48" name="Connector 47"/>
          <p:cNvCxnSpPr/>
          <p:nvPr/>
        </p:nvCxnSpPr>
        <p:spPr>
          <a:xfrm flipH="1">
            <a:off x="2743200" y="5989320"/>
            <a:ext cx="12253874" cy="0"/>
          </a:xfrm>
          <a:prstGeom prst="line">
            <a:avLst/>
          </a:prstGeom>
          <a:ln w="31750">
            <a:solidFill>
              <a:srgbClr val="164B82"/>
            </a:solidFill>
          </a:ln>
        </p:spPr>
        <p:style>
          <a:lnRef idx="2">
            <a:schemeClr val="accent1"/>
          </a:lnRef>
          <a:fillRef idx="0">
            <a:schemeClr val="accent1"/>
          </a:fillRef>
          <a:effectRef idx="1">
            <a:schemeClr val="accent1"/>
          </a:effectRef>
          <a:fontRef idx="minor">
            <a:schemeClr val="tx1"/>
          </a:fontRef>
        </p:style>
      </p:cxnSp>
      <p:cxnSp>
        <p:nvCxnSpPr>
          <p:cNvPr id="49" name="Connector 48"/>
          <p:cNvCxnSpPr/>
          <p:nvPr/>
        </p:nvCxnSpPr>
        <p:spPr>
          <a:xfrm>
            <a:off x="2743200" y="5989320"/>
            <a:ext cx="0" cy="868680"/>
          </a:xfrm>
          <a:prstGeom prst="line">
            <a:avLst/>
          </a:prstGeom>
          <a:ln w="31750">
            <a:solidFill>
              <a:srgbClr val="164B82"/>
            </a:solidFill>
            <a:tailEnd type="triangle" w="med" len="med"/>
          </a:ln>
        </p:spPr>
        <p:style>
          <a:lnRef idx="2">
            <a:schemeClr val="accent1"/>
          </a:lnRef>
          <a:fillRef idx="0">
            <a:schemeClr val="accent1"/>
          </a:fillRef>
          <a:effectRef idx="1">
            <a:schemeClr val="accent1"/>
          </a:effectRef>
          <a:fontRef idx="minor">
            <a:schemeClr val="tx1"/>
          </a:fontRef>
        </p:style>
      </p:cxn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name="Freeform 2" id="2"/>
          <p:cNvSpPr/>
          <p:nvPr/>
        </p:nvSpPr>
        <p:spPr>
          <a:xfrm flipH="false" flipV="false" rot="225008">
            <a:off x="-467361" y="-2757747"/>
            <a:ext cx="12701350" cy="5382197"/>
          </a:xfrm>
          <a:custGeom>
            <a:avLst/>
            <a:gdLst/>
            <a:ahLst/>
            <a:cxnLst/>
            <a:rect r="r" b="b" t="t" l="l"/>
            <a:pathLst>
              <a:path h="5382197" w="12701350">
                <a:moveTo>
                  <a:pt x="0" y="0"/>
                </a:moveTo>
                <a:lnTo>
                  <a:pt x="12701349" y="0"/>
                </a:lnTo>
                <a:lnTo>
                  <a:pt x="12701349" y="5382197"/>
                </a:lnTo>
                <a:lnTo>
                  <a:pt x="0" y="5382197"/>
                </a:lnTo>
                <a:lnTo>
                  <a:pt x="0" y="0"/>
                </a:lnTo>
                <a:close/>
              </a:path>
            </a:pathLst>
          </a:custGeom>
          <a:blipFill>
            <a:blip r:embed="rId2"/>
            <a:stretch>
              <a:fillRect l="0" t="0" r="0" b="0"/>
            </a:stretch>
          </a:blipFill>
        </p:spPr>
      </p:sp>
      <p:sp>
        <p:nvSpPr>
          <p:cNvPr name="Freeform 3" id="3"/>
          <p:cNvSpPr/>
          <p:nvPr/>
        </p:nvSpPr>
        <p:spPr>
          <a:xfrm flipH="false" flipV="false" rot="0">
            <a:off x="10986204" y="6250419"/>
            <a:ext cx="11514218" cy="8506128"/>
          </a:xfrm>
          <a:custGeom>
            <a:avLst/>
            <a:gdLst/>
            <a:ahLst/>
            <a:cxnLst/>
            <a:rect r="r" b="b" t="t" l="l"/>
            <a:pathLst>
              <a:path h="8506128" w="11514218">
                <a:moveTo>
                  <a:pt x="0" y="0"/>
                </a:moveTo>
                <a:lnTo>
                  <a:pt x="11514218" y="0"/>
                </a:lnTo>
                <a:lnTo>
                  <a:pt x="11514218" y="8506128"/>
                </a:lnTo>
                <a:lnTo>
                  <a:pt x="0" y="8506128"/>
                </a:lnTo>
                <a:lnTo>
                  <a:pt x="0" y="0"/>
                </a:lnTo>
                <a:close/>
              </a:path>
            </a:pathLst>
          </a:custGeom>
          <a:blipFill>
            <a:blip r:embed="rId3"/>
            <a:stretch>
              <a:fillRect l="0" t="0" r="0" b="0"/>
            </a:stretch>
          </a:blipFill>
        </p:spPr>
      </p:sp>
      <p:grpSp>
        <p:nvGrpSpPr>
          <p:cNvPr name="Group 4" id="4"/>
          <p:cNvGrpSpPr/>
          <p:nvPr/>
        </p:nvGrpSpPr>
        <p:grpSpPr>
          <a:xfrm rot="0">
            <a:off x="17259300" y="-392510"/>
            <a:ext cx="1437565" cy="11072020"/>
            <a:chOff x="0" y="0"/>
            <a:chExt cx="378618" cy="2916088"/>
          </a:xfrm>
        </p:grpSpPr>
        <p:sp>
          <p:nvSpPr>
            <p:cNvPr name="Freeform 5" id="5"/>
            <p:cNvSpPr/>
            <p:nvPr/>
          </p:nvSpPr>
          <p:spPr>
            <a:xfrm flipH="false" flipV="false" rot="0">
              <a:off x="0" y="0"/>
              <a:ext cx="378618" cy="2916088"/>
            </a:xfrm>
            <a:custGeom>
              <a:avLst/>
              <a:gdLst/>
              <a:ahLst/>
              <a:cxnLst/>
              <a:rect r="r" b="b" t="t" l="l"/>
              <a:pathLst>
                <a:path h="2916088" w="378618">
                  <a:moveTo>
                    <a:pt x="0" y="0"/>
                  </a:moveTo>
                  <a:lnTo>
                    <a:pt x="378618" y="0"/>
                  </a:lnTo>
                  <a:lnTo>
                    <a:pt x="378618" y="2916088"/>
                  </a:lnTo>
                  <a:lnTo>
                    <a:pt x="0" y="2916088"/>
                  </a:lnTo>
                  <a:close/>
                </a:path>
              </a:pathLst>
            </a:custGeom>
            <a:gradFill rotWithShape="true">
              <a:gsLst>
                <a:gs pos="0">
                  <a:srgbClr val="E4B795">
                    <a:alpha val="100000"/>
                  </a:srgbClr>
                </a:gs>
                <a:gs pos="50000">
                  <a:srgbClr val="699ACD">
                    <a:alpha val="100000"/>
                  </a:srgbClr>
                </a:gs>
                <a:gs pos="100000">
                  <a:srgbClr val="2F679F">
                    <a:alpha val="100000"/>
                  </a:srgbClr>
                </a:gs>
              </a:gsLst>
              <a:path path="circle">
                <a:fillToRect l="0" r="100000" t="0" b="100000"/>
              </a:path>
              <a:tileRect r="0" l="-100000" b="0" t="-100000"/>
            </a:gradFill>
          </p:spPr>
        </p:sp>
        <p:sp>
          <p:nvSpPr>
            <p:cNvPr name="TextBox 6" id="6"/>
            <p:cNvSpPr txBox="true"/>
            <p:nvPr/>
          </p:nvSpPr>
          <p:spPr>
            <a:xfrm>
              <a:off x="0" y="-57150"/>
              <a:ext cx="378618" cy="2973238"/>
            </a:xfrm>
            <a:prstGeom prst="rect">
              <a:avLst/>
            </a:prstGeom>
          </p:spPr>
          <p:txBody>
            <a:bodyPr anchor="ctr" rtlCol="false" tIns="50800" lIns="50800" bIns="50800" rIns="50800"/>
            <a:lstStyle/>
            <a:p>
              <a:pPr algn="ctr">
                <a:lnSpc>
                  <a:spcPts val="3639"/>
                </a:lnSpc>
              </a:pPr>
            </a:p>
          </p:txBody>
        </p:sp>
      </p:grpSp>
      <p:sp>
        <p:nvSpPr>
          <p:cNvPr name="TextBox 7" id="7"/>
          <p:cNvSpPr txBox="true"/>
          <p:nvPr/>
        </p:nvSpPr>
        <p:spPr>
          <a:xfrm rot="0">
            <a:off x="8021110" y="782737"/>
            <a:ext cx="2492949" cy="351790"/>
          </a:xfrm>
          <a:prstGeom prst="rect">
            <a:avLst/>
          </a:prstGeom>
        </p:spPr>
        <p:txBody>
          <a:bodyPr anchor="t" rtlCol="false" tIns="0" lIns="0" bIns="0" rIns="0">
            <a:spAutoFit/>
          </a:bodyPr>
          <a:lstStyle/>
          <a:p>
            <a:pPr algn="l">
              <a:lnSpc>
                <a:spcPts val="2660"/>
              </a:lnSpc>
              <a:spcBef>
                <a:spcPct val="0"/>
              </a:spcBef>
            </a:pPr>
            <a:r>
              <a:rPr lang="en-US" sz="1900" spc="95">
                <a:solidFill>
                  <a:srgbClr val="164B82"/>
                </a:solidFill>
                <a:latin typeface="Calibri"/>
                <a:ea typeface="Telegraf Extra-Light"/>
                <a:cs typeface="Telegraf Extra-Light"/>
                <a:sym typeface="Telegraf Extra-Light"/>
              </a:rPr>
              <a:t>BCSE497J · Project I</a:t>
            </a:r>
          </a:p>
        </p:txBody>
      </p:sp>
      <p:sp>
        <p:nvSpPr>
          <p:cNvPr name="TextBox 8" id="8"/>
          <p:cNvSpPr txBox="true"/>
          <p:nvPr/>
        </p:nvSpPr>
        <p:spPr>
          <a:xfrm rot="0">
            <a:off x="13305333" y="782737"/>
            <a:ext cx="1819999" cy="351790"/>
          </a:xfrm>
          <a:prstGeom prst="rect">
            <a:avLst/>
          </a:prstGeom>
        </p:spPr>
        <p:txBody>
          <a:bodyPr anchor="t" rtlCol="false" tIns="0" lIns="0" bIns="0" rIns="0">
            <a:spAutoFit/>
          </a:bodyPr>
          <a:lstStyle/>
          <a:p>
            <a:pPr algn="r">
              <a:lnSpc>
                <a:spcPts val="2660"/>
              </a:lnSpc>
              <a:spcBef>
                <a:spcPct val="0"/>
              </a:spcBef>
            </a:pPr>
            <a:r>
              <a:rPr lang="en-US" sz="1900" spc="95">
                <a:solidFill>
                  <a:srgbClr val="164B82"/>
                </a:solidFill>
                <a:latin typeface="Calibri"/>
                <a:ea typeface="Telegraf Extra-Light"/>
                <a:cs typeface="Telegraf Extra-Light"/>
                <a:sym typeface="Telegraf Extra-Light"/>
              </a:rPr>
              <a:t>Oct 2026</a:t>
            </a:r>
          </a:p>
        </p:txBody>
      </p:sp>
      <p:sp>
        <p:nvSpPr>
          <p:cNvPr name="TextBox 9" id="9"/>
          <p:cNvSpPr txBox="true"/>
          <p:nvPr/>
        </p:nvSpPr>
        <p:spPr>
          <a:xfrm rot="0">
            <a:off x="11045641" y="782737"/>
            <a:ext cx="1819999" cy="351790"/>
          </a:xfrm>
          <a:prstGeom prst="rect">
            <a:avLst/>
          </a:prstGeom>
        </p:spPr>
        <p:txBody>
          <a:bodyPr anchor="t" rtlCol="false" tIns="0" lIns="0" bIns="0" rIns="0">
            <a:spAutoFit/>
          </a:bodyPr>
          <a:lstStyle/>
          <a:p>
            <a:pPr algn="ctr">
              <a:lnSpc>
                <a:spcPts val="2660"/>
              </a:lnSpc>
              <a:spcBef>
                <a:spcPct val="0"/>
              </a:spcBef>
            </a:pPr>
            <a:r>
              <a:rPr lang="en-US" sz="1900" spc="95">
                <a:solidFill>
                  <a:srgbClr val="164B82"/>
                </a:solidFill>
                <a:latin typeface="Calibri"/>
                <a:ea typeface="Telegraf Extra-Light"/>
                <a:cs typeface="Telegraf Extra-Light"/>
                <a:sym typeface="Telegraf Extra-Light"/>
              </a:rPr>
              <a:t>Guide Review</a:t>
            </a:r>
          </a:p>
        </p:txBody>
      </p:sp>
      <p:grpSp>
        <p:nvGrpSpPr>
          <p:cNvPr name="Group 10" id="10"/>
          <p:cNvGrpSpPr/>
          <p:nvPr/>
        </p:nvGrpSpPr>
        <p:grpSpPr>
          <a:xfrm rot="5400000">
            <a:off x="11279340" y="-3711595"/>
            <a:ext cx="643045" cy="9407130"/>
            <a:chOff x="0" y="0"/>
            <a:chExt cx="169362" cy="2477598"/>
          </a:xfrm>
        </p:grpSpPr>
        <p:sp>
          <p:nvSpPr>
            <p:cNvPr name="Freeform 11" id="11"/>
            <p:cNvSpPr/>
            <p:nvPr/>
          </p:nvSpPr>
          <p:spPr>
            <a:xfrm flipH="false" flipV="false" rot="0">
              <a:off x="0" y="0"/>
              <a:ext cx="169362" cy="2477598"/>
            </a:xfrm>
            <a:custGeom>
              <a:avLst/>
              <a:gdLst/>
              <a:ahLst/>
              <a:cxnLst/>
              <a:rect r="r" b="b" t="t" l="l"/>
              <a:pathLst>
                <a:path h="2477598" w="169362">
                  <a:moveTo>
                    <a:pt x="84681" y="0"/>
                  </a:moveTo>
                  <a:lnTo>
                    <a:pt x="84681" y="0"/>
                  </a:lnTo>
                  <a:cubicBezTo>
                    <a:pt x="107140" y="0"/>
                    <a:pt x="128678" y="8922"/>
                    <a:pt x="144559" y="24802"/>
                  </a:cubicBezTo>
                  <a:cubicBezTo>
                    <a:pt x="160440" y="40683"/>
                    <a:pt x="169362" y="62222"/>
                    <a:pt x="169362" y="84681"/>
                  </a:cubicBezTo>
                  <a:lnTo>
                    <a:pt x="169362" y="2392917"/>
                  </a:lnTo>
                  <a:cubicBezTo>
                    <a:pt x="169362" y="2439685"/>
                    <a:pt x="131449" y="2477598"/>
                    <a:pt x="84681" y="2477598"/>
                  </a:cubicBezTo>
                  <a:lnTo>
                    <a:pt x="84681" y="2477598"/>
                  </a:lnTo>
                  <a:cubicBezTo>
                    <a:pt x="37913" y="2477598"/>
                    <a:pt x="0" y="2439685"/>
                    <a:pt x="0" y="2392917"/>
                  </a:cubicBezTo>
                  <a:lnTo>
                    <a:pt x="0" y="84681"/>
                  </a:lnTo>
                  <a:cubicBezTo>
                    <a:pt x="0" y="37913"/>
                    <a:pt x="37913" y="0"/>
                    <a:pt x="84681" y="0"/>
                  </a:cubicBezTo>
                  <a:close/>
                </a:path>
              </a:pathLst>
            </a:custGeom>
            <a:ln w="19050" cap="rnd">
              <a:solidFill>
                <a:srgbClr val="164B82"/>
              </a:solidFill>
              <a:prstDash val="solid"/>
              <a:round/>
            </a:ln>
          </p:spPr>
        </p:sp>
        <p:sp>
          <p:nvSpPr>
            <p:cNvPr name="TextBox 12" id="12"/>
            <p:cNvSpPr txBox="true"/>
            <p:nvPr/>
          </p:nvSpPr>
          <p:spPr>
            <a:xfrm>
              <a:off x="0" y="-57150"/>
              <a:ext cx="169362" cy="2534748"/>
            </a:xfrm>
            <a:prstGeom prst="rect">
              <a:avLst/>
            </a:prstGeom>
          </p:spPr>
          <p:txBody>
            <a:bodyPr anchor="ctr" rtlCol="false" tIns="50800" lIns="50800" bIns="50800" rIns="50800"/>
            <a:lstStyle/>
            <a:p>
              <a:pPr algn="ctr">
                <a:lnSpc>
                  <a:spcPts val="3639"/>
                </a:lnSpc>
              </a:pPr>
            </a:p>
          </p:txBody>
        </p:sp>
      </p:grpSp>
      <p:sp>
        <p:nvSpPr>
          <p:cNvPr id="13" name="Title"/>
          <p:cNvSpPr txBox="1"/>
          <p:nvPr/>
        </p:nvSpPr>
        <p:spPr>
          <a:xfrm>
            <a:off x="1005840" y="1371600"/>
            <a:ext cx="15727680" cy="1097280"/>
          </a:xfrm>
          <a:prstGeom prst="rect">
            <a:avLst/>
          </a:prstGeom>
          <a:noFill/>
        </p:spPr>
        <p:txBody>
          <a:bodyPr wrap="square" lIns="0" rIns="0" tIns="0" bIns="0" anchor="ctr">
            <a:spAutoFit/>
          </a:bodyPr>
          <a:lstStyle/>
          <a:p>
            <a:pPr algn="l"/>
            <a:r>
              <a:rPr sz="4800" b="1" i="0">
                <a:solidFill>
                  <a:srgbClr val="343434"/>
                </a:solidFill>
                <a:latin typeface="Calibri"/>
              </a:rPr>
              <a:t>Modules and Workflow</a:t>
            </a:r>
          </a:p>
        </p:txBody>
      </p:sp>
      <p:sp>
        <p:nvSpPr>
          <p:cNvPr id="14" name="Page"/>
          <p:cNvSpPr txBox="1"/>
          <p:nvPr/>
        </p:nvSpPr>
        <p:spPr>
          <a:xfrm>
            <a:off x="1005840" y="9646920"/>
            <a:ext cx="3657600" cy="365760"/>
          </a:xfrm>
          <a:prstGeom prst="rect">
            <a:avLst/>
          </a:prstGeom>
          <a:noFill/>
        </p:spPr>
        <p:txBody>
          <a:bodyPr wrap="square" lIns="0" rIns="0" tIns="0" bIns="0" anchor="t">
            <a:spAutoFit/>
          </a:bodyPr>
          <a:lstStyle/>
          <a:p>
            <a:pPr algn="l"/>
            <a:r>
              <a:rPr sz="1800" b="0" i="0">
                <a:solidFill>
                  <a:srgbClr val="164B82"/>
                </a:solidFill>
                <a:latin typeface="Calibri"/>
              </a:rPr>
              <a:t>6 / 19</a:t>
            </a:r>
          </a:p>
        </p:txBody>
      </p:sp>
      <p:sp>
        <p:nvSpPr>
          <p:cNvPr id="15" name="Module 1"/>
          <p:cNvSpPr/>
          <p:nvPr/>
        </p:nvSpPr>
        <p:spPr>
          <a:xfrm>
            <a:off x="1005840" y="2743200"/>
            <a:ext cx="5029200" cy="4846320"/>
          </a:xfrm>
          <a:prstGeom prst="roundRect">
            <a:avLst>
              <a:gd name="adj" fmla="val 6000"/>
            </a:avLst>
          </a:prstGeom>
          <a:solidFill>
            <a:srgbClr val="FFFFFF">
              <a:alpha val="88000"/>
            </a:srgbClr>
          </a:solidFill>
          <a:ln w="15875">
            <a:solidFill>
              <a:srgbClr val="CFDDEC"/>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 name="Module head 1"/>
          <p:cNvSpPr/>
          <p:nvPr/>
        </p:nvSpPr>
        <p:spPr>
          <a:xfrm>
            <a:off x="1005840" y="2743200"/>
            <a:ext cx="5029200" cy="1005840"/>
          </a:xfrm>
          <a:prstGeom prst="roundRect">
            <a:avLst>
              <a:gd name="adj" fmla="val 15000"/>
            </a:avLst>
          </a:prstGeom>
          <a:solidFill>
            <a:srgbClr val="164B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TextBox 16"/>
          <p:cNvSpPr txBox="1"/>
          <p:nvPr/>
        </p:nvSpPr>
        <p:spPr>
          <a:xfrm>
            <a:off x="1325880" y="2743200"/>
            <a:ext cx="4480560" cy="1005840"/>
          </a:xfrm>
          <a:prstGeom prst="rect">
            <a:avLst/>
          </a:prstGeom>
          <a:noFill/>
        </p:spPr>
        <p:txBody>
          <a:bodyPr wrap="square" lIns="0" rIns="0" tIns="0" bIns="0" anchor="ctr">
            <a:spAutoFit/>
          </a:bodyPr>
          <a:lstStyle/>
          <a:p>
            <a:pPr algn="l"/>
            <a:r>
              <a:rPr sz="2800" b="1" i="0">
                <a:solidFill>
                  <a:srgbClr val="FFFFFF"/>
                </a:solidFill>
                <a:latin typeface="Calibri"/>
              </a:rPr>
              <a:t>M1  Corpus construction</a:t>
            </a:r>
          </a:p>
        </p:txBody>
      </p:sp>
      <p:sp>
        <p:nvSpPr>
          <p:cNvPr id="18" name="TextBox 17"/>
          <p:cNvSpPr txBox="1"/>
          <p:nvPr/>
        </p:nvSpPr>
        <p:spPr>
          <a:xfrm>
            <a:off x="1325880" y="4023360"/>
            <a:ext cx="4480560" cy="2743200"/>
          </a:xfrm>
          <a:prstGeom prst="rect">
            <a:avLst/>
          </a:prstGeom>
          <a:noFill/>
        </p:spPr>
        <p:txBody>
          <a:bodyPr wrap="square" lIns="0" rIns="0" tIns="0" bIns="0">
            <a:spAutoFit/>
          </a:bodyPr>
          <a:lstStyle/>
          <a:p>
            <a:pPr marL="384048" indent="-384048">
              <a:spcAft>
                <a:spcPts val="1000"/>
              </a:spcAft>
              <a:buClr>
                <a:srgbClr val="2F679F"/>
              </a:buClr>
              <a:buFont typeface="Arial"/>
              <a:buChar char="•"/>
            </a:pPr>
            <a:r>
              <a:rPr sz="2400" b="0">
                <a:solidFill>
                  <a:srgbClr val="343434"/>
                </a:solidFill>
                <a:latin typeface="Calibri"/>
              </a:rPr>
              <a:t>Independence audit and alignment</a:t>
            </a:r>
          </a:p>
          <a:p>
            <a:pPr marL="384048" indent="-384048">
              <a:spcAft>
                <a:spcPts val="1000"/>
              </a:spcAft>
              <a:buClr>
                <a:srgbClr val="2F679F"/>
              </a:buClr>
              <a:buFont typeface="Arial"/>
              <a:buChar char="•"/>
            </a:pPr>
            <a:r>
              <a:rPr sz="2400" b="0">
                <a:solidFill>
                  <a:srgbClr val="343434"/>
                </a:solidFill>
                <a:latin typeface="Calibri"/>
              </a:rPr>
              <a:t>Direct Indic→Indic translation</a:t>
            </a:r>
          </a:p>
          <a:p>
            <a:pPr marL="384048" indent="-384048">
              <a:spcAft>
                <a:spcPts val="1000"/>
              </a:spcAft>
              <a:buClr>
                <a:srgbClr val="2F679F"/>
              </a:buClr>
              <a:buFont typeface="Arial"/>
              <a:buChar char="•"/>
            </a:pPr>
            <a:r>
              <a:rPr sz="2400" b="0">
                <a:solidFill>
                  <a:srgbClr val="343434"/>
                </a:solidFill>
                <a:latin typeface="Calibri"/>
              </a:rPr>
              <a:t>Numeral, integrity, LaBSE gates</a:t>
            </a:r>
          </a:p>
          <a:p>
            <a:pPr marL="384048" indent="-384048">
              <a:spcAft>
                <a:spcPts val="1000"/>
              </a:spcAft>
              <a:buClr>
                <a:srgbClr val="2F679F"/>
              </a:buClr>
              <a:buFont typeface="Arial"/>
              <a:buChar char="•"/>
            </a:pPr>
            <a:r>
              <a:rPr sz="2400" b="0">
                <a:solidFill>
                  <a:srgbClr val="343434"/>
                </a:solidFill>
                <a:latin typeface="Calibri"/>
              </a:rPr>
              <a:t>Frozen read-only release</a:t>
            </a:r>
          </a:p>
        </p:txBody>
      </p:sp>
      <p:sp>
        <p:nvSpPr>
          <p:cNvPr id="19" name="TextBox 18"/>
          <p:cNvSpPr txBox="1"/>
          <p:nvPr/>
        </p:nvSpPr>
        <p:spPr>
          <a:xfrm>
            <a:off x="1325880" y="6903720"/>
            <a:ext cx="4480560" cy="502920"/>
          </a:xfrm>
          <a:prstGeom prst="rect">
            <a:avLst/>
          </a:prstGeom>
          <a:noFill/>
        </p:spPr>
        <p:txBody>
          <a:bodyPr wrap="square" lIns="0" rIns="0" tIns="0" bIns="0" anchor="t">
            <a:spAutoFit/>
          </a:bodyPr>
          <a:lstStyle/>
          <a:p>
            <a:pPr algn="l"/>
            <a:r>
              <a:rPr sz="2200" b="1" i="0">
                <a:solidFill>
                  <a:srgbClr val="2F679F"/>
                </a:solidFill>
                <a:latin typeface="Calibri"/>
              </a:rPr>
              <a:t>Output: </a:t>
            </a:r>
            <a:r>
              <a:rPr sz="2200" b="1" i="0">
                <a:solidFill>
                  <a:srgbClr val="343434"/>
                </a:solidFill>
                <a:latin typeface="Calibri"/>
              </a:rPr>
              <a:t>12 splits per task</a:t>
            </a:r>
          </a:p>
        </p:txBody>
      </p:sp>
      <p:sp>
        <p:nvSpPr>
          <p:cNvPr id="20" name="Module 2"/>
          <p:cNvSpPr/>
          <p:nvPr/>
        </p:nvSpPr>
        <p:spPr>
          <a:xfrm>
            <a:off x="6355079" y="2743200"/>
            <a:ext cx="5029200" cy="4846320"/>
          </a:xfrm>
          <a:prstGeom prst="roundRect">
            <a:avLst>
              <a:gd name="adj" fmla="val 6000"/>
            </a:avLst>
          </a:prstGeom>
          <a:solidFill>
            <a:srgbClr val="FFFFFF">
              <a:alpha val="88000"/>
            </a:srgbClr>
          </a:solidFill>
          <a:ln w="15875">
            <a:solidFill>
              <a:srgbClr val="CFDDEC"/>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Module head 2"/>
          <p:cNvSpPr/>
          <p:nvPr/>
        </p:nvSpPr>
        <p:spPr>
          <a:xfrm>
            <a:off x="6355079" y="2743200"/>
            <a:ext cx="5029200" cy="1005840"/>
          </a:xfrm>
          <a:prstGeom prst="roundRect">
            <a:avLst>
              <a:gd name="adj" fmla="val 15000"/>
            </a:avLst>
          </a:prstGeom>
          <a:solidFill>
            <a:srgbClr val="164B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6675119" y="2743200"/>
            <a:ext cx="4480560" cy="1005840"/>
          </a:xfrm>
          <a:prstGeom prst="rect">
            <a:avLst/>
          </a:prstGeom>
          <a:noFill/>
        </p:spPr>
        <p:txBody>
          <a:bodyPr wrap="square" lIns="0" rIns="0" tIns="0" bIns="0" anchor="ctr">
            <a:spAutoFit/>
          </a:bodyPr>
          <a:lstStyle/>
          <a:p>
            <a:pPr algn="l"/>
            <a:r>
              <a:rPr sz="2800" b="1" i="0">
                <a:solidFill>
                  <a:srgbClr val="FFFFFF"/>
                </a:solidFill>
                <a:latin typeface="Calibri"/>
              </a:rPr>
              <a:t>M2  Transfer evaluation</a:t>
            </a:r>
          </a:p>
        </p:txBody>
      </p:sp>
      <p:sp>
        <p:nvSpPr>
          <p:cNvPr id="23" name="TextBox 22"/>
          <p:cNvSpPr txBox="1"/>
          <p:nvPr/>
        </p:nvSpPr>
        <p:spPr>
          <a:xfrm>
            <a:off x="6675119" y="4023360"/>
            <a:ext cx="4480560" cy="2743200"/>
          </a:xfrm>
          <a:prstGeom prst="rect">
            <a:avLst/>
          </a:prstGeom>
          <a:noFill/>
        </p:spPr>
        <p:txBody>
          <a:bodyPr wrap="square" lIns="0" rIns="0" tIns="0" bIns="0">
            <a:spAutoFit/>
          </a:bodyPr>
          <a:lstStyle/>
          <a:p>
            <a:pPr marL="384048" indent="-384048">
              <a:spcAft>
                <a:spcPts val="1000"/>
              </a:spcAft>
              <a:buClr>
                <a:srgbClr val="2F679F"/>
              </a:buClr>
              <a:buFont typeface="Arial"/>
              <a:buChar char="•"/>
            </a:pPr>
            <a:r>
              <a:rPr sz="2400" b="0">
                <a:solidFill>
                  <a:srgbClr val="343434"/>
                </a:solidFill>
                <a:latin typeface="Calibri"/>
              </a:rPr>
              <a:t>Condition matrix: 21 per task</a:t>
            </a:r>
          </a:p>
          <a:p>
            <a:pPr marL="384048" indent="-384048">
              <a:spcAft>
                <a:spcPts val="1000"/>
              </a:spcAft>
              <a:buClr>
                <a:srgbClr val="2F679F"/>
              </a:buClr>
              <a:buFont typeface="Arial"/>
              <a:buChar char="•"/>
            </a:pPr>
            <a:r>
              <a:rPr sz="2400" b="0">
                <a:solidFill>
                  <a:srgbClr val="343434"/>
                </a:solidFill>
                <a:latin typeface="Calibri"/>
              </a:rPr>
              <a:t>Fine-tune on native text only</a:t>
            </a:r>
          </a:p>
          <a:p>
            <a:pPr marL="384048" indent="-384048">
              <a:spcAft>
                <a:spcPts val="1000"/>
              </a:spcAft>
              <a:buClr>
                <a:srgbClr val="2F679F"/>
              </a:buClr>
              <a:buFont typeface="Arial"/>
              <a:buChar char="•"/>
            </a:pPr>
            <a:r>
              <a:rPr sz="2400" b="0">
                <a:solidFill>
                  <a:srgbClr val="343434"/>
                </a:solidFill>
                <a:latin typeface="Calibri"/>
              </a:rPr>
              <a:t>Zero-shot, 3 seeds each</a:t>
            </a:r>
          </a:p>
          <a:p>
            <a:pPr marL="384048" indent="-384048">
              <a:spcAft>
                <a:spcPts val="1000"/>
              </a:spcAft>
              <a:buClr>
                <a:srgbClr val="2F679F"/>
              </a:buClr>
              <a:buFont typeface="Arial"/>
              <a:buChar char="•"/>
            </a:pPr>
            <a:r>
              <a:rPr sz="2400" b="0">
                <a:solidFill>
                  <a:srgbClr val="343434"/>
                </a:solidFill>
                <a:latin typeface="Calibri"/>
              </a:rPr>
              <a:t>Gap = source − target F1</a:t>
            </a:r>
          </a:p>
        </p:txBody>
      </p:sp>
      <p:sp>
        <p:nvSpPr>
          <p:cNvPr id="24" name="TextBox 23"/>
          <p:cNvSpPr txBox="1"/>
          <p:nvPr/>
        </p:nvSpPr>
        <p:spPr>
          <a:xfrm>
            <a:off x="6675119" y="6903720"/>
            <a:ext cx="4480560" cy="502920"/>
          </a:xfrm>
          <a:prstGeom prst="rect">
            <a:avLst/>
          </a:prstGeom>
          <a:noFill/>
        </p:spPr>
        <p:txBody>
          <a:bodyPr wrap="square" lIns="0" rIns="0" tIns="0" bIns="0" anchor="t">
            <a:spAutoFit/>
          </a:bodyPr>
          <a:lstStyle/>
          <a:p>
            <a:pPr algn="l"/>
            <a:r>
              <a:rPr sz="2200" b="1" i="0">
                <a:solidFill>
                  <a:srgbClr val="2F679F"/>
                </a:solidFill>
                <a:latin typeface="Calibri"/>
              </a:rPr>
              <a:t>Output: </a:t>
            </a:r>
            <a:r>
              <a:rPr sz="2200" b="1" i="0">
                <a:solidFill>
                  <a:srgbClr val="343434"/>
                </a:solidFill>
                <a:latin typeface="Calibri"/>
              </a:rPr>
              <a:t>126 results per task</a:t>
            </a:r>
          </a:p>
        </p:txBody>
      </p:sp>
      <p:sp>
        <p:nvSpPr>
          <p:cNvPr id="25" name="Module 3"/>
          <p:cNvSpPr/>
          <p:nvPr/>
        </p:nvSpPr>
        <p:spPr>
          <a:xfrm>
            <a:off x="11704319" y="2743200"/>
            <a:ext cx="5029200" cy="4846320"/>
          </a:xfrm>
          <a:prstGeom prst="roundRect">
            <a:avLst>
              <a:gd name="adj" fmla="val 6000"/>
            </a:avLst>
          </a:prstGeom>
          <a:solidFill>
            <a:srgbClr val="FFFFFF">
              <a:alpha val="88000"/>
            </a:srgbClr>
          </a:solidFill>
          <a:ln w="15875">
            <a:solidFill>
              <a:srgbClr val="CFDDEC"/>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6" name="Module head 3"/>
          <p:cNvSpPr/>
          <p:nvPr/>
        </p:nvSpPr>
        <p:spPr>
          <a:xfrm>
            <a:off x="11704319" y="2743200"/>
            <a:ext cx="5029200" cy="1005840"/>
          </a:xfrm>
          <a:prstGeom prst="roundRect">
            <a:avLst>
              <a:gd name="adj" fmla="val 15000"/>
            </a:avLst>
          </a:prstGeom>
          <a:solidFill>
            <a:srgbClr val="164B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7" name="TextBox 26"/>
          <p:cNvSpPr txBox="1"/>
          <p:nvPr/>
        </p:nvSpPr>
        <p:spPr>
          <a:xfrm>
            <a:off x="12024359" y="2743200"/>
            <a:ext cx="4480560" cy="1005840"/>
          </a:xfrm>
          <a:prstGeom prst="rect">
            <a:avLst/>
          </a:prstGeom>
          <a:noFill/>
        </p:spPr>
        <p:txBody>
          <a:bodyPr wrap="square" lIns="0" rIns="0" tIns="0" bIns="0" anchor="ctr">
            <a:spAutoFit/>
          </a:bodyPr>
          <a:lstStyle/>
          <a:p>
            <a:pPr algn="l"/>
            <a:r>
              <a:rPr sz="2800" b="1" i="0">
                <a:solidFill>
                  <a:srgbClr val="FFFFFF"/>
                </a:solidFill>
                <a:latin typeface="Calibri"/>
              </a:rPr>
              <a:t>M3  Diagnostics</a:t>
            </a:r>
          </a:p>
        </p:txBody>
      </p:sp>
      <p:sp>
        <p:nvSpPr>
          <p:cNvPr id="28" name="TextBox 27"/>
          <p:cNvSpPr txBox="1"/>
          <p:nvPr/>
        </p:nvSpPr>
        <p:spPr>
          <a:xfrm>
            <a:off x="12024359" y="4023360"/>
            <a:ext cx="4480560" cy="2743200"/>
          </a:xfrm>
          <a:prstGeom prst="rect">
            <a:avLst/>
          </a:prstGeom>
          <a:noFill/>
        </p:spPr>
        <p:txBody>
          <a:bodyPr wrap="square" lIns="0" rIns="0" tIns="0" bIns="0">
            <a:spAutoFit/>
          </a:bodyPr>
          <a:lstStyle/>
          <a:p>
            <a:pPr marL="384048" indent="-384048">
              <a:spcAft>
                <a:spcPts val="1000"/>
              </a:spcAft>
              <a:buClr>
                <a:srgbClr val="2F679F"/>
              </a:buClr>
              <a:buFont typeface="Arial"/>
              <a:buChar char="•"/>
            </a:pPr>
            <a:r>
              <a:rPr sz="2400" b="0">
                <a:solidFill>
                  <a:srgbClr val="343434"/>
                </a:solidFill>
                <a:latin typeface="Calibri"/>
              </a:rPr>
              <a:t>Semantic gate first</a:t>
            </a:r>
          </a:p>
          <a:p>
            <a:pPr marL="384048" indent="-384048">
              <a:spcAft>
                <a:spcPts val="1000"/>
              </a:spcAft>
              <a:buClr>
                <a:srgbClr val="2F679F"/>
              </a:buClr>
              <a:buFont typeface="Arial"/>
              <a:buChar char="•"/>
            </a:pPr>
            <a:r>
              <a:rPr sz="2400" b="0">
                <a:solidFill>
                  <a:srgbClr val="343434"/>
                </a:solidFill>
                <a:latin typeface="Calibri"/>
              </a:rPr>
              <a:t>Linguistic modules (stage 2)</a:t>
            </a:r>
          </a:p>
          <a:p>
            <a:pPr marL="384048" indent="-384048">
              <a:spcAft>
                <a:spcPts val="1000"/>
              </a:spcAft>
              <a:buClr>
                <a:srgbClr val="2F679F"/>
              </a:buClr>
              <a:buFont typeface="Arial"/>
              <a:buChar char="•"/>
            </a:pPr>
            <a:r>
              <a:rPr sz="2400" b="0">
                <a:solidFill>
                  <a:srgbClr val="343434"/>
                </a:solidFill>
                <a:latin typeface="Calibri"/>
              </a:rPr>
              <a:t>Data and model labels (stage 3)</a:t>
            </a:r>
          </a:p>
          <a:p>
            <a:pPr marL="384048" indent="-384048">
              <a:spcAft>
                <a:spcPts val="1000"/>
              </a:spcAft>
              <a:buClr>
                <a:srgbClr val="2F679F"/>
              </a:buClr>
              <a:buFont typeface="Arial"/>
              <a:buChar char="•"/>
            </a:pPr>
            <a:r>
              <a:rPr sz="2400" b="0">
                <a:solidFill>
                  <a:srgbClr val="343434"/>
                </a:solidFill>
                <a:latin typeface="Calibri"/>
              </a:rPr>
              <a:t>Bootstrap finding rule</a:t>
            </a:r>
          </a:p>
        </p:txBody>
      </p:sp>
      <p:sp>
        <p:nvSpPr>
          <p:cNvPr id="29" name="TextBox 28"/>
          <p:cNvSpPr txBox="1"/>
          <p:nvPr/>
        </p:nvSpPr>
        <p:spPr>
          <a:xfrm>
            <a:off x="12024359" y="6903720"/>
            <a:ext cx="4480560" cy="502920"/>
          </a:xfrm>
          <a:prstGeom prst="rect">
            <a:avLst/>
          </a:prstGeom>
          <a:noFill/>
        </p:spPr>
        <p:txBody>
          <a:bodyPr wrap="square" lIns="0" rIns="0" tIns="0" bIns="0" anchor="t">
            <a:spAutoFit/>
          </a:bodyPr>
          <a:lstStyle/>
          <a:p>
            <a:pPr algn="l"/>
            <a:r>
              <a:rPr sz="2200" b="1" i="0">
                <a:solidFill>
                  <a:srgbClr val="2F679F"/>
                </a:solidFill>
                <a:latin typeface="Calibri"/>
              </a:rPr>
              <a:t>Output: </a:t>
            </a:r>
            <a:r>
              <a:rPr sz="2200" b="1" i="0">
                <a:solidFill>
                  <a:srgbClr val="343434"/>
                </a:solidFill>
                <a:latin typeface="Calibri"/>
              </a:rPr>
              <a:t>One cause per failure</a:t>
            </a:r>
          </a:p>
        </p:txBody>
      </p:sp>
      <p:sp>
        <p:nvSpPr>
          <p:cNvPr id="30" name="Flow 0"/>
          <p:cNvSpPr/>
          <p:nvPr/>
        </p:nvSpPr>
        <p:spPr>
          <a:xfrm>
            <a:off x="1005840" y="8046720"/>
            <a:ext cx="2011680" cy="1097280"/>
          </a:xfrm>
          <a:prstGeom prst="homePlate">
            <a:avLst/>
          </a:prstGeom>
          <a:solidFill>
            <a:srgbClr val="699AC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1" name="TextBox 30"/>
          <p:cNvSpPr txBox="1"/>
          <p:nvPr/>
        </p:nvSpPr>
        <p:spPr>
          <a:xfrm>
            <a:off x="1097280" y="8046720"/>
            <a:ext cx="1280160" cy="1097280"/>
          </a:xfrm>
          <a:prstGeom prst="rect">
            <a:avLst/>
          </a:prstGeom>
          <a:noFill/>
        </p:spPr>
        <p:txBody>
          <a:bodyPr wrap="square" lIns="0" rIns="0" tIns="0" bIns="0" anchor="ctr">
            <a:spAutoFit/>
          </a:bodyPr>
          <a:lstStyle/>
          <a:p>
            <a:pPr algn="ctr"/>
            <a:r>
              <a:rPr sz="1900" b="1" i="0">
                <a:solidFill>
                  <a:srgbClr val="FFFFFF"/>
                </a:solidFill>
                <a:latin typeface="Calibri"/>
              </a:rPr>
              <a:t>Audit</a:t>
            </a:r>
          </a:p>
        </p:txBody>
      </p:sp>
      <p:sp>
        <p:nvSpPr>
          <p:cNvPr id="32" name="Flow 1"/>
          <p:cNvSpPr/>
          <p:nvPr/>
        </p:nvSpPr>
        <p:spPr>
          <a:xfrm>
            <a:off x="3291839" y="8046720"/>
            <a:ext cx="2011680" cy="1097280"/>
          </a:xfrm>
          <a:prstGeom prst="chevron">
            <a:avLst/>
          </a:prstGeom>
          <a:solidFill>
            <a:srgbClr val="699AC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3" name="TextBox 32"/>
          <p:cNvSpPr txBox="1"/>
          <p:nvPr/>
        </p:nvSpPr>
        <p:spPr>
          <a:xfrm>
            <a:off x="3703320" y="8046720"/>
            <a:ext cx="1280160" cy="1097280"/>
          </a:xfrm>
          <a:prstGeom prst="rect">
            <a:avLst/>
          </a:prstGeom>
          <a:noFill/>
        </p:spPr>
        <p:txBody>
          <a:bodyPr wrap="square" lIns="0" rIns="0" tIns="0" bIns="0" anchor="ctr">
            <a:spAutoFit/>
          </a:bodyPr>
          <a:lstStyle/>
          <a:p>
            <a:pPr algn="ctr"/>
            <a:r>
              <a:rPr sz="1900" b="1" i="0">
                <a:solidFill>
                  <a:srgbClr val="FFFFFF"/>
                </a:solidFill>
                <a:latin typeface="Calibri"/>
              </a:rPr>
              <a:t>Translate</a:t>
            </a:r>
          </a:p>
        </p:txBody>
      </p:sp>
      <p:sp>
        <p:nvSpPr>
          <p:cNvPr id="34" name="Flow 2"/>
          <p:cNvSpPr/>
          <p:nvPr/>
        </p:nvSpPr>
        <p:spPr>
          <a:xfrm>
            <a:off x="5577840" y="8046720"/>
            <a:ext cx="2011680" cy="1097280"/>
          </a:xfrm>
          <a:prstGeom prst="chevron">
            <a:avLst/>
          </a:prstGeom>
          <a:solidFill>
            <a:srgbClr val="699AC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5" name="TextBox 34"/>
          <p:cNvSpPr txBox="1"/>
          <p:nvPr/>
        </p:nvSpPr>
        <p:spPr>
          <a:xfrm>
            <a:off x="5989320" y="8046720"/>
            <a:ext cx="1280160" cy="1097280"/>
          </a:xfrm>
          <a:prstGeom prst="rect">
            <a:avLst/>
          </a:prstGeom>
          <a:noFill/>
        </p:spPr>
        <p:txBody>
          <a:bodyPr wrap="square" lIns="0" rIns="0" tIns="0" bIns="0" anchor="ctr">
            <a:spAutoFit/>
          </a:bodyPr>
          <a:lstStyle/>
          <a:p>
            <a:pPr algn="ctr"/>
            <a:r>
              <a:rPr sz="1900" b="1" i="0">
                <a:solidFill>
                  <a:srgbClr val="FFFFFF"/>
                </a:solidFill>
                <a:latin typeface="Calibri"/>
              </a:rPr>
              <a:t>Gate</a:t>
            </a:r>
          </a:p>
        </p:txBody>
      </p:sp>
      <p:sp>
        <p:nvSpPr>
          <p:cNvPr id="36" name="Flow 3"/>
          <p:cNvSpPr/>
          <p:nvPr/>
        </p:nvSpPr>
        <p:spPr>
          <a:xfrm>
            <a:off x="7863839" y="8046720"/>
            <a:ext cx="2011680" cy="1097280"/>
          </a:xfrm>
          <a:prstGeom prst="chevron">
            <a:avLst/>
          </a:prstGeom>
          <a:solidFill>
            <a:srgbClr val="699AC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7" name="TextBox 36"/>
          <p:cNvSpPr txBox="1"/>
          <p:nvPr/>
        </p:nvSpPr>
        <p:spPr>
          <a:xfrm>
            <a:off x="8275319" y="8046720"/>
            <a:ext cx="1280160" cy="1097280"/>
          </a:xfrm>
          <a:prstGeom prst="rect">
            <a:avLst/>
          </a:prstGeom>
          <a:noFill/>
        </p:spPr>
        <p:txBody>
          <a:bodyPr wrap="square" lIns="0" rIns="0" tIns="0" bIns="0" anchor="ctr">
            <a:spAutoFit/>
          </a:bodyPr>
          <a:lstStyle/>
          <a:p>
            <a:pPr algn="ctr"/>
            <a:r>
              <a:rPr sz="1900" b="1" i="0">
                <a:solidFill>
                  <a:srgbClr val="FFFFFF"/>
                </a:solidFill>
                <a:latin typeface="Calibri"/>
              </a:rPr>
              <a:t>Freeze</a:t>
            </a:r>
          </a:p>
        </p:txBody>
      </p:sp>
      <p:sp>
        <p:nvSpPr>
          <p:cNvPr id="38" name="Flow 4"/>
          <p:cNvSpPr/>
          <p:nvPr/>
        </p:nvSpPr>
        <p:spPr>
          <a:xfrm>
            <a:off x="10149839" y="8046720"/>
            <a:ext cx="2011680" cy="1097280"/>
          </a:xfrm>
          <a:prstGeom prst="chevron">
            <a:avLst/>
          </a:prstGeom>
          <a:solidFill>
            <a:srgbClr val="2F679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9" name="TextBox 38"/>
          <p:cNvSpPr txBox="1"/>
          <p:nvPr/>
        </p:nvSpPr>
        <p:spPr>
          <a:xfrm>
            <a:off x="10561319" y="8046720"/>
            <a:ext cx="1280160" cy="1097280"/>
          </a:xfrm>
          <a:prstGeom prst="rect">
            <a:avLst/>
          </a:prstGeom>
          <a:noFill/>
        </p:spPr>
        <p:txBody>
          <a:bodyPr wrap="square" lIns="0" rIns="0" tIns="0" bIns="0" anchor="ctr">
            <a:spAutoFit/>
          </a:bodyPr>
          <a:lstStyle/>
          <a:p>
            <a:pPr algn="ctr"/>
            <a:r>
              <a:rPr sz="1900" b="1" i="0">
                <a:solidFill>
                  <a:srgbClr val="FFFFFF"/>
                </a:solidFill>
                <a:latin typeface="Calibri"/>
              </a:rPr>
              <a:t>Fine-tune</a:t>
            </a:r>
          </a:p>
        </p:txBody>
      </p:sp>
      <p:sp>
        <p:nvSpPr>
          <p:cNvPr id="40" name="Flow 5"/>
          <p:cNvSpPr/>
          <p:nvPr/>
        </p:nvSpPr>
        <p:spPr>
          <a:xfrm>
            <a:off x="12435839" y="8046720"/>
            <a:ext cx="2011680" cy="1097280"/>
          </a:xfrm>
          <a:prstGeom prst="chevron">
            <a:avLst/>
          </a:prstGeom>
          <a:solidFill>
            <a:srgbClr val="2F679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1" name="TextBox 40"/>
          <p:cNvSpPr txBox="1"/>
          <p:nvPr/>
        </p:nvSpPr>
        <p:spPr>
          <a:xfrm>
            <a:off x="12847319" y="8046720"/>
            <a:ext cx="1280160" cy="1097280"/>
          </a:xfrm>
          <a:prstGeom prst="rect">
            <a:avLst/>
          </a:prstGeom>
          <a:noFill/>
        </p:spPr>
        <p:txBody>
          <a:bodyPr wrap="square" lIns="0" rIns="0" tIns="0" bIns="0" anchor="ctr">
            <a:spAutoFit/>
          </a:bodyPr>
          <a:lstStyle/>
          <a:p>
            <a:pPr algn="ctr"/>
            <a:r>
              <a:rPr sz="1900" b="1" i="0">
                <a:solidFill>
                  <a:srgbClr val="FFFFFF"/>
                </a:solidFill>
                <a:latin typeface="Calibri"/>
              </a:rPr>
              <a:t>Zero-shot</a:t>
            </a:r>
          </a:p>
        </p:txBody>
      </p:sp>
      <p:sp>
        <p:nvSpPr>
          <p:cNvPr id="42" name="Flow 6"/>
          <p:cNvSpPr/>
          <p:nvPr/>
        </p:nvSpPr>
        <p:spPr>
          <a:xfrm>
            <a:off x="14721839" y="8046720"/>
            <a:ext cx="2011680" cy="1097280"/>
          </a:xfrm>
          <a:prstGeom prst="chevron">
            <a:avLst/>
          </a:prstGeom>
          <a:solidFill>
            <a:srgbClr val="2F679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3" name="TextBox 42"/>
          <p:cNvSpPr txBox="1"/>
          <p:nvPr/>
        </p:nvSpPr>
        <p:spPr>
          <a:xfrm>
            <a:off x="15133319" y="8046720"/>
            <a:ext cx="1280160" cy="1097280"/>
          </a:xfrm>
          <a:prstGeom prst="rect">
            <a:avLst/>
          </a:prstGeom>
          <a:noFill/>
        </p:spPr>
        <p:txBody>
          <a:bodyPr wrap="square" lIns="0" rIns="0" tIns="0" bIns="0" anchor="ctr">
            <a:spAutoFit/>
          </a:bodyPr>
          <a:lstStyle/>
          <a:p>
            <a:pPr algn="ctr"/>
            <a:r>
              <a:rPr sz="1900" b="1" i="0">
                <a:solidFill>
                  <a:srgbClr val="FFFFFF"/>
                </a:solidFill>
                <a:latin typeface="Calibri"/>
              </a:rPr>
              <a:t>Diagnose</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name="Freeform 2" id="2"/>
          <p:cNvSpPr/>
          <p:nvPr/>
        </p:nvSpPr>
        <p:spPr>
          <a:xfrm flipH="false" flipV="false" rot="225008">
            <a:off x="-467361" y="-2757747"/>
            <a:ext cx="12701350" cy="5382197"/>
          </a:xfrm>
          <a:custGeom>
            <a:avLst/>
            <a:gdLst/>
            <a:ahLst/>
            <a:cxnLst/>
            <a:rect r="r" b="b" t="t" l="l"/>
            <a:pathLst>
              <a:path h="5382197" w="12701350">
                <a:moveTo>
                  <a:pt x="0" y="0"/>
                </a:moveTo>
                <a:lnTo>
                  <a:pt x="12701349" y="0"/>
                </a:lnTo>
                <a:lnTo>
                  <a:pt x="12701349" y="5382197"/>
                </a:lnTo>
                <a:lnTo>
                  <a:pt x="0" y="5382197"/>
                </a:lnTo>
                <a:lnTo>
                  <a:pt x="0" y="0"/>
                </a:lnTo>
                <a:close/>
              </a:path>
            </a:pathLst>
          </a:custGeom>
          <a:blipFill>
            <a:blip r:embed="rId2"/>
            <a:stretch>
              <a:fillRect l="0" t="0" r="0" b="0"/>
            </a:stretch>
          </a:blipFill>
        </p:spPr>
      </p:sp>
      <p:sp>
        <p:nvSpPr>
          <p:cNvPr name="Freeform 3" id="3"/>
          <p:cNvSpPr/>
          <p:nvPr/>
        </p:nvSpPr>
        <p:spPr>
          <a:xfrm flipH="false" flipV="false" rot="0">
            <a:off x="10986204" y="6250419"/>
            <a:ext cx="11514218" cy="8506128"/>
          </a:xfrm>
          <a:custGeom>
            <a:avLst/>
            <a:gdLst/>
            <a:ahLst/>
            <a:cxnLst/>
            <a:rect r="r" b="b" t="t" l="l"/>
            <a:pathLst>
              <a:path h="8506128" w="11514218">
                <a:moveTo>
                  <a:pt x="0" y="0"/>
                </a:moveTo>
                <a:lnTo>
                  <a:pt x="11514218" y="0"/>
                </a:lnTo>
                <a:lnTo>
                  <a:pt x="11514218" y="8506128"/>
                </a:lnTo>
                <a:lnTo>
                  <a:pt x="0" y="8506128"/>
                </a:lnTo>
                <a:lnTo>
                  <a:pt x="0" y="0"/>
                </a:lnTo>
                <a:close/>
              </a:path>
            </a:pathLst>
          </a:custGeom>
          <a:blipFill>
            <a:blip r:embed="rId3"/>
            <a:stretch>
              <a:fillRect l="0" t="0" r="0" b="0"/>
            </a:stretch>
          </a:blipFill>
        </p:spPr>
      </p:sp>
      <p:grpSp>
        <p:nvGrpSpPr>
          <p:cNvPr name="Group 4" id="4"/>
          <p:cNvGrpSpPr/>
          <p:nvPr/>
        </p:nvGrpSpPr>
        <p:grpSpPr>
          <a:xfrm rot="0">
            <a:off x="17259300" y="-392510"/>
            <a:ext cx="1437565" cy="11072020"/>
            <a:chOff x="0" y="0"/>
            <a:chExt cx="378618" cy="2916088"/>
          </a:xfrm>
        </p:grpSpPr>
        <p:sp>
          <p:nvSpPr>
            <p:cNvPr name="Freeform 5" id="5"/>
            <p:cNvSpPr/>
            <p:nvPr/>
          </p:nvSpPr>
          <p:spPr>
            <a:xfrm flipH="false" flipV="false" rot="0">
              <a:off x="0" y="0"/>
              <a:ext cx="378618" cy="2916088"/>
            </a:xfrm>
            <a:custGeom>
              <a:avLst/>
              <a:gdLst/>
              <a:ahLst/>
              <a:cxnLst/>
              <a:rect r="r" b="b" t="t" l="l"/>
              <a:pathLst>
                <a:path h="2916088" w="378618">
                  <a:moveTo>
                    <a:pt x="0" y="0"/>
                  </a:moveTo>
                  <a:lnTo>
                    <a:pt x="378618" y="0"/>
                  </a:lnTo>
                  <a:lnTo>
                    <a:pt x="378618" y="2916088"/>
                  </a:lnTo>
                  <a:lnTo>
                    <a:pt x="0" y="2916088"/>
                  </a:lnTo>
                  <a:close/>
                </a:path>
              </a:pathLst>
            </a:custGeom>
            <a:gradFill rotWithShape="true">
              <a:gsLst>
                <a:gs pos="0">
                  <a:srgbClr val="E4B795">
                    <a:alpha val="100000"/>
                  </a:srgbClr>
                </a:gs>
                <a:gs pos="50000">
                  <a:srgbClr val="699ACD">
                    <a:alpha val="100000"/>
                  </a:srgbClr>
                </a:gs>
                <a:gs pos="100000">
                  <a:srgbClr val="2F679F">
                    <a:alpha val="100000"/>
                  </a:srgbClr>
                </a:gs>
              </a:gsLst>
              <a:path path="circle">
                <a:fillToRect l="0" r="100000" t="0" b="100000"/>
              </a:path>
              <a:tileRect r="0" l="-100000" b="0" t="-100000"/>
            </a:gradFill>
          </p:spPr>
        </p:sp>
        <p:sp>
          <p:nvSpPr>
            <p:cNvPr name="TextBox 6" id="6"/>
            <p:cNvSpPr txBox="true"/>
            <p:nvPr/>
          </p:nvSpPr>
          <p:spPr>
            <a:xfrm>
              <a:off x="0" y="-57150"/>
              <a:ext cx="378618" cy="2973238"/>
            </a:xfrm>
            <a:prstGeom prst="rect">
              <a:avLst/>
            </a:prstGeom>
          </p:spPr>
          <p:txBody>
            <a:bodyPr anchor="ctr" rtlCol="false" tIns="50800" lIns="50800" bIns="50800" rIns="50800"/>
            <a:lstStyle/>
            <a:p>
              <a:pPr algn="ctr">
                <a:lnSpc>
                  <a:spcPts val="3639"/>
                </a:lnSpc>
              </a:pPr>
            </a:p>
          </p:txBody>
        </p:sp>
      </p:grpSp>
      <p:sp>
        <p:nvSpPr>
          <p:cNvPr name="TextBox 7" id="7"/>
          <p:cNvSpPr txBox="true"/>
          <p:nvPr/>
        </p:nvSpPr>
        <p:spPr>
          <a:xfrm rot="0">
            <a:off x="8021110" y="782737"/>
            <a:ext cx="2492949" cy="351790"/>
          </a:xfrm>
          <a:prstGeom prst="rect">
            <a:avLst/>
          </a:prstGeom>
        </p:spPr>
        <p:txBody>
          <a:bodyPr anchor="t" rtlCol="false" tIns="0" lIns="0" bIns="0" rIns="0">
            <a:spAutoFit/>
          </a:bodyPr>
          <a:lstStyle/>
          <a:p>
            <a:pPr algn="l">
              <a:lnSpc>
                <a:spcPts val="2660"/>
              </a:lnSpc>
              <a:spcBef>
                <a:spcPct val="0"/>
              </a:spcBef>
            </a:pPr>
            <a:r>
              <a:rPr lang="en-US" sz="1900" spc="95">
                <a:solidFill>
                  <a:srgbClr val="164B82"/>
                </a:solidFill>
                <a:latin typeface="Calibri"/>
                <a:ea typeface="Telegraf Extra-Light"/>
                <a:cs typeface="Telegraf Extra-Light"/>
                <a:sym typeface="Telegraf Extra-Light"/>
              </a:rPr>
              <a:t>BCSE497J · Project I</a:t>
            </a:r>
          </a:p>
        </p:txBody>
      </p:sp>
      <p:sp>
        <p:nvSpPr>
          <p:cNvPr name="TextBox 8" id="8"/>
          <p:cNvSpPr txBox="true"/>
          <p:nvPr/>
        </p:nvSpPr>
        <p:spPr>
          <a:xfrm rot="0">
            <a:off x="13305333" y="782737"/>
            <a:ext cx="1819999" cy="351790"/>
          </a:xfrm>
          <a:prstGeom prst="rect">
            <a:avLst/>
          </a:prstGeom>
        </p:spPr>
        <p:txBody>
          <a:bodyPr anchor="t" rtlCol="false" tIns="0" lIns="0" bIns="0" rIns="0">
            <a:spAutoFit/>
          </a:bodyPr>
          <a:lstStyle/>
          <a:p>
            <a:pPr algn="r">
              <a:lnSpc>
                <a:spcPts val="2660"/>
              </a:lnSpc>
              <a:spcBef>
                <a:spcPct val="0"/>
              </a:spcBef>
            </a:pPr>
            <a:r>
              <a:rPr lang="en-US" sz="1900" spc="95">
                <a:solidFill>
                  <a:srgbClr val="164B82"/>
                </a:solidFill>
                <a:latin typeface="Calibri"/>
                <a:ea typeface="Telegraf Extra-Light"/>
                <a:cs typeface="Telegraf Extra-Light"/>
                <a:sym typeface="Telegraf Extra-Light"/>
              </a:rPr>
              <a:t>Oct 2026</a:t>
            </a:r>
          </a:p>
        </p:txBody>
      </p:sp>
      <p:sp>
        <p:nvSpPr>
          <p:cNvPr name="TextBox 9" id="9"/>
          <p:cNvSpPr txBox="true"/>
          <p:nvPr/>
        </p:nvSpPr>
        <p:spPr>
          <a:xfrm rot="0">
            <a:off x="11045641" y="782737"/>
            <a:ext cx="1819999" cy="351790"/>
          </a:xfrm>
          <a:prstGeom prst="rect">
            <a:avLst/>
          </a:prstGeom>
        </p:spPr>
        <p:txBody>
          <a:bodyPr anchor="t" rtlCol="false" tIns="0" lIns="0" bIns="0" rIns="0">
            <a:spAutoFit/>
          </a:bodyPr>
          <a:lstStyle/>
          <a:p>
            <a:pPr algn="ctr">
              <a:lnSpc>
                <a:spcPts val="2660"/>
              </a:lnSpc>
              <a:spcBef>
                <a:spcPct val="0"/>
              </a:spcBef>
            </a:pPr>
            <a:r>
              <a:rPr lang="en-US" sz="1900" spc="95">
                <a:solidFill>
                  <a:srgbClr val="164B82"/>
                </a:solidFill>
                <a:latin typeface="Calibri"/>
                <a:ea typeface="Telegraf Extra-Light"/>
                <a:cs typeface="Telegraf Extra-Light"/>
                <a:sym typeface="Telegraf Extra-Light"/>
              </a:rPr>
              <a:t>Guide Review</a:t>
            </a:r>
          </a:p>
        </p:txBody>
      </p:sp>
      <p:grpSp>
        <p:nvGrpSpPr>
          <p:cNvPr name="Group 10" id="10"/>
          <p:cNvGrpSpPr/>
          <p:nvPr/>
        </p:nvGrpSpPr>
        <p:grpSpPr>
          <a:xfrm rot="5400000">
            <a:off x="11279340" y="-3711595"/>
            <a:ext cx="643045" cy="9407130"/>
            <a:chOff x="0" y="0"/>
            <a:chExt cx="169362" cy="2477598"/>
          </a:xfrm>
        </p:grpSpPr>
        <p:sp>
          <p:nvSpPr>
            <p:cNvPr name="Freeform 11" id="11"/>
            <p:cNvSpPr/>
            <p:nvPr/>
          </p:nvSpPr>
          <p:spPr>
            <a:xfrm flipH="false" flipV="false" rot="0">
              <a:off x="0" y="0"/>
              <a:ext cx="169362" cy="2477598"/>
            </a:xfrm>
            <a:custGeom>
              <a:avLst/>
              <a:gdLst/>
              <a:ahLst/>
              <a:cxnLst/>
              <a:rect r="r" b="b" t="t" l="l"/>
              <a:pathLst>
                <a:path h="2477598" w="169362">
                  <a:moveTo>
                    <a:pt x="84681" y="0"/>
                  </a:moveTo>
                  <a:lnTo>
                    <a:pt x="84681" y="0"/>
                  </a:lnTo>
                  <a:cubicBezTo>
                    <a:pt x="107140" y="0"/>
                    <a:pt x="128678" y="8922"/>
                    <a:pt x="144559" y="24802"/>
                  </a:cubicBezTo>
                  <a:cubicBezTo>
                    <a:pt x="160440" y="40683"/>
                    <a:pt x="169362" y="62222"/>
                    <a:pt x="169362" y="84681"/>
                  </a:cubicBezTo>
                  <a:lnTo>
                    <a:pt x="169362" y="2392917"/>
                  </a:lnTo>
                  <a:cubicBezTo>
                    <a:pt x="169362" y="2439685"/>
                    <a:pt x="131449" y="2477598"/>
                    <a:pt x="84681" y="2477598"/>
                  </a:cubicBezTo>
                  <a:lnTo>
                    <a:pt x="84681" y="2477598"/>
                  </a:lnTo>
                  <a:cubicBezTo>
                    <a:pt x="37913" y="2477598"/>
                    <a:pt x="0" y="2439685"/>
                    <a:pt x="0" y="2392917"/>
                  </a:cubicBezTo>
                  <a:lnTo>
                    <a:pt x="0" y="84681"/>
                  </a:lnTo>
                  <a:cubicBezTo>
                    <a:pt x="0" y="37913"/>
                    <a:pt x="37913" y="0"/>
                    <a:pt x="84681" y="0"/>
                  </a:cubicBezTo>
                  <a:close/>
                </a:path>
              </a:pathLst>
            </a:custGeom>
            <a:ln w="19050" cap="rnd">
              <a:solidFill>
                <a:srgbClr val="164B82"/>
              </a:solidFill>
              <a:prstDash val="solid"/>
              <a:round/>
            </a:ln>
          </p:spPr>
        </p:sp>
        <p:sp>
          <p:nvSpPr>
            <p:cNvPr name="TextBox 12" id="12"/>
            <p:cNvSpPr txBox="true"/>
            <p:nvPr/>
          </p:nvSpPr>
          <p:spPr>
            <a:xfrm>
              <a:off x="0" y="-57150"/>
              <a:ext cx="169362" cy="2534748"/>
            </a:xfrm>
            <a:prstGeom prst="rect">
              <a:avLst/>
            </a:prstGeom>
          </p:spPr>
          <p:txBody>
            <a:bodyPr anchor="ctr" rtlCol="false" tIns="50800" lIns="50800" bIns="50800" rIns="50800"/>
            <a:lstStyle/>
            <a:p>
              <a:pPr algn="ctr">
                <a:lnSpc>
                  <a:spcPts val="3639"/>
                </a:lnSpc>
              </a:pPr>
            </a:p>
          </p:txBody>
        </p:sp>
      </p:grpSp>
      <p:sp>
        <p:nvSpPr>
          <p:cNvPr id="13" name="Title"/>
          <p:cNvSpPr txBox="1"/>
          <p:nvPr/>
        </p:nvSpPr>
        <p:spPr>
          <a:xfrm>
            <a:off x="1005840" y="1371600"/>
            <a:ext cx="15727680" cy="1097280"/>
          </a:xfrm>
          <a:prstGeom prst="rect">
            <a:avLst/>
          </a:prstGeom>
          <a:noFill/>
        </p:spPr>
        <p:txBody>
          <a:bodyPr wrap="square" lIns="0" rIns="0" tIns="0" bIns="0" anchor="ctr">
            <a:spAutoFit/>
          </a:bodyPr>
          <a:lstStyle/>
          <a:p>
            <a:pPr algn="l"/>
            <a:r>
              <a:rPr sz="4800" b="1" i="0">
                <a:solidFill>
                  <a:srgbClr val="343434"/>
                </a:solidFill>
                <a:latin typeface="Calibri"/>
              </a:rPr>
              <a:t>Algorithms and Methodology</a:t>
            </a:r>
          </a:p>
        </p:txBody>
      </p:sp>
      <p:sp>
        <p:nvSpPr>
          <p:cNvPr id="14" name="Page"/>
          <p:cNvSpPr txBox="1"/>
          <p:nvPr/>
        </p:nvSpPr>
        <p:spPr>
          <a:xfrm>
            <a:off x="1005840" y="9646920"/>
            <a:ext cx="3657600" cy="365760"/>
          </a:xfrm>
          <a:prstGeom prst="rect">
            <a:avLst/>
          </a:prstGeom>
          <a:noFill/>
        </p:spPr>
        <p:txBody>
          <a:bodyPr wrap="square" lIns="0" rIns="0" tIns="0" bIns="0" anchor="t">
            <a:spAutoFit/>
          </a:bodyPr>
          <a:lstStyle/>
          <a:p>
            <a:pPr algn="l"/>
            <a:r>
              <a:rPr sz="1800" b="0" i="0">
                <a:solidFill>
                  <a:srgbClr val="164B82"/>
                </a:solidFill>
                <a:latin typeface="Calibri"/>
              </a:rPr>
              <a:t>7 / 19</a:t>
            </a:r>
          </a:p>
        </p:txBody>
      </p:sp>
      <p:sp>
        <p:nvSpPr>
          <p:cNvPr id="15" name="Formula 1"/>
          <p:cNvSpPr/>
          <p:nvPr/>
        </p:nvSpPr>
        <p:spPr>
          <a:xfrm>
            <a:off x="1005840" y="2743200"/>
            <a:ext cx="7863840" cy="1508760"/>
          </a:xfrm>
          <a:prstGeom prst="roundRect">
            <a:avLst>
              <a:gd name="adj" fmla="val 6000"/>
            </a:avLst>
          </a:prstGeom>
          <a:solidFill>
            <a:srgbClr val="FFFFFF">
              <a:alpha val="88000"/>
            </a:srgbClr>
          </a:solidFill>
          <a:ln w="15875">
            <a:solidFill>
              <a:srgbClr val="CFDDEC"/>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 name="TextBox 15"/>
          <p:cNvSpPr txBox="1"/>
          <p:nvPr/>
        </p:nvSpPr>
        <p:spPr>
          <a:xfrm>
            <a:off x="1280160" y="2880360"/>
            <a:ext cx="7315200" cy="365760"/>
          </a:xfrm>
          <a:prstGeom prst="rect">
            <a:avLst/>
          </a:prstGeom>
          <a:noFill/>
        </p:spPr>
        <p:txBody>
          <a:bodyPr wrap="square" lIns="0" rIns="0" tIns="0" bIns="0" anchor="t">
            <a:spAutoFit/>
          </a:bodyPr>
          <a:lstStyle/>
          <a:p>
            <a:pPr algn="l"/>
            <a:r>
              <a:rPr sz="1800" b="1" i="0">
                <a:solidFill>
                  <a:srgbClr val="2F679F"/>
                </a:solidFill>
                <a:latin typeface="Calibri"/>
              </a:rPr>
              <a:t>SEMANTIC GATE</a:t>
            </a:r>
          </a:p>
        </p:txBody>
      </p:sp>
      <p:sp>
        <p:nvSpPr>
          <p:cNvPr id="17" name="TextBox 16"/>
          <p:cNvSpPr txBox="1"/>
          <p:nvPr/>
        </p:nvSpPr>
        <p:spPr>
          <a:xfrm>
            <a:off x="1280160" y="3246120"/>
            <a:ext cx="7315200" cy="914400"/>
          </a:xfrm>
          <a:prstGeom prst="rect">
            <a:avLst/>
          </a:prstGeom>
          <a:noFill/>
        </p:spPr>
        <p:txBody>
          <a:bodyPr wrap="square" lIns="0" rIns="0" tIns="0" bIns="0" anchor="ctr">
            <a:spAutoFit/>
          </a:bodyPr>
          <a:lstStyle/>
          <a:p>
            <a:pPr algn="l"/>
            <a:r>
              <a:rPr sz="2400" b="1" i="0">
                <a:solidFill>
                  <a:srgbClr val="164B82"/>
                </a:solidFill>
                <a:latin typeface="Cambria"/>
              </a:rPr>
              <a:t>sim(s, t) = cos( e(s), e(t) )</a:t>
            </a:r>
          </a:p>
          <a:p>
            <a:pPr algn="l"/>
            <a:r>
              <a:rPr sz="2400" b="1" i="0">
                <a:solidFill>
                  <a:srgbClr val="164B82"/>
                </a:solidFill>
                <a:latin typeface="Cambria"/>
              </a:rPr>
              <a:t>drift if sim &lt; τ</a:t>
            </a:r>
          </a:p>
        </p:txBody>
      </p:sp>
      <p:sp>
        <p:nvSpPr>
          <p:cNvPr id="18" name="Formula 2"/>
          <p:cNvSpPr/>
          <p:nvPr/>
        </p:nvSpPr>
        <p:spPr>
          <a:xfrm>
            <a:off x="1005840" y="4434840"/>
            <a:ext cx="7863840" cy="1508760"/>
          </a:xfrm>
          <a:prstGeom prst="roundRect">
            <a:avLst>
              <a:gd name="adj" fmla="val 6000"/>
            </a:avLst>
          </a:prstGeom>
          <a:solidFill>
            <a:srgbClr val="FFFFFF">
              <a:alpha val="88000"/>
            </a:srgbClr>
          </a:solidFill>
          <a:ln w="15875">
            <a:solidFill>
              <a:srgbClr val="CFDDEC"/>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 name="TextBox 18"/>
          <p:cNvSpPr txBox="1"/>
          <p:nvPr/>
        </p:nvSpPr>
        <p:spPr>
          <a:xfrm>
            <a:off x="1280160" y="4572000"/>
            <a:ext cx="7315200" cy="365760"/>
          </a:xfrm>
          <a:prstGeom prst="rect">
            <a:avLst/>
          </a:prstGeom>
          <a:noFill/>
        </p:spPr>
        <p:txBody>
          <a:bodyPr wrap="square" lIns="0" rIns="0" tIns="0" bIns="0" anchor="t">
            <a:spAutoFit/>
          </a:bodyPr>
          <a:lstStyle/>
          <a:p>
            <a:pPr algn="l"/>
            <a:r>
              <a:rPr sz="1800" b="1" i="0">
                <a:solidFill>
                  <a:srgbClr val="2F679F"/>
                </a:solidFill>
                <a:latin typeface="Calibri"/>
              </a:rPr>
              <a:t>TRANSFER GAP</a:t>
            </a:r>
          </a:p>
        </p:txBody>
      </p:sp>
      <p:sp>
        <p:nvSpPr>
          <p:cNvPr id="20" name="TextBox 19"/>
          <p:cNvSpPr txBox="1"/>
          <p:nvPr/>
        </p:nvSpPr>
        <p:spPr>
          <a:xfrm>
            <a:off x="1280160" y="4937759"/>
            <a:ext cx="7315200" cy="914400"/>
          </a:xfrm>
          <a:prstGeom prst="rect">
            <a:avLst/>
          </a:prstGeom>
          <a:noFill/>
        </p:spPr>
        <p:txBody>
          <a:bodyPr wrap="square" lIns="0" rIns="0" tIns="0" bIns="0" anchor="ctr">
            <a:spAutoFit/>
          </a:bodyPr>
          <a:lstStyle/>
          <a:p>
            <a:pPr algn="l"/>
            <a:r>
              <a:rPr sz="2500" b="1" i="0">
                <a:solidFill>
                  <a:srgbClr val="164B82"/>
                </a:solidFill>
                <a:latin typeface="Cambria"/>
              </a:rPr>
              <a:t>gap(s→t) = F1 in-language(s) − F1(t)</a:t>
            </a:r>
          </a:p>
        </p:txBody>
      </p:sp>
      <p:sp>
        <p:nvSpPr>
          <p:cNvPr id="21" name="Formula 3"/>
          <p:cNvSpPr/>
          <p:nvPr/>
        </p:nvSpPr>
        <p:spPr>
          <a:xfrm>
            <a:off x="1005840" y="6126480"/>
            <a:ext cx="7863840" cy="1508760"/>
          </a:xfrm>
          <a:prstGeom prst="roundRect">
            <a:avLst>
              <a:gd name="adj" fmla="val 6000"/>
            </a:avLst>
          </a:prstGeom>
          <a:solidFill>
            <a:srgbClr val="FFFFFF">
              <a:alpha val="88000"/>
            </a:srgbClr>
          </a:solidFill>
          <a:ln w="15875">
            <a:solidFill>
              <a:srgbClr val="CFDDEC"/>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1280160" y="6263640"/>
            <a:ext cx="7315200" cy="365760"/>
          </a:xfrm>
          <a:prstGeom prst="rect">
            <a:avLst/>
          </a:prstGeom>
          <a:noFill/>
        </p:spPr>
        <p:txBody>
          <a:bodyPr wrap="square" lIns="0" rIns="0" tIns="0" bIns="0" anchor="t">
            <a:spAutoFit/>
          </a:bodyPr>
          <a:lstStyle/>
          <a:p>
            <a:pPr algn="l"/>
            <a:r>
              <a:rPr sz="1800" b="1" i="0">
                <a:solidFill>
                  <a:srgbClr val="2F679F"/>
                </a:solidFill>
                <a:latin typeface="Calibri"/>
              </a:rPr>
              <a:t>TRANSFER FAILURE</a:t>
            </a:r>
          </a:p>
        </p:txBody>
      </p:sp>
      <p:sp>
        <p:nvSpPr>
          <p:cNvPr id="23" name="TextBox 22"/>
          <p:cNvSpPr txBox="1"/>
          <p:nvPr/>
        </p:nvSpPr>
        <p:spPr>
          <a:xfrm>
            <a:off x="1280160" y="6629400"/>
            <a:ext cx="7315200" cy="914400"/>
          </a:xfrm>
          <a:prstGeom prst="rect">
            <a:avLst/>
          </a:prstGeom>
          <a:noFill/>
        </p:spPr>
        <p:txBody>
          <a:bodyPr wrap="square" lIns="0" rIns="0" tIns="0" bIns="0" anchor="ctr">
            <a:spAutoFit/>
          </a:bodyPr>
          <a:lstStyle/>
          <a:p>
            <a:pPr algn="l"/>
            <a:r>
              <a:rPr sz="2500" b="1" i="0">
                <a:solidFill>
                  <a:srgbClr val="164B82"/>
                </a:solidFill>
                <a:latin typeface="Cambria"/>
              </a:rPr>
              <a:t>correct in source ∧ wrong in target (same item, same seed)</a:t>
            </a:r>
          </a:p>
        </p:txBody>
      </p:sp>
      <p:sp>
        <p:nvSpPr>
          <p:cNvPr id="24" name="Formula 4"/>
          <p:cNvSpPr/>
          <p:nvPr/>
        </p:nvSpPr>
        <p:spPr>
          <a:xfrm>
            <a:off x="1005840" y="7818120"/>
            <a:ext cx="7863840" cy="1508760"/>
          </a:xfrm>
          <a:prstGeom prst="roundRect">
            <a:avLst>
              <a:gd name="adj" fmla="val 6000"/>
            </a:avLst>
          </a:prstGeom>
          <a:solidFill>
            <a:srgbClr val="FFFFFF">
              <a:alpha val="88000"/>
            </a:srgbClr>
          </a:solidFill>
          <a:ln w="15875">
            <a:solidFill>
              <a:srgbClr val="CFDDEC"/>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TextBox 24"/>
          <p:cNvSpPr txBox="1"/>
          <p:nvPr/>
        </p:nvSpPr>
        <p:spPr>
          <a:xfrm>
            <a:off x="1280160" y="7955280"/>
            <a:ext cx="7315200" cy="365760"/>
          </a:xfrm>
          <a:prstGeom prst="rect">
            <a:avLst/>
          </a:prstGeom>
          <a:noFill/>
        </p:spPr>
        <p:txBody>
          <a:bodyPr wrap="square" lIns="0" rIns="0" tIns="0" bIns="0" anchor="t">
            <a:spAutoFit/>
          </a:bodyPr>
          <a:lstStyle/>
          <a:p>
            <a:pPr algn="l"/>
            <a:r>
              <a:rPr sz="1800" b="1" i="0">
                <a:solidFill>
                  <a:srgbClr val="2F679F"/>
                </a:solidFill>
                <a:latin typeface="Calibri"/>
              </a:rPr>
              <a:t>FRAGMENTATION</a:t>
            </a:r>
          </a:p>
        </p:txBody>
      </p:sp>
      <p:sp>
        <p:nvSpPr>
          <p:cNvPr id="26" name="TextBox 25"/>
          <p:cNvSpPr txBox="1"/>
          <p:nvPr/>
        </p:nvSpPr>
        <p:spPr>
          <a:xfrm>
            <a:off x="1280160" y="8321040"/>
            <a:ext cx="7315200" cy="914400"/>
          </a:xfrm>
          <a:prstGeom prst="rect">
            <a:avLst/>
          </a:prstGeom>
          <a:noFill/>
        </p:spPr>
        <p:txBody>
          <a:bodyPr wrap="square" lIns="0" rIns="0" tIns="0" bIns="0" anchor="ctr">
            <a:spAutoFit/>
          </a:bodyPr>
          <a:lstStyle/>
          <a:p>
            <a:pPr algn="l"/>
            <a:r>
              <a:rPr sz="2500" b="1" i="0">
                <a:solidFill>
                  <a:srgbClr val="164B82"/>
                </a:solidFill>
                <a:latin typeface="Cambria"/>
              </a:rPr>
              <a:t>fires when R_frag ≥ 2.0</a:t>
            </a:r>
          </a:p>
        </p:txBody>
      </p:sp>
      <p:sp>
        <p:nvSpPr>
          <p:cNvPr id="27" name="Router 1"/>
          <p:cNvSpPr/>
          <p:nvPr/>
        </p:nvSpPr>
        <p:spPr>
          <a:xfrm>
            <a:off x="9326880" y="2743200"/>
            <a:ext cx="7406640" cy="1325880"/>
          </a:xfrm>
          <a:prstGeom prst="roundRect">
            <a:avLst>
              <a:gd name="adj" fmla="val 8000"/>
            </a:avLst>
          </a:prstGeom>
          <a:solidFill>
            <a:srgbClr val="164B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8" name="TextBox 27"/>
          <p:cNvSpPr txBox="1"/>
          <p:nvPr/>
        </p:nvSpPr>
        <p:spPr>
          <a:xfrm>
            <a:off x="9601200" y="2834640"/>
            <a:ext cx="6858000" cy="411480"/>
          </a:xfrm>
          <a:prstGeom prst="rect">
            <a:avLst/>
          </a:prstGeom>
          <a:noFill/>
        </p:spPr>
        <p:txBody>
          <a:bodyPr wrap="square" lIns="0" rIns="0" tIns="0" bIns="0" anchor="t">
            <a:spAutoFit/>
          </a:bodyPr>
          <a:lstStyle/>
          <a:p>
            <a:pPr algn="l"/>
            <a:r>
              <a:rPr sz="2200" b="1" i="0">
                <a:solidFill>
                  <a:srgbClr val="FFFFFF"/>
                </a:solidFill>
                <a:latin typeface="Calibri"/>
              </a:rPr>
              <a:t>STAGE 1 · Semantic gate</a:t>
            </a:r>
          </a:p>
        </p:txBody>
      </p:sp>
      <p:sp>
        <p:nvSpPr>
          <p:cNvPr id="29" name="TextBox 28"/>
          <p:cNvSpPr txBox="1"/>
          <p:nvPr/>
        </p:nvSpPr>
        <p:spPr>
          <a:xfrm>
            <a:off x="9601200" y="3246120"/>
            <a:ext cx="6858000" cy="777240"/>
          </a:xfrm>
          <a:prstGeom prst="rect">
            <a:avLst/>
          </a:prstGeom>
          <a:noFill/>
        </p:spPr>
        <p:txBody>
          <a:bodyPr wrap="square" lIns="0" rIns="0" tIns="0" bIns="0" anchor="t">
            <a:spAutoFit/>
          </a:bodyPr>
          <a:lstStyle/>
          <a:p>
            <a:pPr algn="l"/>
            <a:r>
              <a:rPr sz="2100" b="0" i="0">
                <a:solidFill>
                  <a:srgbClr val="FFFFFF"/>
                </a:solidFill>
                <a:latin typeface="Calibri"/>
              </a:rPr>
              <a:t>sim &lt; τ → translation_drift; stops here</a:t>
            </a:r>
          </a:p>
        </p:txBody>
      </p:sp>
      <p:cxnSp>
        <p:nvCxnSpPr>
          <p:cNvPr id="30" name="Connector 29"/>
          <p:cNvCxnSpPr/>
          <p:nvPr/>
        </p:nvCxnSpPr>
        <p:spPr>
          <a:xfrm>
            <a:off x="13030200" y="4087368"/>
            <a:ext cx="0" cy="329184"/>
          </a:xfrm>
          <a:prstGeom prst="line">
            <a:avLst/>
          </a:prstGeom>
          <a:ln w="31750">
            <a:solidFill>
              <a:srgbClr val="164B82"/>
            </a:solidFill>
            <a:tailEnd type="triangle" w="med" len="med"/>
          </a:ln>
        </p:spPr>
        <p:style>
          <a:lnRef idx="2">
            <a:schemeClr val="accent1"/>
          </a:lnRef>
          <a:fillRef idx="0">
            <a:schemeClr val="accent1"/>
          </a:fillRef>
          <a:effectRef idx="1">
            <a:schemeClr val="accent1"/>
          </a:effectRef>
          <a:fontRef idx="minor">
            <a:schemeClr val="tx1"/>
          </a:fontRef>
        </p:style>
      </p:cxnSp>
      <p:sp>
        <p:nvSpPr>
          <p:cNvPr id="31" name="Router 2"/>
          <p:cNvSpPr/>
          <p:nvPr/>
        </p:nvSpPr>
        <p:spPr>
          <a:xfrm>
            <a:off x="9326880" y="4434840"/>
            <a:ext cx="7406640" cy="1325880"/>
          </a:xfrm>
          <a:prstGeom prst="roundRect">
            <a:avLst>
              <a:gd name="adj" fmla="val 8000"/>
            </a:avLst>
          </a:prstGeom>
          <a:solidFill>
            <a:srgbClr val="2F679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2" name="TextBox 31"/>
          <p:cNvSpPr txBox="1"/>
          <p:nvPr/>
        </p:nvSpPr>
        <p:spPr>
          <a:xfrm>
            <a:off x="9601200" y="4526279"/>
            <a:ext cx="6858000" cy="411480"/>
          </a:xfrm>
          <a:prstGeom prst="rect">
            <a:avLst/>
          </a:prstGeom>
          <a:noFill/>
        </p:spPr>
        <p:txBody>
          <a:bodyPr wrap="square" lIns="0" rIns="0" tIns="0" bIns="0" anchor="t">
            <a:spAutoFit/>
          </a:bodyPr>
          <a:lstStyle/>
          <a:p>
            <a:pPr algn="l"/>
            <a:r>
              <a:rPr sz="2200" b="1" i="0">
                <a:solidFill>
                  <a:srgbClr val="FFFFFF"/>
                </a:solidFill>
                <a:latin typeface="Calibri"/>
              </a:rPr>
              <a:t>STAGE 2 · Linguistic</a:t>
            </a:r>
          </a:p>
        </p:txBody>
      </p:sp>
      <p:sp>
        <p:nvSpPr>
          <p:cNvPr id="33" name="TextBox 32"/>
          <p:cNvSpPr txBox="1"/>
          <p:nvPr/>
        </p:nvSpPr>
        <p:spPr>
          <a:xfrm>
            <a:off x="9601200" y="4937759"/>
            <a:ext cx="6858000" cy="777240"/>
          </a:xfrm>
          <a:prstGeom prst="rect">
            <a:avLst/>
          </a:prstGeom>
          <a:noFill/>
        </p:spPr>
        <p:txBody>
          <a:bodyPr wrap="square" lIns="0" rIns="0" tIns="0" bIns="0" anchor="t">
            <a:spAutoFit/>
          </a:bodyPr>
          <a:lstStyle/>
          <a:p>
            <a:pPr algn="l"/>
            <a:r>
              <a:rPr sz="2100" b="0" i="0">
                <a:solidFill>
                  <a:srgbClr val="FFFFFF"/>
                </a:solidFill>
                <a:latin typeface="Calibri"/>
              </a:rPr>
              <a:t>tokenizer fragmentation · morphological masking · terminology gap</a:t>
            </a:r>
          </a:p>
        </p:txBody>
      </p:sp>
      <p:cxnSp>
        <p:nvCxnSpPr>
          <p:cNvPr id="34" name="Connector 33"/>
          <p:cNvCxnSpPr/>
          <p:nvPr/>
        </p:nvCxnSpPr>
        <p:spPr>
          <a:xfrm>
            <a:off x="13030200" y="5779007"/>
            <a:ext cx="0" cy="329185"/>
          </a:xfrm>
          <a:prstGeom prst="line">
            <a:avLst/>
          </a:prstGeom>
          <a:ln w="31750">
            <a:solidFill>
              <a:srgbClr val="164B82"/>
            </a:solidFill>
            <a:tailEnd type="triangle" w="med" len="med"/>
          </a:ln>
        </p:spPr>
        <p:style>
          <a:lnRef idx="2">
            <a:schemeClr val="accent1"/>
          </a:lnRef>
          <a:fillRef idx="0">
            <a:schemeClr val="accent1"/>
          </a:fillRef>
          <a:effectRef idx="1">
            <a:schemeClr val="accent1"/>
          </a:effectRef>
          <a:fontRef idx="minor">
            <a:schemeClr val="tx1"/>
          </a:fontRef>
        </p:style>
      </p:cxnSp>
      <p:sp>
        <p:nvSpPr>
          <p:cNvPr id="35" name="Router 3"/>
          <p:cNvSpPr/>
          <p:nvPr/>
        </p:nvSpPr>
        <p:spPr>
          <a:xfrm>
            <a:off x="9326880" y="6126480"/>
            <a:ext cx="7406640" cy="1325880"/>
          </a:xfrm>
          <a:prstGeom prst="roundRect">
            <a:avLst>
              <a:gd name="adj" fmla="val 8000"/>
            </a:avLst>
          </a:prstGeom>
          <a:solidFill>
            <a:srgbClr val="699AC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6" name="TextBox 35"/>
          <p:cNvSpPr txBox="1"/>
          <p:nvPr/>
        </p:nvSpPr>
        <p:spPr>
          <a:xfrm>
            <a:off x="9601200" y="6217920"/>
            <a:ext cx="6858000" cy="411480"/>
          </a:xfrm>
          <a:prstGeom prst="rect">
            <a:avLst/>
          </a:prstGeom>
          <a:noFill/>
        </p:spPr>
        <p:txBody>
          <a:bodyPr wrap="square" lIns="0" rIns="0" tIns="0" bIns="0" anchor="t">
            <a:spAutoFit/>
          </a:bodyPr>
          <a:lstStyle/>
          <a:p>
            <a:pPr algn="l"/>
            <a:r>
              <a:rPr sz="2200" b="1" i="0">
                <a:solidFill>
                  <a:srgbClr val="FFFFFF"/>
                </a:solidFill>
                <a:latin typeface="Calibri"/>
              </a:rPr>
              <a:t>STAGE 3 · Data / model</a:t>
            </a:r>
          </a:p>
        </p:txBody>
      </p:sp>
      <p:sp>
        <p:nvSpPr>
          <p:cNvPr id="37" name="TextBox 36"/>
          <p:cNvSpPr txBox="1"/>
          <p:nvPr/>
        </p:nvSpPr>
        <p:spPr>
          <a:xfrm>
            <a:off x="9601200" y="6629400"/>
            <a:ext cx="6858000" cy="777240"/>
          </a:xfrm>
          <a:prstGeom prst="rect">
            <a:avLst/>
          </a:prstGeom>
          <a:noFill/>
        </p:spPr>
        <p:txBody>
          <a:bodyPr wrap="square" lIns="0" rIns="0" tIns="0" bIns="0" anchor="t">
            <a:spAutoFit/>
          </a:bodyPr>
          <a:lstStyle/>
          <a:p>
            <a:pPr algn="l"/>
            <a:r>
              <a:rPr sz="2100" b="0" i="0">
                <a:solidFill>
                  <a:srgbClr val="FFFFFF"/>
                </a:solidFill>
                <a:latin typeface="Calibri"/>
              </a:rPr>
              <a:t>provenance_specific · cross_lingual_hard · class_collapse · seed_unstable</a:t>
            </a:r>
          </a:p>
        </p:txBody>
      </p:sp>
      <p:cxnSp>
        <p:nvCxnSpPr>
          <p:cNvPr id="38" name="Connector 37"/>
          <p:cNvCxnSpPr/>
          <p:nvPr/>
        </p:nvCxnSpPr>
        <p:spPr>
          <a:xfrm>
            <a:off x="13030200" y="7470648"/>
            <a:ext cx="0" cy="329184"/>
          </a:xfrm>
          <a:prstGeom prst="line">
            <a:avLst/>
          </a:prstGeom>
          <a:ln w="31750">
            <a:solidFill>
              <a:srgbClr val="164B82"/>
            </a:solidFill>
            <a:tailEnd type="triangle" w="med" len="med"/>
          </a:ln>
        </p:spPr>
        <p:style>
          <a:lnRef idx="2">
            <a:schemeClr val="accent1"/>
          </a:lnRef>
          <a:fillRef idx="0">
            <a:schemeClr val="accent1"/>
          </a:fillRef>
          <a:effectRef idx="1">
            <a:schemeClr val="accent1"/>
          </a:effectRef>
          <a:fontRef idx="minor">
            <a:schemeClr val="tx1"/>
          </a:fontRef>
        </p:style>
      </p:cxnSp>
      <p:sp>
        <p:nvSpPr>
          <p:cNvPr id="39" name="Router 4"/>
          <p:cNvSpPr/>
          <p:nvPr/>
        </p:nvSpPr>
        <p:spPr>
          <a:xfrm>
            <a:off x="9326880" y="7818120"/>
            <a:ext cx="7406640" cy="1325880"/>
          </a:xfrm>
          <a:prstGeom prst="roundRect">
            <a:avLst>
              <a:gd name="adj" fmla="val 8000"/>
            </a:avLst>
          </a:prstGeom>
          <a:solidFill>
            <a:srgbClr val="8C9BA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0" name="TextBox 39"/>
          <p:cNvSpPr txBox="1"/>
          <p:nvPr/>
        </p:nvSpPr>
        <p:spPr>
          <a:xfrm>
            <a:off x="9601200" y="7909560"/>
            <a:ext cx="6858000" cy="411480"/>
          </a:xfrm>
          <a:prstGeom prst="rect">
            <a:avLst/>
          </a:prstGeom>
          <a:noFill/>
        </p:spPr>
        <p:txBody>
          <a:bodyPr wrap="square" lIns="0" rIns="0" tIns="0" bIns="0" anchor="t">
            <a:spAutoFit/>
          </a:bodyPr>
          <a:lstStyle/>
          <a:p>
            <a:pPr algn="l"/>
            <a:r>
              <a:rPr sz="2200" b="1" i="0">
                <a:solidFill>
                  <a:srgbClr val="FFFFFF"/>
                </a:solidFill>
                <a:latin typeface="Calibri"/>
              </a:rPr>
              <a:t>ELSE · Unattributed</a:t>
            </a:r>
          </a:p>
        </p:txBody>
      </p:sp>
      <p:sp>
        <p:nvSpPr>
          <p:cNvPr id="41" name="TextBox 40"/>
          <p:cNvSpPr txBox="1"/>
          <p:nvPr/>
        </p:nvSpPr>
        <p:spPr>
          <a:xfrm>
            <a:off x="9601200" y="8321040"/>
            <a:ext cx="6858000" cy="777240"/>
          </a:xfrm>
          <a:prstGeom prst="rect">
            <a:avLst/>
          </a:prstGeom>
          <a:noFill/>
        </p:spPr>
        <p:txBody>
          <a:bodyPr wrap="square" lIns="0" rIns="0" tIns="0" bIns="0" anchor="t">
            <a:spAutoFit/>
          </a:bodyPr>
          <a:lstStyle/>
          <a:p>
            <a:pPr algn="l"/>
            <a:r>
              <a:rPr sz="2100" b="0" i="0">
                <a:solidFill>
                  <a:srgbClr val="FFFFFF"/>
                </a:solidFill>
                <a:latin typeface="Calibri"/>
              </a:rPr>
              <a:t>reported as an outcome, not hidden</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name="Freeform 2" id="2"/>
          <p:cNvSpPr/>
          <p:nvPr/>
        </p:nvSpPr>
        <p:spPr>
          <a:xfrm flipH="false" flipV="false" rot="225008">
            <a:off x="-467361" y="-2757747"/>
            <a:ext cx="12701350" cy="5382197"/>
          </a:xfrm>
          <a:custGeom>
            <a:avLst/>
            <a:gdLst/>
            <a:ahLst/>
            <a:cxnLst/>
            <a:rect r="r" b="b" t="t" l="l"/>
            <a:pathLst>
              <a:path h="5382197" w="12701350">
                <a:moveTo>
                  <a:pt x="0" y="0"/>
                </a:moveTo>
                <a:lnTo>
                  <a:pt x="12701349" y="0"/>
                </a:lnTo>
                <a:lnTo>
                  <a:pt x="12701349" y="5382197"/>
                </a:lnTo>
                <a:lnTo>
                  <a:pt x="0" y="5382197"/>
                </a:lnTo>
                <a:lnTo>
                  <a:pt x="0" y="0"/>
                </a:lnTo>
                <a:close/>
              </a:path>
            </a:pathLst>
          </a:custGeom>
          <a:blipFill>
            <a:blip r:embed="rId2"/>
            <a:stretch>
              <a:fillRect l="0" t="0" r="0" b="0"/>
            </a:stretch>
          </a:blipFill>
        </p:spPr>
      </p:sp>
      <p:sp>
        <p:nvSpPr>
          <p:cNvPr name="Freeform 3" id="3"/>
          <p:cNvSpPr/>
          <p:nvPr/>
        </p:nvSpPr>
        <p:spPr>
          <a:xfrm flipH="false" flipV="false" rot="0">
            <a:off x="10986204" y="6250419"/>
            <a:ext cx="11514218" cy="8506128"/>
          </a:xfrm>
          <a:custGeom>
            <a:avLst/>
            <a:gdLst/>
            <a:ahLst/>
            <a:cxnLst/>
            <a:rect r="r" b="b" t="t" l="l"/>
            <a:pathLst>
              <a:path h="8506128" w="11514218">
                <a:moveTo>
                  <a:pt x="0" y="0"/>
                </a:moveTo>
                <a:lnTo>
                  <a:pt x="11514218" y="0"/>
                </a:lnTo>
                <a:lnTo>
                  <a:pt x="11514218" y="8506128"/>
                </a:lnTo>
                <a:lnTo>
                  <a:pt x="0" y="8506128"/>
                </a:lnTo>
                <a:lnTo>
                  <a:pt x="0" y="0"/>
                </a:lnTo>
                <a:close/>
              </a:path>
            </a:pathLst>
          </a:custGeom>
          <a:blipFill>
            <a:blip r:embed="rId3"/>
            <a:stretch>
              <a:fillRect l="0" t="0" r="0" b="0"/>
            </a:stretch>
          </a:blipFill>
        </p:spPr>
      </p:sp>
      <p:grpSp>
        <p:nvGrpSpPr>
          <p:cNvPr name="Group 4" id="4"/>
          <p:cNvGrpSpPr/>
          <p:nvPr/>
        </p:nvGrpSpPr>
        <p:grpSpPr>
          <a:xfrm rot="0">
            <a:off x="17259300" y="-392510"/>
            <a:ext cx="1437565" cy="11072020"/>
            <a:chOff x="0" y="0"/>
            <a:chExt cx="378618" cy="2916088"/>
          </a:xfrm>
        </p:grpSpPr>
        <p:sp>
          <p:nvSpPr>
            <p:cNvPr name="Freeform 5" id="5"/>
            <p:cNvSpPr/>
            <p:nvPr/>
          </p:nvSpPr>
          <p:spPr>
            <a:xfrm flipH="false" flipV="false" rot="0">
              <a:off x="0" y="0"/>
              <a:ext cx="378618" cy="2916088"/>
            </a:xfrm>
            <a:custGeom>
              <a:avLst/>
              <a:gdLst/>
              <a:ahLst/>
              <a:cxnLst/>
              <a:rect r="r" b="b" t="t" l="l"/>
              <a:pathLst>
                <a:path h="2916088" w="378618">
                  <a:moveTo>
                    <a:pt x="0" y="0"/>
                  </a:moveTo>
                  <a:lnTo>
                    <a:pt x="378618" y="0"/>
                  </a:lnTo>
                  <a:lnTo>
                    <a:pt x="378618" y="2916088"/>
                  </a:lnTo>
                  <a:lnTo>
                    <a:pt x="0" y="2916088"/>
                  </a:lnTo>
                  <a:close/>
                </a:path>
              </a:pathLst>
            </a:custGeom>
            <a:gradFill rotWithShape="true">
              <a:gsLst>
                <a:gs pos="0">
                  <a:srgbClr val="E4B795">
                    <a:alpha val="100000"/>
                  </a:srgbClr>
                </a:gs>
                <a:gs pos="50000">
                  <a:srgbClr val="699ACD">
                    <a:alpha val="100000"/>
                  </a:srgbClr>
                </a:gs>
                <a:gs pos="100000">
                  <a:srgbClr val="2F679F">
                    <a:alpha val="100000"/>
                  </a:srgbClr>
                </a:gs>
              </a:gsLst>
              <a:path path="circle">
                <a:fillToRect l="0" r="100000" t="0" b="100000"/>
              </a:path>
              <a:tileRect r="0" l="-100000" b="0" t="-100000"/>
            </a:gradFill>
          </p:spPr>
        </p:sp>
        <p:sp>
          <p:nvSpPr>
            <p:cNvPr name="TextBox 6" id="6"/>
            <p:cNvSpPr txBox="true"/>
            <p:nvPr/>
          </p:nvSpPr>
          <p:spPr>
            <a:xfrm>
              <a:off x="0" y="-57150"/>
              <a:ext cx="378618" cy="2973238"/>
            </a:xfrm>
            <a:prstGeom prst="rect">
              <a:avLst/>
            </a:prstGeom>
          </p:spPr>
          <p:txBody>
            <a:bodyPr anchor="ctr" rtlCol="false" tIns="50800" lIns="50800" bIns="50800" rIns="50800"/>
            <a:lstStyle/>
            <a:p>
              <a:pPr algn="ctr">
                <a:lnSpc>
                  <a:spcPts val="3639"/>
                </a:lnSpc>
              </a:pPr>
            </a:p>
          </p:txBody>
        </p:sp>
      </p:grpSp>
      <p:sp>
        <p:nvSpPr>
          <p:cNvPr name="TextBox 7" id="7"/>
          <p:cNvSpPr txBox="true"/>
          <p:nvPr/>
        </p:nvSpPr>
        <p:spPr>
          <a:xfrm rot="0">
            <a:off x="8021110" y="782737"/>
            <a:ext cx="2492949" cy="351790"/>
          </a:xfrm>
          <a:prstGeom prst="rect">
            <a:avLst/>
          </a:prstGeom>
        </p:spPr>
        <p:txBody>
          <a:bodyPr anchor="t" rtlCol="false" tIns="0" lIns="0" bIns="0" rIns="0">
            <a:spAutoFit/>
          </a:bodyPr>
          <a:lstStyle/>
          <a:p>
            <a:pPr algn="l">
              <a:lnSpc>
                <a:spcPts val="2660"/>
              </a:lnSpc>
              <a:spcBef>
                <a:spcPct val="0"/>
              </a:spcBef>
            </a:pPr>
            <a:r>
              <a:rPr lang="en-US" sz="1900" spc="95">
                <a:solidFill>
                  <a:srgbClr val="164B82"/>
                </a:solidFill>
                <a:latin typeface="Calibri"/>
                <a:ea typeface="Telegraf Extra-Light"/>
                <a:cs typeface="Telegraf Extra-Light"/>
                <a:sym typeface="Telegraf Extra-Light"/>
              </a:rPr>
              <a:t>BCSE497J · Project I</a:t>
            </a:r>
          </a:p>
        </p:txBody>
      </p:sp>
      <p:sp>
        <p:nvSpPr>
          <p:cNvPr name="TextBox 8" id="8"/>
          <p:cNvSpPr txBox="true"/>
          <p:nvPr/>
        </p:nvSpPr>
        <p:spPr>
          <a:xfrm rot="0">
            <a:off x="13305333" y="782737"/>
            <a:ext cx="1819999" cy="351790"/>
          </a:xfrm>
          <a:prstGeom prst="rect">
            <a:avLst/>
          </a:prstGeom>
        </p:spPr>
        <p:txBody>
          <a:bodyPr anchor="t" rtlCol="false" tIns="0" lIns="0" bIns="0" rIns="0">
            <a:spAutoFit/>
          </a:bodyPr>
          <a:lstStyle/>
          <a:p>
            <a:pPr algn="r">
              <a:lnSpc>
                <a:spcPts val="2660"/>
              </a:lnSpc>
              <a:spcBef>
                <a:spcPct val="0"/>
              </a:spcBef>
            </a:pPr>
            <a:r>
              <a:rPr lang="en-US" sz="1900" spc="95">
                <a:solidFill>
                  <a:srgbClr val="164B82"/>
                </a:solidFill>
                <a:latin typeface="Calibri"/>
                <a:ea typeface="Telegraf Extra-Light"/>
                <a:cs typeface="Telegraf Extra-Light"/>
                <a:sym typeface="Telegraf Extra-Light"/>
              </a:rPr>
              <a:t>Oct 2026</a:t>
            </a:r>
          </a:p>
        </p:txBody>
      </p:sp>
      <p:sp>
        <p:nvSpPr>
          <p:cNvPr name="TextBox 9" id="9"/>
          <p:cNvSpPr txBox="true"/>
          <p:nvPr/>
        </p:nvSpPr>
        <p:spPr>
          <a:xfrm rot="0">
            <a:off x="11045641" y="782737"/>
            <a:ext cx="1819999" cy="351790"/>
          </a:xfrm>
          <a:prstGeom prst="rect">
            <a:avLst/>
          </a:prstGeom>
        </p:spPr>
        <p:txBody>
          <a:bodyPr anchor="t" rtlCol="false" tIns="0" lIns="0" bIns="0" rIns="0">
            <a:spAutoFit/>
          </a:bodyPr>
          <a:lstStyle/>
          <a:p>
            <a:pPr algn="ctr">
              <a:lnSpc>
                <a:spcPts val="2660"/>
              </a:lnSpc>
              <a:spcBef>
                <a:spcPct val="0"/>
              </a:spcBef>
            </a:pPr>
            <a:r>
              <a:rPr lang="en-US" sz="1900" spc="95">
                <a:solidFill>
                  <a:srgbClr val="164B82"/>
                </a:solidFill>
                <a:latin typeface="Calibri"/>
                <a:ea typeface="Telegraf Extra-Light"/>
                <a:cs typeface="Telegraf Extra-Light"/>
                <a:sym typeface="Telegraf Extra-Light"/>
              </a:rPr>
              <a:t>Guide Review</a:t>
            </a:r>
          </a:p>
        </p:txBody>
      </p:sp>
      <p:grpSp>
        <p:nvGrpSpPr>
          <p:cNvPr name="Group 10" id="10"/>
          <p:cNvGrpSpPr/>
          <p:nvPr/>
        </p:nvGrpSpPr>
        <p:grpSpPr>
          <a:xfrm rot="5400000">
            <a:off x="11279340" y="-3711595"/>
            <a:ext cx="643045" cy="9407130"/>
            <a:chOff x="0" y="0"/>
            <a:chExt cx="169362" cy="2477598"/>
          </a:xfrm>
        </p:grpSpPr>
        <p:sp>
          <p:nvSpPr>
            <p:cNvPr name="Freeform 11" id="11"/>
            <p:cNvSpPr/>
            <p:nvPr/>
          </p:nvSpPr>
          <p:spPr>
            <a:xfrm flipH="false" flipV="false" rot="0">
              <a:off x="0" y="0"/>
              <a:ext cx="169362" cy="2477598"/>
            </a:xfrm>
            <a:custGeom>
              <a:avLst/>
              <a:gdLst/>
              <a:ahLst/>
              <a:cxnLst/>
              <a:rect r="r" b="b" t="t" l="l"/>
              <a:pathLst>
                <a:path h="2477598" w="169362">
                  <a:moveTo>
                    <a:pt x="84681" y="0"/>
                  </a:moveTo>
                  <a:lnTo>
                    <a:pt x="84681" y="0"/>
                  </a:lnTo>
                  <a:cubicBezTo>
                    <a:pt x="107140" y="0"/>
                    <a:pt x="128678" y="8922"/>
                    <a:pt x="144559" y="24802"/>
                  </a:cubicBezTo>
                  <a:cubicBezTo>
                    <a:pt x="160440" y="40683"/>
                    <a:pt x="169362" y="62222"/>
                    <a:pt x="169362" y="84681"/>
                  </a:cubicBezTo>
                  <a:lnTo>
                    <a:pt x="169362" y="2392917"/>
                  </a:lnTo>
                  <a:cubicBezTo>
                    <a:pt x="169362" y="2439685"/>
                    <a:pt x="131449" y="2477598"/>
                    <a:pt x="84681" y="2477598"/>
                  </a:cubicBezTo>
                  <a:lnTo>
                    <a:pt x="84681" y="2477598"/>
                  </a:lnTo>
                  <a:cubicBezTo>
                    <a:pt x="37913" y="2477598"/>
                    <a:pt x="0" y="2439685"/>
                    <a:pt x="0" y="2392917"/>
                  </a:cubicBezTo>
                  <a:lnTo>
                    <a:pt x="0" y="84681"/>
                  </a:lnTo>
                  <a:cubicBezTo>
                    <a:pt x="0" y="37913"/>
                    <a:pt x="37913" y="0"/>
                    <a:pt x="84681" y="0"/>
                  </a:cubicBezTo>
                  <a:close/>
                </a:path>
              </a:pathLst>
            </a:custGeom>
            <a:ln w="19050" cap="rnd">
              <a:solidFill>
                <a:srgbClr val="164B82"/>
              </a:solidFill>
              <a:prstDash val="solid"/>
              <a:round/>
            </a:ln>
          </p:spPr>
        </p:sp>
        <p:sp>
          <p:nvSpPr>
            <p:cNvPr name="TextBox 12" id="12"/>
            <p:cNvSpPr txBox="true"/>
            <p:nvPr/>
          </p:nvSpPr>
          <p:spPr>
            <a:xfrm>
              <a:off x="0" y="-57150"/>
              <a:ext cx="169362" cy="2534748"/>
            </a:xfrm>
            <a:prstGeom prst="rect">
              <a:avLst/>
            </a:prstGeom>
          </p:spPr>
          <p:txBody>
            <a:bodyPr anchor="ctr" rtlCol="false" tIns="50800" lIns="50800" bIns="50800" rIns="50800"/>
            <a:lstStyle/>
            <a:p>
              <a:pPr algn="ctr">
                <a:lnSpc>
                  <a:spcPts val="3639"/>
                </a:lnSpc>
              </a:pPr>
            </a:p>
          </p:txBody>
        </p:sp>
      </p:grpSp>
      <p:sp>
        <p:nvSpPr>
          <p:cNvPr id="13" name="Title"/>
          <p:cNvSpPr txBox="1"/>
          <p:nvPr/>
        </p:nvSpPr>
        <p:spPr>
          <a:xfrm>
            <a:off x="1005840" y="1371600"/>
            <a:ext cx="15727680" cy="1097280"/>
          </a:xfrm>
          <a:prstGeom prst="rect">
            <a:avLst/>
          </a:prstGeom>
          <a:noFill/>
        </p:spPr>
        <p:txBody>
          <a:bodyPr wrap="square" lIns="0" rIns="0" tIns="0" bIns="0" anchor="ctr">
            <a:spAutoFit/>
          </a:bodyPr>
          <a:lstStyle/>
          <a:p>
            <a:pPr algn="l"/>
            <a:r>
              <a:rPr sz="4800" b="1" i="0">
                <a:solidFill>
                  <a:srgbClr val="343434"/>
                </a:solidFill>
                <a:latin typeface="Calibri"/>
              </a:rPr>
              <a:t>Tools, Technologies and Dataset</a:t>
            </a:r>
          </a:p>
        </p:txBody>
      </p:sp>
      <p:sp>
        <p:nvSpPr>
          <p:cNvPr id="14" name="Page"/>
          <p:cNvSpPr txBox="1"/>
          <p:nvPr/>
        </p:nvSpPr>
        <p:spPr>
          <a:xfrm>
            <a:off x="1005840" y="9646920"/>
            <a:ext cx="3657600" cy="365760"/>
          </a:xfrm>
          <a:prstGeom prst="rect">
            <a:avLst/>
          </a:prstGeom>
          <a:noFill/>
        </p:spPr>
        <p:txBody>
          <a:bodyPr wrap="square" lIns="0" rIns="0" tIns="0" bIns="0" anchor="t">
            <a:spAutoFit/>
          </a:bodyPr>
          <a:lstStyle/>
          <a:p>
            <a:pPr algn="l"/>
            <a:r>
              <a:rPr sz="1800" b="0" i="0">
                <a:solidFill>
                  <a:srgbClr val="164B82"/>
                </a:solidFill>
                <a:latin typeface="Calibri"/>
              </a:rPr>
              <a:t>8 / 19</a:t>
            </a:r>
          </a:p>
        </p:txBody>
      </p:sp>
      <p:sp>
        <p:nvSpPr>
          <p:cNvPr id="15" name="TextBox 14"/>
          <p:cNvSpPr txBox="1"/>
          <p:nvPr/>
        </p:nvSpPr>
        <p:spPr>
          <a:xfrm>
            <a:off x="1005840" y="2697480"/>
            <a:ext cx="8229600" cy="457200"/>
          </a:xfrm>
          <a:prstGeom prst="rect">
            <a:avLst/>
          </a:prstGeom>
          <a:noFill/>
        </p:spPr>
        <p:txBody>
          <a:bodyPr wrap="square" lIns="0" rIns="0" tIns="0" bIns="0" anchor="t">
            <a:spAutoFit/>
          </a:bodyPr>
          <a:lstStyle/>
          <a:p>
            <a:pPr algn="l"/>
            <a:r>
              <a:rPr sz="2200" b="1" i="0">
                <a:solidFill>
                  <a:srgbClr val="2F679F"/>
                </a:solidFill>
                <a:latin typeface="Calibri"/>
              </a:rPr>
              <a:t>DATASET: IndicFinNLP (LREC-COLING 2024)</a:t>
            </a:r>
          </a:p>
        </p:txBody>
      </p:sp>
      <p:graphicFrame>
        <p:nvGraphicFramePr>
          <p:cNvPr id="16" name="Dataset table"/>
          <p:cNvGraphicFramePr>
            <a:graphicFrameLocks noGrp="1"/>
          </p:cNvGraphicFramePr>
          <p:nvPr/>
        </p:nvGraphicFramePr>
        <p:xfrm>
          <a:off x="1005840" y="3246120"/>
          <a:ext cx="9144000" cy="3108960"/>
        </p:xfrm>
        <a:graphic>
          <a:graphicData uri="http://schemas.openxmlformats.org/drawingml/2006/table">
            <a:tbl>
              <a:tblPr firstRow="0" bandRow="0">
                <a:tableStyleId>{2D5ABB26-0587-4C30-8999-92F81FD0307C}</a:tableStyleId>
              </a:tblPr>
              <a:tblGrid>
                <a:gridCol w="1097280"/>
                <a:gridCol w="3931920"/>
                <a:gridCol w="1371600"/>
                <a:gridCol w="1371600"/>
                <a:gridCol w="1371600"/>
              </a:tblGrid>
              <a:tr h="777240">
                <a:tc>
                  <a:txBody>
                    <a:bodyPr wrap="square"/>
                    <a:lstStyle/>
                    <a:p>
                      <a:r>
                        <a:rPr sz="2200" b="1">
                          <a:solidFill>
                            <a:srgbClr val="FFFFFF"/>
                          </a:solidFill>
                          <a:latin typeface="Calibri"/>
                        </a:rPr>
                        <a:t>Task</a:t>
                      </a:r>
                    </a:p>
                  </a:txBody>
                  <a:tcPr marL="128016" marR="128016" marT="45720" marB="45720" anchor="ctr">
                    <a:solidFill>
                      <a:srgbClr val="164B82"/>
                    </a:solidFill>
                  </a:tcPr>
                </a:tc>
                <a:tc>
                  <a:txBody>
                    <a:bodyPr wrap="square"/>
                    <a:lstStyle/>
                    <a:p>
                      <a:r>
                        <a:rPr sz="2200" b="1">
                          <a:solidFill>
                            <a:srgbClr val="FFFFFF"/>
                          </a:solidFill>
                          <a:latin typeface="Calibri"/>
                        </a:rPr>
                        <a:t>Content</a:t>
                      </a:r>
                    </a:p>
                  </a:txBody>
                  <a:tcPr marL="128016" marR="128016" marT="45720" marB="45720" anchor="ctr">
                    <a:solidFill>
                      <a:srgbClr val="164B82"/>
                    </a:solidFill>
                  </a:tcPr>
                </a:tc>
                <a:tc>
                  <a:txBody>
                    <a:bodyPr wrap="square"/>
                    <a:lstStyle/>
                    <a:p>
                      <a:r>
                        <a:rPr sz="2200" b="1">
                          <a:solidFill>
                            <a:srgbClr val="FFFFFF"/>
                          </a:solidFill>
                          <a:latin typeface="Calibri"/>
                        </a:rPr>
                        <a:t>Hindi</a:t>
                      </a:r>
                    </a:p>
                  </a:txBody>
                  <a:tcPr marL="128016" marR="128016" marT="45720" marB="45720" anchor="ctr">
                    <a:solidFill>
                      <a:srgbClr val="164B82"/>
                    </a:solidFill>
                  </a:tcPr>
                </a:tc>
                <a:tc>
                  <a:txBody>
                    <a:bodyPr wrap="square"/>
                    <a:lstStyle/>
                    <a:p>
                      <a:r>
                        <a:rPr sz="2200" b="1">
                          <a:solidFill>
                            <a:srgbClr val="FFFFFF"/>
                          </a:solidFill>
                          <a:latin typeface="Calibri"/>
                        </a:rPr>
                        <a:t>Bengali</a:t>
                      </a:r>
                    </a:p>
                  </a:txBody>
                  <a:tcPr marL="128016" marR="128016" marT="45720" marB="45720" anchor="ctr">
                    <a:solidFill>
                      <a:srgbClr val="164B82"/>
                    </a:solidFill>
                  </a:tcPr>
                </a:tc>
                <a:tc>
                  <a:txBody>
                    <a:bodyPr wrap="square"/>
                    <a:lstStyle/>
                    <a:p>
                      <a:r>
                        <a:rPr sz="2200" b="1">
                          <a:solidFill>
                            <a:srgbClr val="FFFFFF"/>
                          </a:solidFill>
                          <a:latin typeface="Calibri"/>
                        </a:rPr>
                        <a:t>Telugu</a:t>
                      </a:r>
                    </a:p>
                  </a:txBody>
                  <a:tcPr marL="128016" marR="128016" marT="45720" marB="45720" anchor="ctr">
                    <a:solidFill>
                      <a:srgbClr val="164B82"/>
                    </a:solidFill>
                  </a:tcPr>
                </a:tc>
              </a:tr>
              <a:tr h="777240">
                <a:tc>
                  <a:txBody>
                    <a:bodyPr wrap="square"/>
                    <a:lstStyle/>
                    <a:p>
                      <a:r>
                        <a:rPr sz="2200" b="1">
                          <a:solidFill>
                            <a:srgbClr val="343434"/>
                          </a:solidFill>
                          <a:latin typeface="Calibri"/>
                        </a:rPr>
                        <a:t>1</a:t>
                      </a:r>
                    </a:p>
                  </a:txBody>
                  <a:tcPr marL="128016" marR="128016" marT="45720" marB="45720" anchor="ctr">
                    <a:solidFill>
                      <a:srgbClr val="FFFFFF"/>
                    </a:solidFill>
                  </a:tcPr>
                </a:tc>
                <a:tc>
                  <a:txBody>
                    <a:bodyPr wrap="square"/>
                    <a:lstStyle/>
                    <a:p>
                      <a:r>
                        <a:rPr sz="2200" b="0">
                          <a:solidFill>
                            <a:srgbClr val="343434"/>
                          </a:solidFill>
                          <a:latin typeface="Calibri"/>
                        </a:rPr>
                        <a:t>Numeral spans</a:t>
                      </a:r>
                    </a:p>
                  </a:txBody>
                  <a:tcPr marL="128016" marR="128016" marT="45720" marB="45720" anchor="ctr">
                    <a:solidFill>
                      <a:srgbClr val="FFFFFF"/>
                    </a:solidFill>
                  </a:tcPr>
                </a:tc>
                <a:tc>
                  <a:txBody>
                    <a:bodyPr wrap="square"/>
                    <a:lstStyle/>
                    <a:p>
                      <a:pPr algn="r"/>
                      <a:r>
                        <a:rPr sz="2200" b="0">
                          <a:solidFill>
                            <a:srgbClr val="343434"/>
                          </a:solidFill>
                          <a:latin typeface="Calibri"/>
                        </a:rPr>
                        <a:t>10,640</a:t>
                      </a:r>
                    </a:p>
                  </a:txBody>
                  <a:tcPr marL="128016" marR="128016" marT="45720" marB="45720" anchor="ctr">
                    <a:solidFill>
                      <a:srgbClr val="FFFFFF"/>
                    </a:solidFill>
                  </a:tcPr>
                </a:tc>
                <a:tc>
                  <a:txBody>
                    <a:bodyPr wrap="square"/>
                    <a:lstStyle/>
                    <a:p>
                      <a:pPr algn="r"/>
                      <a:r>
                        <a:rPr sz="2200" b="0">
                          <a:solidFill>
                            <a:srgbClr val="343434"/>
                          </a:solidFill>
                          <a:latin typeface="Calibri"/>
                        </a:rPr>
                        <a:t>6,130</a:t>
                      </a:r>
                    </a:p>
                  </a:txBody>
                  <a:tcPr marL="128016" marR="128016" marT="45720" marB="45720" anchor="ctr">
                    <a:solidFill>
                      <a:srgbClr val="FFFFFF"/>
                    </a:solidFill>
                  </a:tcPr>
                </a:tc>
                <a:tc>
                  <a:txBody>
                    <a:bodyPr wrap="square"/>
                    <a:lstStyle/>
                    <a:p>
                      <a:pPr algn="r"/>
                      <a:r>
                        <a:rPr sz="2200" b="0">
                          <a:solidFill>
                            <a:srgbClr val="343434"/>
                          </a:solidFill>
                          <a:latin typeface="Calibri"/>
                        </a:rPr>
                        <a:t>6,016</a:t>
                      </a:r>
                    </a:p>
                  </a:txBody>
                  <a:tcPr marL="128016" marR="128016" marT="45720" marB="45720" anchor="ctr">
                    <a:solidFill>
                      <a:srgbClr val="FFFFFF"/>
                    </a:solidFill>
                  </a:tcPr>
                </a:tc>
              </a:tr>
              <a:tr h="777240">
                <a:tc>
                  <a:txBody>
                    <a:bodyPr wrap="square"/>
                    <a:lstStyle/>
                    <a:p>
                      <a:r>
                        <a:rPr sz="2200" b="1">
                          <a:solidFill>
                            <a:srgbClr val="343434"/>
                          </a:solidFill>
                          <a:latin typeface="Calibri"/>
                        </a:rPr>
                        <a:t>2</a:t>
                      </a:r>
                    </a:p>
                  </a:txBody>
                  <a:tcPr marL="128016" marR="128016" marT="45720" marB="45720" anchor="ctr">
                    <a:solidFill>
                      <a:srgbClr val="EAF1F8"/>
                    </a:solidFill>
                  </a:tcPr>
                </a:tc>
                <a:tc>
                  <a:txBody>
                    <a:bodyPr wrap="square"/>
                    <a:lstStyle/>
                    <a:p>
                      <a:r>
                        <a:rPr sz="2200" b="0">
                          <a:solidFill>
                            <a:srgbClr val="343434"/>
                          </a:solidFill>
                          <a:latin typeface="Calibri"/>
                        </a:rPr>
                        <a:t>Sustainability (2 classes)</a:t>
                      </a:r>
                    </a:p>
                  </a:txBody>
                  <a:tcPr marL="128016" marR="128016" marT="45720" marB="45720" anchor="ctr">
                    <a:solidFill>
                      <a:srgbClr val="EAF1F8"/>
                    </a:solidFill>
                  </a:tcPr>
                </a:tc>
                <a:tc>
                  <a:txBody>
                    <a:bodyPr wrap="square"/>
                    <a:lstStyle/>
                    <a:p>
                      <a:pPr algn="r"/>
                      <a:r>
                        <a:rPr sz="2200" b="0">
                          <a:solidFill>
                            <a:srgbClr val="343434"/>
                          </a:solidFill>
                          <a:latin typeface="Calibri"/>
                        </a:rPr>
                        <a:t>2,238</a:t>
                      </a:r>
                    </a:p>
                  </a:txBody>
                  <a:tcPr marL="128016" marR="128016" marT="45720" marB="45720" anchor="ctr">
                    <a:solidFill>
                      <a:srgbClr val="EAF1F8"/>
                    </a:solidFill>
                  </a:tcPr>
                </a:tc>
                <a:tc>
                  <a:txBody>
                    <a:bodyPr wrap="square"/>
                    <a:lstStyle/>
                    <a:p>
                      <a:pPr algn="r"/>
                      <a:r>
                        <a:rPr sz="2200" b="0">
                          <a:solidFill>
                            <a:srgbClr val="343434"/>
                          </a:solidFill>
                          <a:latin typeface="Calibri"/>
                        </a:rPr>
                        <a:t>2,228</a:t>
                      </a:r>
                    </a:p>
                  </a:txBody>
                  <a:tcPr marL="128016" marR="128016" marT="45720" marB="45720" anchor="ctr">
                    <a:solidFill>
                      <a:srgbClr val="EAF1F8"/>
                    </a:solidFill>
                  </a:tcPr>
                </a:tc>
                <a:tc>
                  <a:txBody>
                    <a:bodyPr wrap="square"/>
                    <a:lstStyle/>
                    <a:p>
                      <a:pPr algn="r"/>
                      <a:r>
                        <a:rPr sz="2200" b="0">
                          <a:solidFill>
                            <a:srgbClr val="343434"/>
                          </a:solidFill>
                          <a:latin typeface="Calibri"/>
                        </a:rPr>
                        <a:t>2,072</a:t>
                      </a:r>
                    </a:p>
                  </a:txBody>
                  <a:tcPr marL="128016" marR="128016" marT="45720" marB="45720" anchor="ctr">
                    <a:solidFill>
                      <a:srgbClr val="EAF1F8"/>
                    </a:solidFill>
                  </a:tcPr>
                </a:tc>
              </a:tr>
              <a:tr h="777240">
                <a:tc>
                  <a:txBody>
                    <a:bodyPr wrap="square"/>
                    <a:lstStyle/>
                    <a:p>
                      <a:r>
                        <a:rPr sz="2200" b="1">
                          <a:solidFill>
                            <a:srgbClr val="343434"/>
                          </a:solidFill>
                          <a:latin typeface="Calibri"/>
                        </a:rPr>
                        <a:t>3</a:t>
                      </a:r>
                    </a:p>
                  </a:txBody>
                  <a:tcPr marL="128016" marR="128016" marT="45720" marB="45720" anchor="ctr">
                    <a:solidFill>
                      <a:srgbClr val="FFFFFF"/>
                    </a:solidFill>
                  </a:tcPr>
                </a:tc>
                <a:tc>
                  <a:txBody>
                    <a:bodyPr wrap="square"/>
                    <a:lstStyle/>
                    <a:p>
                      <a:r>
                        <a:rPr sz="2200" b="0">
                          <a:solidFill>
                            <a:srgbClr val="343434"/>
                          </a:solidFill>
                          <a:latin typeface="Calibri"/>
                        </a:rPr>
                        <a:t>ESG theme (10 classes)</a:t>
                      </a:r>
                    </a:p>
                  </a:txBody>
                  <a:tcPr marL="128016" marR="128016" marT="45720" marB="45720" anchor="ctr">
                    <a:solidFill>
                      <a:srgbClr val="FFFFFF"/>
                    </a:solidFill>
                  </a:tcPr>
                </a:tc>
                <a:tc>
                  <a:txBody>
                    <a:bodyPr wrap="square"/>
                    <a:lstStyle/>
                    <a:p>
                      <a:pPr algn="r"/>
                      <a:r>
                        <a:rPr sz="2200" b="0">
                          <a:solidFill>
                            <a:srgbClr val="343434"/>
                          </a:solidFill>
                          <a:latin typeface="Calibri"/>
                        </a:rPr>
                        <a:t>532</a:t>
                      </a:r>
                    </a:p>
                  </a:txBody>
                  <a:tcPr marL="128016" marR="128016" marT="45720" marB="45720" anchor="ctr">
                    <a:solidFill>
                      <a:srgbClr val="FFFFFF"/>
                    </a:solidFill>
                  </a:tcPr>
                </a:tc>
                <a:tc>
                  <a:txBody>
                    <a:bodyPr wrap="square"/>
                    <a:lstStyle/>
                    <a:p>
                      <a:pPr algn="r"/>
                      <a:r>
                        <a:rPr sz="2200" b="0">
                          <a:solidFill>
                            <a:srgbClr val="343434"/>
                          </a:solidFill>
                          <a:latin typeface="Calibri"/>
                        </a:rPr>
                        <a:t>532</a:t>
                      </a:r>
                    </a:p>
                  </a:txBody>
                  <a:tcPr marL="128016" marR="128016" marT="45720" marB="45720" anchor="ctr">
                    <a:solidFill>
                      <a:srgbClr val="FFFFFF"/>
                    </a:solidFill>
                  </a:tcPr>
                </a:tc>
                <a:tc>
                  <a:txBody>
                    <a:bodyPr wrap="square"/>
                    <a:lstStyle/>
                    <a:p>
                      <a:pPr algn="r"/>
                      <a:r>
                        <a:rPr sz="2200" b="0">
                          <a:solidFill>
                            <a:srgbClr val="343434"/>
                          </a:solidFill>
                          <a:latin typeface="Calibri"/>
                        </a:rPr>
                        <a:t>532</a:t>
                      </a:r>
                    </a:p>
                  </a:txBody>
                  <a:tcPr marL="128016" marR="128016" marT="45720" marB="45720" anchor="ctr">
                    <a:solidFill>
                      <a:srgbClr val="FFFFFF"/>
                    </a:solidFill>
                  </a:tcPr>
                </a:tc>
              </a:tr>
            </a:tbl>
          </a:graphicData>
        </a:graphic>
      </p:graphicFrame>
      <p:sp>
        <p:nvSpPr>
          <p:cNvPr id="17" name="Corpus facts"/>
          <p:cNvSpPr/>
          <p:nvPr/>
        </p:nvSpPr>
        <p:spPr>
          <a:xfrm>
            <a:off x="1005840" y="6583680"/>
            <a:ext cx="9144000" cy="2743200"/>
          </a:xfrm>
          <a:prstGeom prst="roundRect">
            <a:avLst>
              <a:gd name="adj" fmla="val 6000"/>
            </a:avLst>
          </a:prstGeom>
          <a:solidFill>
            <a:srgbClr val="FFFFFF">
              <a:alpha val="88000"/>
            </a:srgbClr>
          </a:solidFill>
          <a:ln w="15875">
            <a:solidFill>
              <a:srgbClr val="CFDDEC"/>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1371600" y="6812280"/>
            <a:ext cx="8503920" cy="2377440"/>
          </a:xfrm>
          <a:prstGeom prst="rect">
            <a:avLst/>
          </a:prstGeom>
          <a:noFill/>
        </p:spPr>
        <p:txBody>
          <a:bodyPr wrap="square" lIns="0" rIns="0" tIns="0" bIns="0">
            <a:spAutoFit/>
          </a:bodyPr>
          <a:lstStyle/>
          <a:p>
            <a:pPr marL="384048" indent="-384048">
              <a:spcAft>
                <a:spcPts val="900"/>
              </a:spcAft>
              <a:buClr>
                <a:srgbClr val="2F679F"/>
              </a:buClr>
              <a:buFont typeface="Arial"/>
              <a:buChar char="•"/>
            </a:pPr>
            <a:r>
              <a:rPr sz="2400" b="0">
                <a:solidFill>
                  <a:srgbClr val="343434"/>
                </a:solidFill>
                <a:latin typeface="Calibri"/>
              </a:rPr>
              <a:t>Malayalam: machine-translated only (none upstream)</a:t>
            </a:r>
          </a:p>
          <a:p>
            <a:pPr marL="384048" indent="-384048">
              <a:spcAft>
                <a:spcPts val="900"/>
              </a:spcAft>
              <a:buClr>
                <a:srgbClr val="2F679F"/>
              </a:buClr>
              <a:buFont typeface="Arial"/>
              <a:buChar char="•"/>
            </a:pPr>
            <a:r>
              <a:rPr sz="2400" b="0">
                <a:solidFill>
                  <a:srgbClr val="343434"/>
                </a:solidFill>
                <a:latin typeface="Calibri"/>
              </a:rPr>
              <a:t>92,760 MT rows across 9 directions</a:t>
            </a:r>
          </a:p>
          <a:p>
            <a:pPr marL="384048" indent="-384048">
              <a:spcAft>
                <a:spcPts val="900"/>
              </a:spcAft>
              <a:buClr>
                <a:srgbClr val="2F679F"/>
              </a:buClr>
              <a:buFont typeface="Arial"/>
              <a:buChar char="•"/>
            </a:pPr>
            <a:r>
              <a:rPr sz="2400" b="0">
                <a:solidFill>
                  <a:srgbClr val="343434"/>
                </a:solidFill>
                <a:latin typeface="Calibri"/>
              </a:rPr>
              <a:t>Upstream files kept byte-for-byte, SHA-256 verified</a:t>
            </a:r>
          </a:p>
          <a:p>
            <a:pPr marL="384048" indent="-384048">
              <a:spcAft>
                <a:spcPts val="900"/>
              </a:spcAft>
              <a:buClr>
                <a:srgbClr val="2F679F"/>
              </a:buClr>
              <a:buFont typeface="Arial"/>
              <a:buChar char="•"/>
            </a:pPr>
            <a:r>
              <a:rPr sz="2400" b="0">
                <a:solidFill>
                  <a:srgbClr val="343434"/>
                </a:solidFill>
                <a:latin typeface="Calibri"/>
              </a:rPr>
              <a:t>Licence: CC BY-NC-SA 4.0</a:t>
            </a:r>
          </a:p>
        </p:txBody>
      </p:sp>
      <p:sp>
        <p:nvSpPr>
          <p:cNvPr id="19" name="TextBox 18"/>
          <p:cNvSpPr txBox="1"/>
          <p:nvPr/>
        </p:nvSpPr>
        <p:spPr>
          <a:xfrm>
            <a:off x="10698480" y="2697480"/>
            <a:ext cx="6035040" cy="457200"/>
          </a:xfrm>
          <a:prstGeom prst="rect">
            <a:avLst/>
          </a:prstGeom>
          <a:noFill/>
        </p:spPr>
        <p:txBody>
          <a:bodyPr wrap="square" lIns="0" rIns="0" tIns="0" bIns="0" anchor="t">
            <a:spAutoFit/>
          </a:bodyPr>
          <a:lstStyle/>
          <a:p>
            <a:pPr algn="l"/>
            <a:r>
              <a:rPr sz="2200" b="1" i="0">
                <a:solidFill>
                  <a:srgbClr val="2F679F"/>
                </a:solidFill>
                <a:latin typeface="Calibri"/>
              </a:rPr>
              <a:t>TOOLS</a:t>
            </a:r>
          </a:p>
        </p:txBody>
      </p:sp>
      <p:sp>
        <p:nvSpPr>
          <p:cNvPr id="20" name="Tool 0"/>
          <p:cNvSpPr/>
          <p:nvPr/>
        </p:nvSpPr>
        <p:spPr>
          <a:xfrm>
            <a:off x="10698480" y="3246120"/>
            <a:ext cx="6035040" cy="896112"/>
          </a:xfrm>
          <a:prstGeom prst="roundRect">
            <a:avLst>
              <a:gd name="adj" fmla="val 20000"/>
            </a:avLst>
          </a:prstGeom>
          <a:solidFill>
            <a:srgbClr val="E3ED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TextBox 20"/>
          <p:cNvSpPr txBox="1"/>
          <p:nvPr/>
        </p:nvSpPr>
        <p:spPr>
          <a:xfrm>
            <a:off x="10972800" y="3300984"/>
            <a:ext cx="5577840" cy="457200"/>
          </a:xfrm>
          <a:prstGeom prst="rect">
            <a:avLst/>
          </a:prstGeom>
          <a:noFill/>
        </p:spPr>
        <p:txBody>
          <a:bodyPr wrap="square" lIns="0" rIns="0" tIns="0" bIns="0" anchor="t">
            <a:spAutoFit/>
          </a:bodyPr>
          <a:lstStyle/>
          <a:p>
            <a:pPr algn="l"/>
            <a:r>
              <a:rPr sz="2200" b="1" i="0">
                <a:solidFill>
                  <a:srgbClr val="164B82"/>
                </a:solidFill>
                <a:latin typeface="Calibri"/>
              </a:rPr>
              <a:t>IndicTrans2 1B</a:t>
            </a:r>
          </a:p>
        </p:txBody>
      </p:sp>
      <p:sp>
        <p:nvSpPr>
          <p:cNvPr id="22" name="TextBox 21"/>
          <p:cNvSpPr txBox="1"/>
          <p:nvPr/>
        </p:nvSpPr>
        <p:spPr>
          <a:xfrm>
            <a:off x="10972800" y="3721608"/>
            <a:ext cx="5577840" cy="365760"/>
          </a:xfrm>
          <a:prstGeom prst="rect">
            <a:avLst/>
          </a:prstGeom>
          <a:noFill/>
        </p:spPr>
        <p:txBody>
          <a:bodyPr wrap="square" lIns="0" rIns="0" tIns="0" bIns="0" anchor="t">
            <a:spAutoFit/>
          </a:bodyPr>
          <a:lstStyle/>
          <a:p>
            <a:pPr algn="l"/>
            <a:r>
              <a:rPr sz="1700" b="0" i="0">
                <a:solidFill>
                  <a:srgbClr val="5B6B7B"/>
                </a:solidFill>
                <a:latin typeface="Calibri"/>
              </a:rPr>
              <a:t>direct Indic↔Indic translation</a:t>
            </a:r>
          </a:p>
        </p:txBody>
      </p:sp>
      <p:sp>
        <p:nvSpPr>
          <p:cNvPr id="23" name="Tool 1"/>
          <p:cNvSpPr/>
          <p:nvPr/>
        </p:nvSpPr>
        <p:spPr>
          <a:xfrm>
            <a:off x="10698480" y="4270248"/>
            <a:ext cx="6035040" cy="896112"/>
          </a:xfrm>
          <a:prstGeom prst="roundRect">
            <a:avLst>
              <a:gd name="adj" fmla="val 20000"/>
            </a:avLst>
          </a:prstGeom>
          <a:solidFill>
            <a:srgbClr val="E3ED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4" name="TextBox 23"/>
          <p:cNvSpPr txBox="1"/>
          <p:nvPr/>
        </p:nvSpPr>
        <p:spPr>
          <a:xfrm>
            <a:off x="10972800" y="4325112"/>
            <a:ext cx="5577840" cy="457200"/>
          </a:xfrm>
          <a:prstGeom prst="rect">
            <a:avLst/>
          </a:prstGeom>
          <a:noFill/>
        </p:spPr>
        <p:txBody>
          <a:bodyPr wrap="square" lIns="0" rIns="0" tIns="0" bIns="0" anchor="t">
            <a:spAutoFit/>
          </a:bodyPr>
          <a:lstStyle/>
          <a:p>
            <a:pPr algn="l"/>
            <a:r>
              <a:rPr sz="2200" b="1" i="0">
                <a:solidFill>
                  <a:srgbClr val="164B82"/>
                </a:solidFill>
                <a:latin typeface="Calibri"/>
              </a:rPr>
              <a:t>LaBSE</a:t>
            </a:r>
          </a:p>
        </p:txBody>
      </p:sp>
      <p:sp>
        <p:nvSpPr>
          <p:cNvPr id="25" name="TextBox 24"/>
          <p:cNvSpPr txBox="1"/>
          <p:nvPr/>
        </p:nvSpPr>
        <p:spPr>
          <a:xfrm>
            <a:off x="10972800" y="4745736"/>
            <a:ext cx="5577840" cy="365760"/>
          </a:xfrm>
          <a:prstGeom prst="rect">
            <a:avLst/>
          </a:prstGeom>
          <a:noFill/>
        </p:spPr>
        <p:txBody>
          <a:bodyPr wrap="square" lIns="0" rIns="0" tIns="0" bIns="0" anchor="t">
            <a:spAutoFit/>
          </a:bodyPr>
          <a:lstStyle/>
          <a:p>
            <a:pPr algn="l"/>
            <a:r>
              <a:rPr sz="1700" b="0" i="0">
                <a:solidFill>
                  <a:srgbClr val="5B6B7B"/>
                </a:solidFill>
                <a:latin typeface="Calibri"/>
              </a:rPr>
              <a:t>sentence similarity</a:t>
            </a:r>
          </a:p>
        </p:txBody>
      </p:sp>
      <p:sp>
        <p:nvSpPr>
          <p:cNvPr id="26" name="Tool 2"/>
          <p:cNvSpPr/>
          <p:nvPr/>
        </p:nvSpPr>
        <p:spPr>
          <a:xfrm>
            <a:off x="10698480" y="5294376"/>
            <a:ext cx="6035040" cy="896112"/>
          </a:xfrm>
          <a:prstGeom prst="roundRect">
            <a:avLst>
              <a:gd name="adj" fmla="val 20000"/>
            </a:avLst>
          </a:prstGeom>
          <a:solidFill>
            <a:srgbClr val="E3ED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7" name="TextBox 26"/>
          <p:cNvSpPr txBox="1"/>
          <p:nvPr/>
        </p:nvSpPr>
        <p:spPr>
          <a:xfrm>
            <a:off x="10972800" y="5349240"/>
            <a:ext cx="5577840" cy="457200"/>
          </a:xfrm>
          <a:prstGeom prst="rect">
            <a:avLst/>
          </a:prstGeom>
          <a:noFill/>
        </p:spPr>
        <p:txBody>
          <a:bodyPr wrap="square" lIns="0" rIns="0" tIns="0" bIns="0" anchor="t">
            <a:spAutoFit/>
          </a:bodyPr>
          <a:lstStyle/>
          <a:p>
            <a:pPr algn="l"/>
            <a:r>
              <a:rPr sz="2200" b="1" i="0">
                <a:solidFill>
                  <a:srgbClr val="164B82"/>
                </a:solidFill>
                <a:latin typeface="Calibri"/>
              </a:rPr>
              <a:t>IndicBERT · mBERT</a:t>
            </a:r>
          </a:p>
        </p:txBody>
      </p:sp>
      <p:sp>
        <p:nvSpPr>
          <p:cNvPr id="28" name="TextBox 27"/>
          <p:cNvSpPr txBox="1"/>
          <p:nvPr/>
        </p:nvSpPr>
        <p:spPr>
          <a:xfrm>
            <a:off x="10972800" y="5769864"/>
            <a:ext cx="5577840" cy="365760"/>
          </a:xfrm>
          <a:prstGeom prst="rect">
            <a:avLst/>
          </a:prstGeom>
          <a:noFill/>
        </p:spPr>
        <p:txBody>
          <a:bodyPr wrap="square" lIns="0" rIns="0" tIns="0" bIns="0" anchor="t">
            <a:spAutoFit/>
          </a:bodyPr>
          <a:lstStyle/>
          <a:p>
            <a:pPr algn="l"/>
            <a:r>
              <a:rPr sz="1700" b="0" i="0">
                <a:solidFill>
                  <a:srgbClr val="5B6B7B"/>
                </a:solidFill>
                <a:latin typeface="Calibri"/>
              </a:rPr>
              <a:t>fine-tuned encoders</a:t>
            </a:r>
          </a:p>
        </p:txBody>
      </p:sp>
      <p:sp>
        <p:nvSpPr>
          <p:cNvPr id="29" name="Tool 3"/>
          <p:cNvSpPr/>
          <p:nvPr/>
        </p:nvSpPr>
        <p:spPr>
          <a:xfrm>
            <a:off x="10698480" y="6318504"/>
            <a:ext cx="6035040" cy="896112"/>
          </a:xfrm>
          <a:prstGeom prst="roundRect">
            <a:avLst>
              <a:gd name="adj" fmla="val 20000"/>
            </a:avLst>
          </a:prstGeom>
          <a:solidFill>
            <a:srgbClr val="E3ED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0" name="TextBox 29"/>
          <p:cNvSpPr txBox="1"/>
          <p:nvPr/>
        </p:nvSpPr>
        <p:spPr>
          <a:xfrm>
            <a:off x="10972800" y="6373368"/>
            <a:ext cx="5577840" cy="457200"/>
          </a:xfrm>
          <a:prstGeom prst="rect">
            <a:avLst/>
          </a:prstGeom>
          <a:noFill/>
        </p:spPr>
        <p:txBody>
          <a:bodyPr wrap="square" lIns="0" rIns="0" tIns="0" bIns="0" anchor="t">
            <a:spAutoFit/>
          </a:bodyPr>
          <a:lstStyle/>
          <a:p>
            <a:pPr algn="l"/>
            <a:r>
              <a:rPr sz="2200" b="1" i="0">
                <a:solidFill>
                  <a:srgbClr val="164B82"/>
                </a:solidFill>
                <a:latin typeface="Calibri"/>
              </a:rPr>
              <a:t>Parquet + SHA-256</a:t>
            </a:r>
          </a:p>
        </p:txBody>
      </p:sp>
      <p:sp>
        <p:nvSpPr>
          <p:cNvPr id="31" name="TextBox 30"/>
          <p:cNvSpPr txBox="1"/>
          <p:nvPr/>
        </p:nvSpPr>
        <p:spPr>
          <a:xfrm>
            <a:off x="10972800" y="6793992"/>
            <a:ext cx="5577840" cy="365760"/>
          </a:xfrm>
          <a:prstGeom prst="rect">
            <a:avLst/>
          </a:prstGeom>
          <a:noFill/>
        </p:spPr>
        <p:txBody>
          <a:bodyPr wrap="square" lIns="0" rIns="0" tIns="0" bIns="0" anchor="t">
            <a:spAutoFit/>
          </a:bodyPr>
          <a:lstStyle/>
          <a:p>
            <a:pPr algn="l"/>
            <a:r>
              <a:rPr sz="1700" b="0" i="0">
                <a:solidFill>
                  <a:srgbClr val="5B6B7B"/>
                </a:solidFill>
                <a:latin typeface="Calibri"/>
              </a:rPr>
              <a:t>corpus storage, manifests</a:t>
            </a:r>
          </a:p>
        </p:txBody>
      </p:sp>
      <p:sp>
        <p:nvSpPr>
          <p:cNvPr id="32" name="Tool 4"/>
          <p:cNvSpPr/>
          <p:nvPr/>
        </p:nvSpPr>
        <p:spPr>
          <a:xfrm>
            <a:off x="10698480" y="7342632"/>
            <a:ext cx="6035040" cy="896112"/>
          </a:xfrm>
          <a:prstGeom prst="roundRect">
            <a:avLst>
              <a:gd name="adj" fmla="val 20000"/>
            </a:avLst>
          </a:prstGeom>
          <a:solidFill>
            <a:srgbClr val="E3ED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3" name="TextBox 32"/>
          <p:cNvSpPr txBox="1"/>
          <p:nvPr/>
        </p:nvSpPr>
        <p:spPr>
          <a:xfrm>
            <a:off x="10972800" y="7397496"/>
            <a:ext cx="5577840" cy="457200"/>
          </a:xfrm>
          <a:prstGeom prst="rect">
            <a:avLst/>
          </a:prstGeom>
          <a:noFill/>
        </p:spPr>
        <p:txBody>
          <a:bodyPr wrap="square" lIns="0" rIns="0" tIns="0" bIns="0" anchor="t">
            <a:spAutoFit/>
          </a:bodyPr>
          <a:lstStyle/>
          <a:p>
            <a:pPr algn="l"/>
            <a:r>
              <a:rPr sz="2200" b="1" i="0">
                <a:solidFill>
                  <a:srgbClr val="164B82"/>
                </a:solidFill>
                <a:latin typeface="Calibri"/>
              </a:rPr>
              <a:t>RTX 3050 · 4 GB</a:t>
            </a:r>
          </a:p>
        </p:txBody>
      </p:sp>
      <p:sp>
        <p:nvSpPr>
          <p:cNvPr id="34" name="TextBox 33"/>
          <p:cNvSpPr txBox="1"/>
          <p:nvPr/>
        </p:nvSpPr>
        <p:spPr>
          <a:xfrm>
            <a:off x="10972800" y="7818120"/>
            <a:ext cx="5577840" cy="365760"/>
          </a:xfrm>
          <a:prstGeom prst="rect">
            <a:avLst/>
          </a:prstGeom>
          <a:noFill/>
        </p:spPr>
        <p:txBody>
          <a:bodyPr wrap="square" lIns="0" rIns="0" tIns="0" bIns="0" anchor="t">
            <a:spAutoFit/>
          </a:bodyPr>
          <a:lstStyle/>
          <a:p>
            <a:pPr algn="l"/>
            <a:r>
              <a:rPr sz="1700" b="0" i="0">
                <a:solidFill>
                  <a:srgbClr val="5B6B7B"/>
                </a:solidFill>
                <a:latin typeface="Calibri"/>
              </a:rPr>
              <a:t>single laptop GPU</a:t>
            </a:r>
          </a:p>
        </p:txBody>
      </p:sp>
      <p:sp>
        <p:nvSpPr>
          <p:cNvPr id="35" name="Tool 5"/>
          <p:cNvSpPr/>
          <p:nvPr/>
        </p:nvSpPr>
        <p:spPr>
          <a:xfrm>
            <a:off x="10698480" y="8366760"/>
            <a:ext cx="6035040" cy="896112"/>
          </a:xfrm>
          <a:prstGeom prst="roundRect">
            <a:avLst>
              <a:gd name="adj" fmla="val 20000"/>
            </a:avLst>
          </a:prstGeom>
          <a:solidFill>
            <a:srgbClr val="E3ED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6" name="TextBox 35"/>
          <p:cNvSpPr txBox="1"/>
          <p:nvPr/>
        </p:nvSpPr>
        <p:spPr>
          <a:xfrm>
            <a:off x="10972800" y="8421624"/>
            <a:ext cx="5577840" cy="457200"/>
          </a:xfrm>
          <a:prstGeom prst="rect">
            <a:avLst/>
          </a:prstGeom>
          <a:noFill/>
        </p:spPr>
        <p:txBody>
          <a:bodyPr wrap="square" lIns="0" rIns="0" tIns="0" bIns="0" anchor="t">
            <a:spAutoFit/>
          </a:bodyPr>
          <a:lstStyle/>
          <a:p>
            <a:pPr algn="l"/>
            <a:r>
              <a:rPr sz="2200" b="1" i="0">
                <a:solidFill>
                  <a:srgbClr val="164B82"/>
                </a:solidFill>
                <a:latin typeface="Calibri"/>
              </a:rPr>
              <a:t>Python 3.11 · PyTorch</a:t>
            </a:r>
          </a:p>
        </p:txBody>
      </p:sp>
      <p:sp>
        <p:nvSpPr>
          <p:cNvPr id="37" name="TextBox 36"/>
          <p:cNvSpPr txBox="1"/>
          <p:nvPr/>
        </p:nvSpPr>
        <p:spPr>
          <a:xfrm>
            <a:off x="10972800" y="8842248"/>
            <a:ext cx="5577840" cy="365760"/>
          </a:xfrm>
          <a:prstGeom prst="rect">
            <a:avLst/>
          </a:prstGeom>
          <a:noFill/>
        </p:spPr>
        <p:txBody>
          <a:bodyPr wrap="square" lIns="0" rIns="0" tIns="0" bIns="0" anchor="t">
            <a:spAutoFit/>
          </a:bodyPr>
          <a:lstStyle/>
          <a:p>
            <a:pPr algn="l"/>
            <a:r>
              <a:rPr sz="1700" b="0" i="0">
                <a:solidFill>
                  <a:srgbClr val="5B6B7B"/>
                </a:solidFill>
                <a:latin typeface="Calibri"/>
              </a:rPr>
              <a:t>Transformers, Streamlit</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name="Freeform 2" id="2"/>
          <p:cNvSpPr/>
          <p:nvPr/>
        </p:nvSpPr>
        <p:spPr>
          <a:xfrm flipH="false" flipV="false" rot="225008">
            <a:off x="-467361" y="-2757747"/>
            <a:ext cx="12701350" cy="5382197"/>
          </a:xfrm>
          <a:custGeom>
            <a:avLst/>
            <a:gdLst/>
            <a:ahLst/>
            <a:cxnLst/>
            <a:rect r="r" b="b" t="t" l="l"/>
            <a:pathLst>
              <a:path h="5382197" w="12701350">
                <a:moveTo>
                  <a:pt x="0" y="0"/>
                </a:moveTo>
                <a:lnTo>
                  <a:pt x="12701349" y="0"/>
                </a:lnTo>
                <a:lnTo>
                  <a:pt x="12701349" y="5382197"/>
                </a:lnTo>
                <a:lnTo>
                  <a:pt x="0" y="5382197"/>
                </a:lnTo>
                <a:lnTo>
                  <a:pt x="0" y="0"/>
                </a:lnTo>
                <a:close/>
              </a:path>
            </a:pathLst>
          </a:custGeom>
          <a:blipFill>
            <a:blip r:embed="rId2"/>
            <a:stretch>
              <a:fillRect l="0" t="0" r="0" b="0"/>
            </a:stretch>
          </a:blipFill>
        </p:spPr>
      </p:sp>
      <p:sp>
        <p:nvSpPr>
          <p:cNvPr name="Freeform 3" id="3"/>
          <p:cNvSpPr/>
          <p:nvPr/>
        </p:nvSpPr>
        <p:spPr>
          <a:xfrm flipH="false" flipV="false" rot="0">
            <a:off x="10986204" y="6250419"/>
            <a:ext cx="11514218" cy="8506128"/>
          </a:xfrm>
          <a:custGeom>
            <a:avLst/>
            <a:gdLst/>
            <a:ahLst/>
            <a:cxnLst/>
            <a:rect r="r" b="b" t="t" l="l"/>
            <a:pathLst>
              <a:path h="8506128" w="11514218">
                <a:moveTo>
                  <a:pt x="0" y="0"/>
                </a:moveTo>
                <a:lnTo>
                  <a:pt x="11514218" y="0"/>
                </a:lnTo>
                <a:lnTo>
                  <a:pt x="11514218" y="8506128"/>
                </a:lnTo>
                <a:lnTo>
                  <a:pt x="0" y="8506128"/>
                </a:lnTo>
                <a:lnTo>
                  <a:pt x="0" y="0"/>
                </a:lnTo>
                <a:close/>
              </a:path>
            </a:pathLst>
          </a:custGeom>
          <a:blipFill>
            <a:blip r:embed="rId3"/>
            <a:stretch>
              <a:fillRect l="0" t="0" r="0" b="0"/>
            </a:stretch>
          </a:blipFill>
        </p:spPr>
      </p:sp>
      <p:grpSp>
        <p:nvGrpSpPr>
          <p:cNvPr name="Group 4" id="4"/>
          <p:cNvGrpSpPr/>
          <p:nvPr/>
        </p:nvGrpSpPr>
        <p:grpSpPr>
          <a:xfrm rot="0">
            <a:off x="17259300" y="-392510"/>
            <a:ext cx="1437565" cy="11072020"/>
            <a:chOff x="0" y="0"/>
            <a:chExt cx="378618" cy="2916088"/>
          </a:xfrm>
        </p:grpSpPr>
        <p:sp>
          <p:nvSpPr>
            <p:cNvPr name="Freeform 5" id="5"/>
            <p:cNvSpPr/>
            <p:nvPr/>
          </p:nvSpPr>
          <p:spPr>
            <a:xfrm flipH="false" flipV="false" rot="0">
              <a:off x="0" y="0"/>
              <a:ext cx="378618" cy="2916088"/>
            </a:xfrm>
            <a:custGeom>
              <a:avLst/>
              <a:gdLst/>
              <a:ahLst/>
              <a:cxnLst/>
              <a:rect r="r" b="b" t="t" l="l"/>
              <a:pathLst>
                <a:path h="2916088" w="378618">
                  <a:moveTo>
                    <a:pt x="0" y="0"/>
                  </a:moveTo>
                  <a:lnTo>
                    <a:pt x="378618" y="0"/>
                  </a:lnTo>
                  <a:lnTo>
                    <a:pt x="378618" y="2916088"/>
                  </a:lnTo>
                  <a:lnTo>
                    <a:pt x="0" y="2916088"/>
                  </a:lnTo>
                  <a:close/>
                </a:path>
              </a:pathLst>
            </a:custGeom>
            <a:gradFill rotWithShape="true">
              <a:gsLst>
                <a:gs pos="0">
                  <a:srgbClr val="E4B795">
                    <a:alpha val="100000"/>
                  </a:srgbClr>
                </a:gs>
                <a:gs pos="50000">
                  <a:srgbClr val="699ACD">
                    <a:alpha val="100000"/>
                  </a:srgbClr>
                </a:gs>
                <a:gs pos="100000">
                  <a:srgbClr val="2F679F">
                    <a:alpha val="100000"/>
                  </a:srgbClr>
                </a:gs>
              </a:gsLst>
              <a:path path="circle">
                <a:fillToRect l="0" r="100000" t="0" b="100000"/>
              </a:path>
              <a:tileRect r="0" l="-100000" b="0" t="-100000"/>
            </a:gradFill>
          </p:spPr>
        </p:sp>
        <p:sp>
          <p:nvSpPr>
            <p:cNvPr name="TextBox 6" id="6"/>
            <p:cNvSpPr txBox="true"/>
            <p:nvPr/>
          </p:nvSpPr>
          <p:spPr>
            <a:xfrm>
              <a:off x="0" y="-57150"/>
              <a:ext cx="378618" cy="2973238"/>
            </a:xfrm>
            <a:prstGeom prst="rect">
              <a:avLst/>
            </a:prstGeom>
          </p:spPr>
          <p:txBody>
            <a:bodyPr anchor="ctr" rtlCol="false" tIns="50800" lIns="50800" bIns="50800" rIns="50800"/>
            <a:lstStyle/>
            <a:p>
              <a:pPr algn="ctr">
                <a:lnSpc>
                  <a:spcPts val="3639"/>
                </a:lnSpc>
              </a:pPr>
            </a:p>
          </p:txBody>
        </p:sp>
      </p:grpSp>
      <p:sp>
        <p:nvSpPr>
          <p:cNvPr name="TextBox 7" id="7"/>
          <p:cNvSpPr txBox="true"/>
          <p:nvPr/>
        </p:nvSpPr>
        <p:spPr>
          <a:xfrm rot="0">
            <a:off x="8021110" y="782737"/>
            <a:ext cx="2492949" cy="351790"/>
          </a:xfrm>
          <a:prstGeom prst="rect">
            <a:avLst/>
          </a:prstGeom>
        </p:spPr>
        <p:txBody>
          <a:bodyPr anchor="t" rtlCol="false" tIns="0" lIns="0" bIns="0" rIns="0">
            <a:spAutoFit/>
          </a:bodyPr>
          <a:lstStyle/>
          <a:p>
            <a:pPr algn="l">
              <a:lnSpc>
                <a:spcPts val="2660"/>
              </a:lnSpc>
              <a:spcBef>
                <a:spcPct val="0"/>
              </a:spcBef>
            </a:pPr>
            <a:r>
              <a:rPr lang="en-US" sz="1900" spc="95">
                <a:solidFill>
                  <a:srgbClr val="164B82"/>
                </a:solidFill>
                <a:latin typeface="Calibri"/>
                <a:ea typeface="Telegraf Extra-Light"/>
                <a:cs typeface="Telegraf Extra-Light"/>
                <a:sym typeface="Telegraf Extra-Light"/>
              </a:rPr>
              <a:t>BCSE497J · Project I</a:t>
            </a:r>
          </a:p>
        </p:txBody>
      </p:sp>
      <p:sp>
        <p:nvSpPr>
          <p:cNvPr name="TextBox 8" id="8"/>
          <p:cNvSpPr txBox="true"/>
          <p:nvPr/>
        </p:nvSpPr>
        <p:spPr>
          <a:xfrm rot="0">
            <a:off x="13305333" y="782737"/>
            <a:ext cx="1819999" cy="351790"/>
          </a:xfrm>
          <a:prstGeom prst="rect">
            <a:avLst/>
          </a:prstGeom>
        </p:spPr>
        <p:txBody>
          <a:bodyPr anchor="t" rtlCol="false" tIns="0" lIns="0" bIns="0" rIns="0">
            <a:spAutoFit/>
          </a:bodyPr>
          <a:lstStyle/>
          <a:p>
            <a:pPr algn="r">
              <a:lnSpc>
                <a:spcPts val="2660"/>
              </a:lnSpc>
              <a:spcBef>
                <a:spcPct val="0"/>
              </a:spcBef>
            </a:pPr>
            <a:r>
              <a:rPr lang="en-US" sz="1900" spc="95">
                <a:solidFill>
                  <a:srgbClr val="164B82"/>
                </a:solidFill>
                <a:latin typeface="Calibri"/>
                <a:ea typeface="Telegraf Extra-Light"/>
                <a:cs typeface="Telegraf Extra-Light"/>
                <a:sym typeface="Telegraf Extra-Light"/>
              </a:rPr>
              <a:t>Oct 2026</a:t>
            </a:r>
          </a:p>
        </p:txBody>
      </p:sp>
      <p:sp>
        <p:nvSpPr>
          <p:cNvPr name="TextBox 9" id="9"/>
          <p:cNvSpPr txBox="true"/>
          <p:nvPr/>
        </p:nvSpPr>
        <p:spPr>
          <a:xfrm rot="0">
            <a:off x="11045641" y="782737"/>
            <a:ext cx="1819999" cy="351790"/>
          </a:xfrm>
          <a:prstGeom prst="rect">
            <a:avLst/>
          </a:prstGeom>
        </p:spPr>
        <p:txBody>
          <a:bodyPr anchor="t" rtlCol="false" tIns="0" lIns="0" bIns="0" rIns="0">
            <a:spAutoFit/>
          </a:bodyPr>
          <a:lstStyle/>
          <a:p>
            <a:pPr algn="ctr">
              <a:lnSpc>
                <a:spcPts val="2660"/>
              </a:lnSpc>
              <a:spcBef>
                <a:spcPct val="0"/>
              </a:spcBef>
            </a:pPr>
            <a:r>
              <a:rPr lang="en-US" sz="1900" spc="95">
                <a:solidFill>
                  <a:srgbClr val="164B82"/>
                </a:solidFill>
                <a:latin typeface="Calibri"/>
                <a:ea typeface="Telegraf Extra-Light"/>
                <a:cs typeface="Telegraf Extra-Light"/>
                <a:sym typeface="Telegraf Extra-Light"/>
              </a:rPr>
              <a:t>Guide Review</a:t>
            </a:r>
          </a:p>
        </p:txBody>
      </p:sp>
      <p:grpSp>
        <p:nvGrpSpPr>
          <p:cNvPr name="Group 10" id="10"/>
          <p:cNvGrpSpPr/>
          <p:nvPr/>
        </p:nvGrpSpPr>
        <p:grpSpPr>
          <a:xfrm rot="5400000">
            <a:off x="11279340" y="-3711595"/>
            <a:ext cx="643045" cy="9407130"/>
            <a:chOff x="0" y="0"/>
            <a:chExt cx="169362" cy="2477598"/>
          </a:xfrm>
        </p:grpSpPr>
        <p:sp>
          <p:nvSpPr>
            <p:cNvPr name="Freeform 11" id="11"/>
            <p:cNvSpPr/>
            <p:nvPr/>
          </p:nvSpPr>
          <p:spPr>
            <a:xfrm flipH="false" flipV="false" rot="0">
              <a:off x="0" y="0"/>
              <a:ext cx="169362" cy="2477598"/>
            </a:xfrm>
            <a:custGeom>
              <a:avLst/>
              <a:gdLst/>
              <a:ahLst/>
              <a:cxnLst/>
              <a:rect r="r" b="b" t="t" l="l"/>
              <a:pathLst>
                <a:path h="2477598" w="169362">
                  <a:moveTo>
                    <a:pt x="84681" y="0"/>
                  </a:moveTo>
                  <a:lnTo>
                    <a:pt x="84681" y="0"/>
                  </a:lnTo>
                  <a:cubicBezTo>
                    <a:pt x="107140" y="0"/>
                    <a:pt x="128678" y="8922"/>
                    <a:pt x="144559" y="24802"/>
                  </a:cubicBezTo>
                  <a:cubicBezTo>
                    <a:pt x="160440" y="40683"/>
                    <a:pt x="169362" y="62222"/>
                    <a:pt x="169362" y="84681"/>
                  </a:cubicBezTo>
                  <a:lnTo>
                    <a:pt x="169362" y="2392917"/>
                  </a:lnTo>
                  <a:cubicBezTo>
                    <a:pt x="169362" y="2439685"/>
                    <a:pt x="131449" y="2477598"/>
                    <a:pt x="84681" y="2477598"/>
                  </a:cubicBezTo>
                  <a:lnTo>
                    <a:pt x="84681" y="2477598"/>
                  </a:lnTo>
                  <a:cubicBezTo>
                    <a:pt x="37913" y="2477598"/>
                    <a:pt x="0" y="2439685"/>
                    <a:pt x="0" y="2392917"/>
                  </a:cubicBezTo>
                  <a:lnTo>
                    <a:pt x="0" y="84681"/>
                  </a:lnTo>
                  <a:cubicBezTo>
                    <a:pt x="0" y="37913"/>
                    <a:pt x="37913" y="0"/>
                    <a:pt x="84681" y="0"/>
                  </a:cubicBezTo>
                  <a:close/>
                </a:path>
              </a:pathLst>
            </a:custGeom>
            <a:ln w="19050" cap="rnd">
              <a:solidFill>
                <a:srgbClr val="164B82"/>
              </a:solidFill>
              <a:prstDash val="solid"/>
              <a:round/>
            </a:ln>
          </p:spPr>
        </p:sp>
        <p:sp>
          <p:nvSpPr>
            <p:cNvPr name="TextBox 12" id="12"/>
            <p:cNvSpPr txBox="true"/>
            <p:nvPr/>
          </p:nvSpPr>
          <p:spPr>
            <a:xfrm>
              <a:off x="0" y="-57150"/>
              <a:ext cx="169362" cy="2534748"/>
            </a:xfrm>
            <a:prstGeom prst="rect">
              <a:avLst/>
            </a:prstGeom>
          </p:spPr>
          <p:txBody>
            <a:bodyPr anchor="ctr" rtlCol="false" tIns="50800" lIns="50800" bIns="50800" rIns="50800"/>
            <a:lstStyle/>
            <a:p>
              <a:pPr algn="ctr">
                <a:lnSpc>
                  <a:spcPts val="3639"/>
                </a:lnSpc>
              </a:pPr>
            </a:p>
          </p:txBody>
        </p:sp>
      </p:grpSp>
      <p:sp>
        <p:nvSpPr>
          <p:cNvPr id="13" name="Title"/>
          <p:cNvSpPr txBox="1"/>
          <p:nvPr/>
        </p:nvSpPr>
        <p:spPr>
          <a:xfrm>
            <a:off x="1005840" y="1371600"/>
            <a:ext cx="15727680" cy="1097280"/>
          </a:xfrm>
          <a:prstGeom prst="rect">
            <a:avLst/>
          </a:prstGeom>
          <a:noFill/>
        </p:spPr>
        <p:txBody>
          <a:bodyPr wrap="square" lIns="0" rIns="0" tIns="0" bIns="0" anchor="ctr">
            <a:spAutoFit/>
          </a:bodyPr>
          <a:lstStyle/>
          <a:p>
            <a:pPr algn="l"/>
            <a:r>
              <a:rPr sz="4800" b="1" i="0">
                <a:solidFill>
                  <a:srgbClr val="343434"/>
                </a:solidFill>
                <a:latin typeface="Calibri"/>
              </a:rPr>
              <a:t>Implementation: 100% of Modules Integrated</a:t>
            </a:r>
          </a:p>
        </p:txBody>
      </p:sp>
      <p:sp>
        <p:nvSpPr>
          <p:cNvPr id="14" name="Page"/>
          <p:cNvSpPr txBox="1"/>
          <p:nvPr/>
        </p:nvSpPr>
        <p:spPr>
          <a:xfrm>
            <a:off x="1005840" y="9646920"/>
            <a:ext cx="3657600" cy="365760"/>
          </a:xfrm>
          <a:prstGeom prst="rect">
            <a:avLst/>
          </a:prstGeom>
          <a:noFill/>
        </p:spPr>
        <p:txBody>
          <a:bodyPr wrap="square" lIns="0" rIns="0" tIns="0" bIns="0" anchor="t">
            <a:spAutoFit/>
          </a:bodyPr>
          <a:lstStyle/>
          <a:p>
            <a:pPr algn="l"/>
            <a:r>
              <a:rPr sz="1800" b="0" i="0">
                <a:solidFill>
                  <a:srgbClr val="164B82"/>
                </a:solidFill>
                <a:latin typeface="Calibri"/>
              </a:rPr>
              <a:t>9 / 19</a:t>
            </a:r>
          </a:p>
        </p:txBody>
      </p:sp>
      <p:graphicFrame>
        <p:nvGraphicFramePr>
          <p:cNvPr id="15" name="Module status"/>
          <p:cNvGraphicFramePr>
            <a:graphicFrameLocks noGrp="1"/>
          </p:cNvGraphicFramePr>
          <p:nvPr/>
        </p:nvGraphicFramePr>
        <p:xfrm>
          <a:off x="1005840" y="2697480"/>
          <a:ext cx="8595360" cy="6144768"/>
        </p:xfrm>
        <a:graphic>
          <a:graphicData uri="http://schemas.openxmlformats.org/drawingml/2006/table">
            <a:tbl>
              <a:tblPr firstRow="0" bandRow="0">
                <a:tableStyleId>{2D5ABB26-0587-4C30-8999-92F81FD0307C}</a:tableStyleId>
              </a:tblPr>
              <a:tblGrid>
                <a:gridCol w="2926080"/>
                <a:gridCol w="3931920"/>
                <a:gridCol w="1737360"/>
              </a:tblGrid>
              <a:tr h="768096">
                <a:tc>
                  <a:txBody>
                    <a:bodyPr wrap="square"/>
                    <a:lstStyle/>
                    <a:p>
                      <a:r>
                        <a:rPr sz="2200" b="1">
                          <a:solidFill>
                            <a:srgbClr val="FFFFFF"/>
                          </a:solidFill>
                          <a:latin typeface="Calibri"/>
                        </a:rPr>
                        <a:t>Module</a:t>
                      </a:r>
                    </a:p>
                  </a:txBody>
                  <a:tcPr marL="128016" marR="128016" marT="45720" marB="45720" anchor="ctr">
                    <a:solidFill>
                      <a:srgbClr val="164B82"/>
                    </a:solidFill>
                  </a:tcPr>
                </a:tc>
                <a:tc>
                  <a:txBody>
                    <a:bodyPr wrap="square"/>
                    <a:lstStyle/>
                    <a:p>
                      <a:r>
                        <a:rPr sz="2200" b="1">
                          <a:solidFill>
                            <a:srgbClr val="FFFFFF"/>
                          </a:solidFill>
                          <a:latin typeface="Calibri"/>
                        </a:rPr>
                        <a:t>Output</a:t>
                      </a:r>
                    </a:p>
                  </a:txBody>
                  <a:tcPr marL="128016" marR="128016" marT="45720" marB="45720" anchor="ctr">
                    <a:solidFill>
                      <a:srgbClr val="164B82"/>
                    </a:solidFill>
                  </a:tcPr>
                </a:tc>
                <a:tc>
                  <a:txBody>
                    <a:bodyPr wrap="square"/>
                    <a:lstStyle/>
                    <a:p>
                      <a:r>
                        <a:rPr sz="2200" b="1">
                          <a:solidFill>
                            <a:srgbClr val="FFFFFF"/>
                          </a:solidFill>
                          <a:latin typeface="Calibri"/>
                        </a:rPr>
                        <a:t>Status</a:t>
                      </a:r>
                    </a:p>
                  </a:txBody>
                  <a:tcPr marL="128016" marR="128016" marT="45720" marB="45720" anchor="ctr">
                    <a:solidFill>
                      <a:srgbClr val="164B82"/>
                    </a:solidFill>
                  </a:tcPr>
                </a:tc>
              </a:tr>
              <a:tr h="768096">
                <a:tc>
                  <a:txBody>
                    <a:bodyPr wrap="square"/>
                    <a:lstStyle/>
                    <a:p>
                      <a:r>
                        <a:rPr sz="2200" b="1">
                          <a:solidFill>
                            <a:srgbClr val="343434"/>
                          </a:solidFill>
                          <a:latin typeface="Calibri"/>
                        </a:rPr>
                        <a:t>Corpus construction</a:t>
                      </a:r>
                    </a:p>
                  </a:txBody>
                  <a:tcPr marL="128016" marR="128016" marT="45720" marB="45720" anchor="ctr">
                    <a:solidFill>
                      <a:srgbClr val="FFFFFF"/>
                    </a:solidFill>
                  </a:tcPr>
                </a:tc>
                <a:tc>
                  <a:txBody>
                    <a:bodyPr wrap="square"/>
                    <a:lstStyle/>
                    <a:p>
                      <a:r>
                        <a:rPr sz="2200" b="0">
                          <a:solidFill>
                            <a:srgbClr val="343434"/>
                          </a:solidFill>
                          <a:latin typeface="Calibri"/>
                        </a:rPr>
                        <a:t>92,760 MT rows, frozen release</a:t>
                      </a:r>
                    </a:p>
                  </a:txBody>
                  <a:tcPr marL="128016" marR="128016" marT="45720" marB="45720" anchor="ctr">
                    <a:solidFill>
                      <a:srgbClr val="FFFFFF"/>
                    </a:solidFill>
                  </a:tcPr>
                </a:tc>
                <a:tc>
                  <a:txBody>
                    <a:bodyPr wrap="square"/>
                    <a:lstStyle/>
                    <a:p>
                      <a:r>
                        <a:rPr sz="2200" b="0">
                          <a:solidFill>
                            <a:srgbClr val="343434"/>
                          </a:solidFill>
                          <a:latin typeface="Calibri"/>
                        </a:rPr>
                        <a:t>Complete</a:t>
                      </a:r>
                    </a:p>
                  </a:txBody>
                  <a:tcPr marL="128016" marR="128016" marT="45720" marB="45720" anchor="ctr">
                    <a:solidFill>
                      <a:srgbClr val="FFFFFF"/>
                    </a:solidFill>
                  </a:tcPr>
                </a:tc>
              </a:tr>
              <a:tr h="768096">
                <a:tc>
                  <a:txBody>
                    <a:bodyPr wrap="square"/>
                    <a:lstStyle/>
                    <a:p>
                      <a:r>
                        <a:rPr sz="2200" b="1">
                          <a:solidFill>
                            <a:srgbClr val="343434"/>
                          </a:solidFill>
                          <a:latin typeface="Calibri"/>
                        </a:rPr>
                        <a:t>Quality gates</a:t>
                      </a:r>
                    </a:p>
                  </a:txBody>
                  <a:tcPr marL="128016" marR="128016" marT="45720" marB="45720" anchor="ctr">
                    <a:solidFill>
                      <a:srgbClr val="EAF1F8"/>
                    </a:solidFill>
                  </a:tcPr>
                </a:tc>
                <a:tc>
                  <a:txBody>
                    <a:bodyPr wrap="square"/>
                    <a:lstStyle/>
                    <a:p>
                      <a:r>
                        <a:rPr sz="2200" b="0">
                          <a:solidFill>
                            <a:srgbClr val="343434"/>
                          </a:solidFill>
                          <a:latin typeface="Calibri"/>
                        </a:rPr>
                        <a:t>Numeral, integrity, LaBSE flags</a:t>
                      </a:r>
                    </a:p>
                  </a:txBody>
                  <a:tcPr marL="128016" marR="128016" marT="45720" marB="45720" anchor="ctr">
                    <a:solidFill>
                      <a:srgbClr val="EAF1F8"/>
                    </a:solidFill>
                  </a:tcPr>
                </a:tc>
                <a:tc>
                  <a:txBody>
                    <a:bodyPr wrap="square"/>
                    <a:lstStyle/>
                    <a:p>
                      <a:r>
                        <a:rPr sz="2200" b="0">
                          <a:solidFill>
                            <a:srgbClr val="343434"/>
                          </a:solidFill>
                          <a:latin typeface="Calibri"/>
                        </a:rPr>
                        <a:t>Complete</a:t>
                      </a:r>
                    </a:p>
                  </a:txBody>
                  <a:tcPr marL="128016" marR="128016" marT="45720" marB="45720" anchor="ctr">
                    <a:solidFill>
                      <a:srgbClr val="EAF1F8"/>
                    </a:solidFill>
                  </a:tcPr>
                </a:tc>
              </a:tr>
              <a:tr h="768096">
                <a:tc>
                  <a:txBody>
                    <a:bodyPr wrap="square"/>
                    <a:lstStyle/>
                    <a:p>
                      <a:r>
                        <a:rPr sz="2200" b="1">
                          <a:solidFill>
                            <a:srgbClr val="343434"/>
                          </a:solidFill>
                          <a:latin typeface="Calibri"/>
                        </a:rPr>
                        <a:t>Fine-tuning</a:t>
                      </a:r>
                    </a:p>
                  </a:txBody>
                  <a:tcPr marL="128016" marR="128016" marT="45720" marB="45720" anchor="ctr">
                    <a:solidFill>
                      <a:srgbClr val="FFFFFF"/>
                    </a:solidFill>
                  </a:tcPr>
                </a:tc>
                <a:tc>
                  <a:txBody>
                    <a:bodyPr wrap="square"/>
                    <a:lstStyle/>
                    <a:p>
                      <a:r>
                        <a:rPr sz="2200" b="0">
                          <a:solidFill>
                            <a:srgbClr val="343434"/>
                          </a:solidFill>
                          <a:latin typeface="Calibri"/>
                        </a:rPr>
                        <a:t>IndicBERT, mBERT × 3 seeds</a:t>
                      </a:r>
                    </a:p>
                  </a:txBody>
                  <a:tcPr marL="128016" marR="128016" marT="45720" marB="45720" anchor="ctr">
                    <a:solidFill>
                      <a:srgbClr val="FFFFFF"/>
                    </a:solidFill>
                  </a:tcPr>
                </a:tc>
                <a:tc>
                  <a:txBody>
                    <a:bodyPr wrap="square"/>
                    <a:lstStyle/>
                    <a:p>
                      <a:r>
                        <a:rPr sz="2200" b="0">
                          <a:solidFill>
                            <a:srgbClr val="343434"/>
                          </a:solidFill>
                          <a:latin typeface="Calibri"/>
                        </a:rPr>
                        <a:t>Complete</a:t>
                      </a:r>
                    </a:p>
                  </a:txBody>
                  <a:tcPr marL="128016" marR="128016" marT="45720" marB="45720" anchor="ctr">
                    <a:solidFill>
                      <a:srgbClr val="FFFFFF"/>
                    </a:solidFill>
                  </a:tcPr>
                </a:tc>
              </a:tr>
              <a:tr h="768096">
                <a:tc>
                  <a:txBody>
                    <a:bodyPr wrap="square"/>
                    <a:lstStyle/>
                    <a:p>
                      <a:r>
                        <a:rPr sz="2200" b="1">
                          <a:solidFill>
                            <a:srgbClr val="343434"/>
                          </a:solidFill>
                          <a:latin typeface="Calibri"/>
                        </a:rPr>
                        <a:t>Zero-shot evaluation</a:t>
                      </a:r>
                    </a:p>
                  </a:txBody>
                  <a:tcPr marL="128016" marR="128016" marT="45720" marB="45720" anchor="ctr">
                    <a:solidFill>
                      <a:srgbClr val="EAF1F8"/>
                    </a:solidFill>
                  </a:tcPr>
                </a:tc>
                <a:tc>
                  <a:txBody>
                    <a:bodyPr wrap="square"/>
                    <a:lstStyle/>
                    <a:p>
                      <a:r>
                        <a:rPr sz="2200" b="0">
                          <a:solidFill>
                            <a:srgbClr val="343434"/>
                          </a:solidFill>
                          <a:latin typeface="Calibri"/>
                        </a:rPr>
                        <a:t>126 results per task</a:t>
                      </a:r>
                    </a:p>
                  </a:txBody>
                  <a:tcPr marL="128016" marR="128016" marT="45720" marB="45720" anchor="ctr">
                    <a:solidFill>
                      <a:srgbClr val="EAF1F8"/>
                    </a:solidFill>
                  </a:tcPr>
                </a:tc>
                <a:tc>
                  <a:txBody>
                    <a:bodyPr wrap="square"/>
                    <a:lstStyle/>
                    <a:p>
                      <a:r>
                        <a:rPr sz="2200" b="0">
                          <a:solidFill>
                            <a:srgbClr val="343434"/>
                          </a:solidFill>
                          <a:latin typeface="Calibri"/>
                        </a:rPr>
                        <a:t>Complete</a:t>
                      </a:r>
                    </a:p>
                  </a:txBody>
                  <a:tcPr marL="128016" marR="128016" marT="45720" marB="45720" anchor="ctr">
                    <a:solidFill>
                      <a:srgbClr val="EAF1F8"/>
                    </a:solidFill>
                  </a:tcPr>
                </a:tc>
              </a:tr>
              <a:tr h="768096">
                <a:tc>
                  <a:txBody>
                    <a:bodyPr wrap="square"/>
                    <a:lstStyle/>
                    <a:p>
                      <a:r>
                        <a:rPr sz="2200" b="1">
                          <a:solidFill>
                            <a:srgbClr val="343434"/>
                          </a:solidFill>
                          <a:latin typeface="Calibri"/>
                        </a:rPr>
                        <a:t>Encoder / source study</a:t>
                      </a:r>
                    </a:p>
                  </a:txBody>
                  <a:tcPr marL="128016" marR="128016" marT="45720" marB="45720" anchor="ctr">
                    <a:solidFill>
                      <a:srgbClr val="FFFFFF"/>
                    </a:solidFill>
                  </a:tcPr>
                </a:tc>
                <a:tc>
                  <a:txBody>
                    <a:bodyPr wrap="square"/>
                    <a:lstStyle/>
                    <a:p>
                      <a:r>
                        <a:rPr sz="2200" b="0">
                          <a:solidFill>
                            <a:srgbClr val="343434"/>
                          </a:solidFill>
                          <a:latin typeface="Calibri"/>
                        </a:rPr>
                        <a:t>Comparisons by direction</a:t>
                      </a:r>
                    </a:p>
                  </a:txBody>
                  <a:tcPr marL="128016" marR="128016" marT="45720" marB="45720" anchor="ctr">
                    <a:solidFill>
                      <a:srgbClr val="FFFFFF"/>
                    </a:solidFill>
                  </a:tcPr>
                </a:tc>
                <a:tc>
                  <a:txBody>
                    <a:bodyPr wrap="square"/>
                    <a:lstStyle/>
                    <a:p>
                      <a:r>
                        <a:rPr sz="2200" b="0">
                          <a:solidFill>
                            <a:srgbClr val="343434"/>
                          </a:solidFill>
                          <a:latin typeface="Calibri"/>
                        </a:rPr>
                        <a:t>Complete</a:t>
                      </a:r>
                    </a:p>
                  </a:txBody>
                  <a:tcPr marL="128016" marR="128016" marT="45720" marB="45720" anchor="ctr">
                    <a:solidFill>
                      <a:srgbClr val="FFFFFF"/>
                    </a:solidFill>
                  </a:tcPr>
                </a:tc>
              </a:tr>
              <a:tr h="768096">
                <a:tc>
                  <a:txBody>
                    <a:bodyPr wrap="square"/>
                    <a:lstStyle/>
                    <a:p>
                      <a:r>
                        <a:rPr sz="2200" b="1">
                          <a:solidFill>
                            <a:srgbClr val="343434"/>
                          </a:solidFill>
                          <a:latin typeface="Calibri"/>
                        </a:rPr>
                        <a:t>Failure router</a:t>
                      </a:r>
                    </a:p>
                  </a:txBody>
                  <a:tcPr marL="128016" marR="128016" marT="45720" marB="45720" anchor="ctr">
                    <a:solidFill>
                      <a:srgbClr val="EAF1F8"/>
                    </a:solidFill>
                  </a:tcPr>
                </a:tc>
                <a:tc>
                  <a:txBody>
                    <a:bodyPr wrap="square"/>
                    <a:lstStyle/>
                    <a:p>
                      <a:r>
                        <a:rPr sz="2200" b="0">
                          <a:solidFill>
                            <a:srgbClr val="343434"/>
                          </a:solidFill>
                          <a:latin typeface="Calibri"/>
                        </a:rPr>
                        <a:t>72 conditions labelled</a:t>
                      </a:r>
                    </a:p>
                  </a:txBody>
                  <a:tcPr marL="128016" marR="128016" marT="45720" marB="45720" anchor="ctr">
                    <a:solidFill>
                      <a:srgbClr val="EAF1F8"/>
                    </a:solidFill>
                  </a:tcPr>
                </a:tc>
                <a:tc>
                  <a:txBody>
                    <a:bodyPr wrap="square"/>
                    <a:lstStyle/>
                    <a:p>
                      <a:r>
                        <a:rPr sz="2200" b="0">
                          <a:solidFill>
                            <a:srgbClr val="343434"/>
                          </a:solidFill>
                          <a:latin typeface="Calibri"/>
                        </a:rPr>
                        <a:t>Complete</a:t>
                      </a:r>
                    </a:p>
                  </a:txBody>
                  <a:tcPr marL="128016" marR="128016" marT="45720" marB="45720" anchor="ctr">
                    <a:solidFill>
                      <a:srgbClr val="EAF1F8"/>
                    </a:solidFill>
                  </a:tcPr>
                </a:tc>
              </a:tr>
              <a:tr h="768096">
                <a:tc>
                  <a:txBody>
                    <a:bodyPr wrap="square"/>
                    <a:lstStyle/>
                    <a:p>
                      <a:r>
                        <a:rPr sz="2200" b="1">
                          <a:solidFill>
                            <a:srgbClr val="343434"/>
                          </a:solidFill>
                          <a:latin typeface="Calibri"/>
                        </a:rPr>
                        <a:t>Findings + dashboard</a:t>
                      </a:r>
                    </a:p>
                  </a:txBody>
                  <a:tcPr marL="128016" marR="128016" marT="45720" marB="45720" anchor="ctr">
                    <a:solidFill>
                      <a:srgbClr val="FFFFFF"/>
                    </a:solidFill>
                  </a:tcPr>
                </a:tc>
                <a:tc>
                  <a:txBody>
                    <a:bodyPr wrap="square"/>
                    <a:lstStyle/>
                    <a:p>
                      <a:r>
                        <a:rPr sz="2200" b="0">
                          <a:solidFill>
                            <a:srgbClr val="343434"/>
                          </a:solidFill>
                          <a:latin typeface="Calibri"/>
                        </a:rPr>
                        <a:t>228 comparisons; 3 pages</a:t>
                      </a:r>
                    </a:p>
                  </a:txBody>
                  <a:tcPr marL="128016" marR="128016" marT="45720" marB="45720" anchor="ctr">
                    <a:solidFill>
                      <a:srgbClr val="FFFFFF"/>
                    </a:solidFill>
                  </a:tcPr>
                </a:tc>
                <a:tc>
                  <a:txBody>
                    <a:bodyPr wrap="square"/>
                    <a:lstStyle/>
                    <a:p>
                      <a:r>
                        <a:rPr sz="2200" b="0">
                          <a:solidFill>
                            <a:srgbClr val="343434"/>
                          </a:solidFill>
                          <a:latin typeface="Calibri"/>
                        </a:rPr>
                        <a:t>Complete</a:t>
                      </a:r>
                    </a:p>
                  </a:txBody>
                  <a:tcPr marL="128016" marR="128016" marT="45720" marB="45720" anchor="ctr">
                    <a:solidFill>
                      <a:srgbClr val="FFFFFF"/>
                    </a:solidFill>
                  </a:tcPr>
                </a:tc>
              </a:tr>
            </a:tbl>
          </a:graphicData>
        </a:graphic>
      </p:graphicFrame>
      <p:pic>
        <p:nvPicPr>
          <p:cNvPr id="16" name="Picture 15" descr="transfer.png"/>
          <p:cNvPicPr>
            <a:picLocks noChangeAspect="1"/>
          </p:cNvPicPr>
          <p:nvPr/>
        </p:nvPicPr>
        <p:blipFill>
          <a:blip r:embed="rId5"/>
          <a:stretch>
            <a:fillRect/>
          </a:stretch>
        </p:blipFill>
        <p:spPr>
          <a:xfrm>
            <a:off x="9966960" y="2697480"/>
            <a:ext cx="6766560" cy="3157728"/>
          </a:xfrm>
          <a:prstGeom prst="rect">
            <a:avLst/>
          </a:prstGeom>
          <a:ln w="19050">
            <a:solidFill>
              <a:srgbClr val="B9CBE0"/>
            </a:solidFill>
          </a:ln>
        </p:spPr>
      </p:pic>
      <p:sp>
        <p:nvSpPr>
          <p:cNvPr id="17" name="Caption"/>
          <p:cNvSpPr txBox="1"/>
          <p:nvPr/>
        </p:nvSpPr>
        <p:spPr>
          <a:xfrm>
            <a:off x="9966960" y="6309360"/>
            <a:ext cx="6766560" cy="731520"/>
          </a:xfrm>
          <a:prstGeom prst="rect">
            <a:avLst/>
          </a:prstGeom>
          <a:noFill/>
        </p:spPr>
        <p:txBody>
          <a:bodyPr wrap="square" lIns="0" rIns="0" tIns="0" bIns="0" anchor="t">
            <a:spAutoFit/>
          </a:bodyPr>
          <a:lstStyle/>
          <a:p>
            <a:pPr algn="l"/>
            <a:r>
              <a:rPr sz="1800" b="0" i="0">
                <a:solidFill>
                  <a:srgbClr val="5B6B7B"/>
                </a:solidFill>
                <a:latin typeface="Calibri"/>
              </a:rPr>
              <a:t>Integrated results dashboard (Transfer page): task 2, F1 drop per language pair</a:t>
            </a:r>
          </a:p>
        </p:txBody>
      </p:sp>
      <p:sp>
        <p:nvSpPr>
          <p:cNvPr id="18" name="Integration stat"/>
          <p:cNvSpPr/>
          <p:nvPr/>
        </p:nvSpPr>
        <p:spPr>
          <a:xfrm>
            <a:off x="9966960" y="7223760"/>
            <a:ext cx="6766560" cy="2103120"/>
          </a:xfrm>
          <a:prstGeom prst="roundRect">
            <a:avLst>
              <a:gd name="adj" fmla="val 6000"/>
            </a:avLst>
          </a:prstGeom>
          <a:solidFill>
            <a:srgbClr val="164B82">
              <a:alpha val="100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 name="TextBox 18"/>
          <p:cNvSpPr txBox="1"/>
          <p:nvPr/>
        </p:nvSpPr>
        <p:spPr>
          <a:xfrm>
            <a:off x="10332720" y="7360920"/>
            <a:ext cx="6035040" cy="1097280"/>
          </a:xfrm>
          <a:prstGeom prst="rect">
            <a:avLst/>
          </a:prstGeom>
          <a:noFill/>
        </p:spPr>
        <p:txBody>
          <a:bodyPr wrap="square" lIns="0" rIns="0" tIns="0" bIns="0" anchor="ctr">
            <a:spAutoFit/>
          </a:bodyPr>
          <a:lstStyle/>
          <a:p>
            <a:pPr algn="l"/>
            <a:r>
              <a:rPr sz="6000" b="1" i="0">
                <a:solidFill>
                  <a:srgbClr val="FFFFFF"/>
                </a:solidFill>
                <a:latin typeface="Calibri"/>
              </a:rPr>
              <a:t>7 of 7</a:t>
            </a:r>
          </a:p>
        </p:txBody>
      </p:sp>
      <p:sp>
        <p:nvSpPr>
          <p:cNvPr id="20" name="TextBox 19"/>
          <p:cNvSpPr txBox="1"/>
          <p:nvPr/>
        </p:nvSpPr>
        <p:spPr>
          <a:xfrm>
            <a:off x="10332720" y="8503920"/>
            <a:ext cx="6035040" cy="731520"/>
          </a:xfrm>
          <a:prstGeom prst="rect">
            <a:avLst/>
          </a:prstGeom>
          <a:noFill/>
        </p:spPr>
        <p:txBody>
          <a:bodyPr wrap="square" lIns="0" rIns="0" tIns="0" bIns="0" anchor="t">
            <a:spAutoFit/>
          </a:bodyPr>
          <a:lstStyle/>
          <a:p>
            <a:pPr algn="l"/>
            <a:r>
              <a:rPr sz="2200" b="0" i="0">
                <a:solidFill>
                  <a:srgbClr val="E4B795"/>
                </a:solidFill>
                <a:latin typeface="Calibri"/>
              </a:rPr>
              <a:t>project phases complete and integrated</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name="Freeform 2" id="2"/>
          <p:cNvSpPr/>
          <p:nvPr/>
        </p:nvSpPr>
        <p:spPr>
          <a:xfrm flipH="false" flipV="false" rot="225008">
            <a:off x="-467361" y="-2757747"/>
            <a:ext cx="12701350" cy="5382197"/>
          </a:xfrm>
          <a:custGeom>
            <a:avLst/>
            <a:gdLst/>
            <a:ahLst/>
            <a:cxnLst/>
            <a:rect r="r" b="b" t="t" l="l"/>
            <a:pathLst>
              <a:path h="5382197" w="12701350">
                <a:moveTo>
                  <a:pt x="0" y="0"/>
                </a:moveTo>
                <a:lnTo>
                  <a:pt x="12701349" y="0"/>
                </a:lnTo>
                <a:lnTo>
                  <a:pt x="12701349" y="5382197"/>
                </a:lnTo>
                <a:lnTo>
                  <a:pt x="0" y="5382197"/>
                </a:lnTo>
                <a:lnTo>
                  <a:pt x="0" y="0"/>
                </a:lnTo>
                <a:close/>
              </a:path>
            </a:pathLst>
          </a:custGeom>
          <a:blipFill>
            <a:blip r:embed="rId2"/>
            <a:stretch>
              <a:fillRect l="0" t="0" r="0" b="0"/>
            </a:stretch>
          </a:blipFill>
        </p:spPr>
      </p:sp>
      <p:sp>
        <p:nvSpPr>
          <p:cNvPr name="Freeform 3" id="3"/>
          <p:cNvSpPr/>
          <p:nvPr/>
        </p:nvSpPr>
        <p:spPr>
          <a:xfrm flipH="false" flipV="false" rot="0">
            <a:off x="10986204" y="6250419"/>
            <a:ext cx="11514218" cy="8506128"/>
          </a:xfrm>
          <a:custGeom>
            <a:avLst/>
            <a:gdLst/>
            <a:ahLst/>
            <a:cxnLst/>
            <a:rect r="r" b="b" t="t" l="l"/>
            <a:pathLst>
              <a:path h="8506128" w="11514218">
                <a:moveTo>
                  <a:pt x="0" y="0"/>
                </a:moveTo>
                <a:lnTo>
                  <a:pt x="11514218" y="0"/>
                </a:lnTo>
                <a:lnTo>
                  <a:pt x="11514218" y="8506128"/>
                </a:lnTo>
                <a:lnTo>
                  <a:pt x="0" y="8506128"/>
                </a:lnTo>
                <a:lnTo>
                  <a:pt x="0" y="0"/>
                </a:lnTo>
                <a:close/>
              </a:path>
            </a:pathLst>
          </a:custGeom>
          <a:blipFill>
            <a:blip r:embed="rId3"/>
            <a:stretch>
              <a:fillRect l="0" t="0" r="0" b="0"/>
            </a:stretch>
          </a:blipFill>
        </p:spPr>
      </p:sp>
      <p:grpSp>
        <p:nvGrpSpPr>
          <p:cNvPr name="Group 4" id="4"/>
          <p:cNvGrpSpPr/>
          <p:nvPr/>
        </p:nvGrpSpPr>
        <p:grpSpPr>
          <a:xfrm rot="0">
            <a:off x="17259300" y="-392510"/>
            <a:ext cx="1437565" cy="11072020"/>
            <a:chOff x="0" y="0"/>
            <a:chExt cx="378618" cy="2916088"/>
          </a:xfrm>
        </p:grpSpPr>
        <p:sp>
          <p:nvSpPr>
            <p:cNvPr name="Freeform 5" id="5"/>
            <p:cNvSpPr/>
            <p:nvPr/>
          </p:nvSpPr>
          <p:spPr>
            <a:xfrm flipH="false" flipV="false" rot="0">
              <a:off x="0" y="0"/>
              <a:ext cx="378618" cy="2916088"/>
            </a:xfrm>
            <a:custGeom>
              <a:avLst/>
              <a:gdLst/>
              <a:ahLst/>
              <a:cxnLst/>
              <a:rect r="r" b="b" t="t" l="l"/>
              <a:pathLst>
                <a:path h="2916088" w="378618">
                  <a:moveTo>
                    <a:pt x="0" y="0"/>
                  </a:moveTo>
                  <a:lnTo>
                    <a:pt x="378618" y="0"/>
                  </a:lnTo>
                  <a:lnTo>
                    <a:pt x="378618" y="2916088"/>
                  </a:lnTo>
                  <a:lnTo>
                    <a:pt x="0" y="2916088"/>
                  </a:lnTo>
                  <a:close/>
                </a:path>
              </a:pathLst>
            </a:custGeom>
            <a:gradFill rotWithShape="true">
              <a:gsLst>
                <a:gs pos="0">
                  <a:srgbClr val="E4B795">
                    <a:alpha val="100000"/>
                  </a:srgbClr>
                </a:gs>
                <a:gs pos="50000">
                  <a:srgbClr val="699ACD">
                    <a:alpha val="100000"/>
                  </a:srgbClr>
                </a:gs>
                <a:gs pos="100000">
                  <a:srgbClr val="2F679F">
                    <a:alpha val="100000"/>
                  </a:srgbClr>
                </a:gs>
              </a:gsLst>
              <a:path path="circle">
                <a:fillToRect l="0" r="100000" t="0" b="100000"/>
              </a:path>
              <a:tileRect r="0" l="-100000" b="0" t="-100000"/>
            </a:gradFill>
          </p:spPr>
        </p:sp>
        <p:sp>
          <p:nvSpPr>
            <p:cNvPr name="TextBox 6" id="6"/>
            <p:cNvSpPr txBox="true"/>
            <p:nvPr/>
          </p:nvSpPr>
          <p:spPr>
            <a:xfrm>
              <a:off x="0" y="-57150"/>
              <a:ext cx="378618" cy="2973238"/>
            </a:xfrm>
            <a:prstGeom prst="rect">
              <a:avLst/>
            </a:prstGeom>
          </p:spPr>
          <p:txBody>
            <a:bodyPr anchor="ctr" rtlCol="false" tIns="50800" lIns="50800" bIns="50800" rIns="50800"/>
            <a:lstStyle/>
            <a:p>
              <a:pPr algn="ctr">
                <a:lnSpc>
                  <a:spcPts val="3639"/>
                </a:lnSpc>
              </a:pPr>
            </a:p>
          </p:txBody>
        </p:sp>
      </p:grpSp>
      <p:sp>
        <p:nvSpPr>
          <p:cNvPr name="TextBox 7" id="7"/>
          <p:cNvSpPr txBox="true"/>
          <p:nvPr/>
        </p:nvSpPr>
        <p:spPr>
          <a:xfrm rot="0">
            <a:off x="8021110" y="782737"/>
            <a:ext cx="2492949" cy="351790"/>
          </a:xfrm>
          <a:prstGeom prst="rect">
            <a:avLst/>
          </a:prstGeom>
        </p:spPr>
        <p:txBody>
          <a:bodyPr anchor="t" rtlCol="false" tIns="0" lIns="0" bIns="0" rIns="0">
            <a:spAutoFit/>
          </a:bodyPr>
          <a:lstStyle/>
          <a:p>
            <a:pPr algn="l">
              <a:lnSpc>
                <a:spcPts val="2660"/>
              </a:lnSpc>
              <a:spcBef>
                <a:spcPct val="0"/>
              </a:spcBef>
            </a:pPr>
            <a:r>
              <a:rPr lang="en-US" sz="1900" spc="95">
                <a:solidFill>
                  <a:srgbClr val="164B82"/>
                </a:solidFill>
                <a:latin typeface="Calibri"/>
                <a:ea typeface="Telegraf Extra-Light"/>
                <a:cs typeface="Telegraf Extra-Light"/>
                <a:sym typeface="Telegraf Extra-Light"/>
              </a:rPr>
              <a:t>BCSE497J · Project I</a:t>
            </a:r>
          </a:p>
        </p:txBody>
      </p:sp>
      <p:sp>
        <p:nvSpPr>
          <p:cNvPr name="TextBox 8" id="8"/>
          <p:cNvSpPr txBox="true"/>
          <p:nvPr/>
        </p:nvSpPr>
        <p:spPr>
          <a:xfrm rot="0">
            <a:off x="13305333" y="782737"/>
            <a:ext cx="1819999" cy="351790"/>
          </a:xfrm>
          <a:prstGeom prst="rect">
            <a:avLst/>
          </a:prstGeom>
        </p:spPr>
        <p:txBody>
          <a:bodyPr anchor="t" rtlCol="false" tIns="0" lIns="0" bIns="0" rIns="0">
            <a:spAutoFit/>
          </a:bodyPr>
          <a:lstStyle/>
          <a:p>
            <a:pPr algn="r">
              <a:lnSpc>
                <a:spcPts val="2660"/>
              </a:lnSpc>
              <a:spcBef>
                <a:spcPct val="0"/>
              </a:spcBef>
            </a:pPr>
            <a:r>
              <a:rPr lang="en-US" sz="1900" spc="95">
                <a:solidFill>
                  <a:srgbClr val="164B82"/>
                </a:solidFill>
                <a:latin typeface="Calibri"/>
                <a:ea typeface="Telegraf Extra-Light"/>
                <a:cs typeface="Telegraf Extra-Light"/>
                <a:sym typeface="Telegraf Extra-Light"/>
              </a:rPr>
              <a:t>Oct 2026</a:t>
            </a:r>
          </a:p>
        </p:txBody>
      </p:sp>
      <p:sp>
        <p:nvSpPr>
          <p:cNvPr name="TextBox 9" id="9"/>
          <p:cNvSpPr txBox="true"/>
          <p:nvPr/>
        </p:nvSpPr>
        <p:spPr>
          <a:xfrm rot="0">
            <a:off x="11045641" y="782737"/>
            <a:ext cx="1819999" cy="351790"/>
          </a:xfrm>
          <a:prstGeom prst="rect">
            <a:avLst/>
          </a:prstGeom>
        </p:spPr>
        <p:txBody>
          <a:bodyPr anchor="t" rtlCol="false" tIns="0" lIns="0" bIns="0" rIns="0">
            <a:spAutoFit/>
          </a:bodyPr>
          <a:lstStyle/>
          <a:p>
            <a:pPr algn="ctr">
              <a:lnSpc>
                <a:spcPts val="2660"/>
              </a:lnSpc>
              <a:spcBef>
                <a:spcPct val="0"/>
              </a:spcBef>
            </a:pPr>
            <a:r>
              <a:rPr lang="en-US" sz="1900" spc="95">
                <a:solidFill>
                  <a:srgbClr val="164B82"/>
                </a:solidFill>
                <a:latin typeface="Calibri"/>
                <a:ea typeface="Telegraf Extra-Light"/>
                <a:cs typeface="Telegraf Extra-Light"/>
                <a:sym typeface="Telegraf Extra-Light"/>
              </a:rPr>
              <a:t>Guide Review</a:t>
            </a:r>
          </a:p>
        </p:txBody>
      </p:sp>
      <p:grpSp>
        <p:nvGrpSpPr>
          <p:cNvPr name="Group 10" id="10"/>
          <p:cNvGrpSpPr/>
          <p:nvPr/>
        </p:nvGrpSpPr>
        <p:grpSpPr>
          <a:xfrm rot="5400000">
            <a:off x="11279340" y="-3711595"/>
            <a:ext cx="643045" cy="9407130"/>
            <a:chOff x="0" y="0"/>
            <a:chExt cx="169362" cy="2477598"/>
          </a:xfrm>
        </p:grpSpPr>
        <p:sp>
          <p:nvSpPr>
            <p:cNvPr name="Freeform 11" id="11"/>
            <p:cNvSpPr/>
            <p:nvPr/>
          </p:nvSpPr>
          <p:spPr>
            <a:xfrm flipH="false" flipV="false" rot="0">
              <a:off x="0" y="0"/>
              <a:ext cx="169362" cy="2477598"/>
            </a:xfrm>
            <a:custGeom>
              <a:avLst/>
              <a:gdLst/>
              <a:ahLst/>
              <a:cxnLst/>
              <a:rect r="r" b="b" t="t" l="l"/>
              <a:pathLst>
                <a:path h="2477598" w="169362">
                  <a:moveTo>
                    <a:pt x="84681" y="0"/>
                  </a:moveTo>
                  <a:lnTo>
                    <a:pt x="84681" y="0"/>
                  </a:lnTo>
                  <a:cubicBezTo>
                    <a:pt x="107140" y="0"/>
                    <a:pt x="128678" y="8922"/>
                    <a:pt x="144559" y="24802"/>
                  </a:cubicBezTo>
                  <a:cubicBezTo>
                    <a:pt x="160440" y="40683"/>
                    <a:pt x="169362" y="62222"/>
                    <a:pt x="169362" y="84681"/>
                  </a:cubicBezTo>
                  <a:lnTo>
                    <a:pt x="169362" y="2392917"/>
                  </a:lnTo>
                  <a:cubicBezTo>
                    <a:pt x="169362" y="2439685"/>
                    <a:pt x="131449" y="2477598"/>
                    <a:pt x="84681" y="2477598"/>
                  </a:cubicBezTo>
                  <a:lnTo>
                    <a:pt x="84681" y="2477598"/>
                  </a:lnTo>
                  <a:cubicBezTo>
                    <a:pt x="37913" y="2477598"/>
                    <a:pt x="0" y="2439685"/>
                    <a:pt x="0" y="2392917"/>
                  </a:cubicBezTo>
                  <a:lnTo>
                    <a:pt x="0" y="84681"/>
                  </a:lnTo>
                  <a:cubicBezTo>
                    <a:pt x="0" y="37913"/>
                    <a:pt x="37913" y="0"/>
                    <a:pt x="84681" y="0"/>
                  </a:cubicBezTo>
                  <a:close/>
                </a:path>
              </a:pathLst>
            </a:custGeom>
            <a:ln w="19050" cap="rnd">
              <a:solidFill>
                <a:srgbClr val="164B82"/>
              </a:solidFill>
              <a:prstDash val="solid"/>
              <a:round/>
            </a:ln>
          </p:spPr>
        </p:sp>
        <p:sp>
          <p:nvSpPr>
            <p:cNvPr name="TextBox 12" id="12"/>
            <p:cNvSpPr txBox="true"/>
            <p:nvPr/>
          </p:nvSpPr>
          <p:spPr>
            <a:xfrm>
              <a:off x="0" y="-57150"/>
              <a:ext cx="169362" cy="2534748"/>
            </a:xfrm>
            <a:prstGeom prst="rect">
              <a:avLst/>
            </a:prstGeom>
          </p:spPr>
          <p:txBody>
            <a:bodyPr anchor="ctr" rtlCol="false" tIns="50800" lIns="50800" bIns="50800" rIns="50800"/>
            <a:lstStyle/>
            <a:p>
              <a:pPr algn="ctr">
                <a:lnSpc>
                  <a:spcPts val="3639"/>
                </a:lnSpc>
              </a:pPr>
            </a:p>
          </p:txBody>
        </p:sp>
      </p:grpSp>
      <p:sp>
        <p:nvSpPr>
          <p:cNvPr id="13" name="Title"/>
          <p:cNvSpPr txBox="1"/>
          <p:nvPr/>
        </p:nvSpPr>
        <p:spPr>
          <a:xfrm>
            <a:off x="1005840" y="1371600"/>
            <a:ext cx="15727680" cy="1097280"/>
          </a:xfrm>
          <a:prstGeom prst="rect">
            <a:avLst/>
          </a:prstGeom>
          <a:noFill/>
        </p:spPr>
        <p:txBody>
          <a:bodyPr wrap="square" lIns="0" rIns="0" tIns="0" bIns="0" anchor="ctr">
            <a:spAutoFit/>
          </a:bodyPr>
          <a:lstStyle/>
          <a:p>
            <a:pPr algn="l"/>
            <a:r>
              <a:rPr sz="4800" b="1" i="0">
                <a:solidFill>
                  <a:srgbClr val="343434"/>
                </a:solidFill>
                <a:latin typeface="Calibri"/>
              </a:rPr>
              <a:t>Demo Flow: End to End</a:t>
            </a:r>
          </a:p>
        </p:txBody>
      </p:sp>
      <p:sp>
        <p:nvSpPr>
          <p:cNvPr id="14" name="Page"/>
          <p:cNvSpPr txBox="1"/>
          <p:nvPr/>
        </p:nvSpPr>
        <p:spPr>
          <a:xfrm>
            <a:off x="1005840" y="9646920"/>
            <a:ext cx="3657600" cy="365760"/>
          </a:xfrm>
          <a:prstGeom prst="rect">
            <a:avLst/>
          </a:prstGeom>
          <a:noFill/>
        </p:spPr>
        <p:txBody>
          <a:bodyPr wrap="square" lIns="0" rIns="0" tIns="0" bIns="0" anchor="t">
            <a:spAutoFit/>
          </a:bodyPr>
          <a:lstStyle/>
          <a:p>
            <a:pPr algn="l"/>
            <a:r>
              <a:rPr sz="1800" b="0" i="0">
                <a:solidFill>
                  <a:srgbClr val="164B82"/>
                </a:solidFill>
                <a:latin typeface="Calibri"/>
              </a:rPr>
              <a:t>10 / 19</a:t>
            </a:r>
          </a:p>
        </p:txBody>
      </p:sp>
      <p:sp>
        <p:nvSpPr>
          <p:cNvPr id="15" name="Demo step 1"/>
          <p:cNvSpPr/>
          <p:nvPr/>
        </p:nvSpPr>
        <p:spPr>
          <a:xfrm>
            <a:off x="1005840" y="2697480"/>
            <a:ext cx="5029200" cy="5806440"/>
          </a:xfrm>
          <a:prstGeom prst="roundRect">
            <a:avLst>
              <a:gd name="adj" fmla="val 6000"/>
            </a:avLst>
          </a:prstGeom>
          <a:solidFill>
            <a:srgbClr val="FFFFFF">
              <a:alpha val="88000"/>
            </a:srgbClr>
          </a:solidFill>
          <a:ln w="15875">
            <a:solidFill>
              <a:srgbClr val="CFDDEC"/>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16" name="Picture 15" descr="transfer.png"/>
          <p:cNvPicPr>
            <a:picLocks noChangeAspect="1"/>
          </p:cNvPicPr>
          <p:nvPr/>
        </p:nvPicPr>
        <p:blipFill>
          <a:blip r:embed="rId5"/>
          <a:stretch>
            <a:fillRect/>
          </a:stretch>
        </p:blipFill>
        <p:spPr>
          <a:xfrm>
            <a:off x="1143000" y="2834640"/>
            <a:ext cx="4754880" cy="2218944"/>
          </a:xfrm>
          <a:prstGeom prst="rect">
            <a:avLst/>
          </a:prstGeom>
          <a:ln w="19050">
            <a:solidFill>
              <a:srgbClr val="B9CBE0"/>
            </a:solidFill>
          </a:ln>
        </p:spPr>
      </p:pic>
      <p:sp>
        <p:nvSpPr>
          <p:cNvPr id="17" name="Step badge 1"/>
          <p:cNvSpPr/>
          <p:nvPr/>
        </p:nvSpPr>
        <p:spPr>
          <a:xfrm>
            <a:off x="1234440" y="5989320"/>
            <a:ext cx="685800" cy="685800"/>
          </a:xfrm>
          <a:prstGeom prst="ellipse">
            <a:avLst/>
          </a:prstGeom>
          <a:solidFill>
            <a:srgbClr val="164B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1234440" y="5989320"/>
            <a:ext cx="685800" cy="685800"/>
          </a:xfrm>
          <a:prstGeom prst="rect">
            <a:avLst/>
          </a:prstGeom>
          <a:noFill/>
        </p:spPr>
        <p:txBody>
          <a:bodyPr wrap="square" lIns="0" rIns="0" tIns="0" bIns="0" anchor="ctr">
            <a:spAutoFit/>
          </a:bodyPr>
          <a:lstStyle/>
          <a:p>
            <a:pPr algn="ctr"/>
            <a:r>
              <a:rPr sz="2600" b="1" i="0">
                <a:solidFill>
                  <a:srgbClr val="FFFFFF"/>
                </a:solidFill>
                <a:latin typeface="Calibri"/>
              </a:rPr>
              <a:t>1</a:t>
            </a:r>
          </a:p>
        </p:txBody>
      </p:sp>
      <p:sp>
        <p:nvSpPr>
          <p:cNvPr id="19" name="TextBox 18"/>
          <p:cNvSpPr txBox="1"/>
          <p:nvPr/>
        </p:nvSpPr>
        <p:spPr>
          <a:xfrm>
            <a:off x="2057400" y="5943600"/>
            <a:ext cx="3840480" cy="777240"/>
          </a:xfrm>
          <a:prstGeom prst="rect">
            <a:avLst/>
          </a:prstGeom>
          <a:noFill/>
        </p:spPr>
        <p:txBody>
          <a:bodyPr wrap="square" lIns="0" rIns="0" tIns="0" bIns="0" anchor="ctr">
            <a:spAutoFit/>
          </a:bodyPr>
          <a:lstStyle/>
          <a:p>
            <a:pPr algn="l"/>
            <a:r>
              <a:rPr sz="2200" b="1" i="0">
                <a:solidFill>
                  <a:srgbClr val="164B82"/>
                </a:solidFill>
                <a:latin typeface="Calibri"/>
              </a:rPr>
              <a:t>Read the transfer gap</a:t>
            </a:r>
          </a:p>
        </p:txBody>
      </p:sp>
      <p:sp>
        <p:nvSpPr>
          <p:cNvPr id="20" name="TextBox 19"/>
          <p:cNvSpPr txBox="1"/>
          <p:nvPr/>
        </p:nvSpPr>
        <p:spPr>
          <a:xfrm>
            <a:off x="1280160" y="6858000"/>
            <a:ext cx="4526280" cy="1554480"/>
          </a:xfrm>
          <a:prstGeom prst="rect">
            <a:avLst/>
          </a:prstGeom>
          <a:noFill/>
        </p:spPr>
        <p:txBody>
          <a:bodyPr wrap="square" lIns="0" rIns="0" tIns="0" bIns="0" anchor="t">
            <a:spAutoFit/>
          </a:bodyPr>
          <a:lstStyle/>
          <a:p>
            <a:pPr algn="l"/>
            <a:r>
              <a:rPr sz="1900" b="0" i="0">
                <a:solidFill>
                  <a:srgbClr val="343434"/>
                </a:solidFill>
                <a:latin typeface="Calibri"/>
              </a:rPr>
              <a:t>Transfer page: F1 drop for every source→target pair, both encoders</a:t>
            </a:r>
          </a:p>
        </p:txBody>
      </p:sp>
      <p:cxnSp>
        <p:nvCxnSpPr>
          <p:cNvPr id="21" name="Connector 20"/>
          <p:cNvCxnSpPr/>
          <p:nvPr/>
        </p:nvCxnSpPr>
        <p:spPr>
          <a:xfrm>
            <a:off x="6053327" y="5486400"/>
            <a:ext cx="283465" cy="0"/>
          </a:xfrm>
          <a:prstGeom prst="line">
            <a:avLst/>
          </a:prstGeom>
          <a:ln w="31750">
            <a:solidFill>
              <a:srgbClr val="164B82"/>
            </a:solidFill>
            <a:tailEnd type="triangle" w="med" len="med"/>
          </a:ln>
        </p:spPr>
        <p:style>
          <a:lnRef idx="2">
            <a:schemeClr val="accent1"/>
          </a:lnRef>
          <a:fillRef idx="0">
            <a:schemeClr val="accent1"/>
          </a:fillRef>
          <a:effectRef idx="1">
            <a:schemeClr val="accent1"/>
          </a:effectRef>
          <a:fontRef idx="minor">
            <a:schemeClr val="tx1"/>
          </a:fontRef>
        </p:style>
      </p:cxnSp>
      <p:sp>
        <p:nvSpPr>
          <p:cNvPr id="22" name="Demo step 2"/>
          <p:cNvSpPr/>
          <p:nvPr/>
        </p:nvSpPr>
        <p:spPr>
          <a:xfrm>
            <a:off x="6355079" y="2697480"/>
            <a:ext cx="5029200" cy="5806440"/>
          </a:xfrm>
          <a:prstGeom prst="roundRect">
            <a:avLst>
              <a:gd name="adj" fmla="val 6000"/>
            </a:avLst>
          </a:prstGeom>
          <a:solidFill>
            <a:srgbClr val="FFFFFF">
              <a:alpha val="88000"/>
            </a:srgbClr>
          </a:solidFill>
          <a:ln w="15875">
            <a:solidFill>
              <a:srgbClr val="CFDDEC"/>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23" name="Picture 22" descr="causes.png"/>
          <p:cNvPicPr>
            <a:picLocks noChangeAspect="1"/>
          </p:cNvPicPr>
          <p:nvPr/>
        </p:nvPicPr>
        <p:blipFill>
          <a:blip r:embed="rId6"/>
          <a:stretch>
            <a:fillRect/>
          </a:stretch>
        </p:blipFill>
        <p:spPr>
          <a:xfrm>
            <a:off x="6492240" y="2834640"/>
            <a:ext cx="4754880" cy="2615184"/>
          </a:xfrm>
          <a:prstGeom prst="rect">
            <a:avLst/>
          </a:prstGeom>
          <a:ln w="19050">
            <a:solidFill>
              <a:srgbClr val="B9CBE0"/>
            </a:solidFill>
          </a:ln>
        </p:spPr>
      </p:pic>
      <p:sp>
        <p:nvSpPr>
          <p:cNvPr id="24" name="Step badge 2"/>
          <p:cNvSpPr/>
          <p:nvPr/>
        </p:nvSpPr>
        <p:spPr>
          <a:xfrm>
            <a:off x="6583679" y="5989320"/>
            <a:ext cx="685800" cy="685800"/>
          </a:xfrm>
          <a:prstGeom prst="ellipse">
            <a:avLst/>
          </a:prstGeom>
          <a:solidFill>
            <a:srgbClr val="164B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TextBox 24"/>
          <p:cNvSpPr txBox="1"/>
          <p:nvPr/>
        </p:nvSpPr>
        <p:spPr>
          <a:xfrm>
            <a:off x="6583679" y="5989320"/>
            <a:ext cx="685800" cy="685800"/>
          </a:xfrm>
          <a:prstGeom prst="rect">
            <a:avLst/>
          </a:prstGeom>
          <a:noFill/>
        </p:spPr>
        <p:txBody>
          <a:bodyPr wrap="square" lIns="0" rIns="0" tIns="0" bIns="0" anchor="ctr">
            <a:spAutoFit/>
          </a:bodyPr>
          <a:lstStyle/>
          <a:p>
            <a:pPr algn="ctr"/>
            <a:r>
              <a:rPr sz="2600" b="1" i="0">
                <a:solidFill>
                  <a:srgbClr val="FFFFFF"/>
                </a:solidFill>
                <a:latin typeface="Calibri"/>
              </a:rPr>
              <a:t>2</a:t>
            </a:r>
          </a:p>
        </p:txBody>
      </p:sp>
      <p:sp>
        <p:nvSpPr>
          <p:cNvPr id="26" name="TextBox 25"/>
          <p:cNvSpPr txBox="1"/>
          <p:nvPr/>
        </p:nvSpPr>
        <p:spPr>
          <a:xfrm>
            <a:off x="7406640" y="5943600"/>
            <a:ext cx="3840480" cy="777240"/>
          </a:xfrm>
          <a:prstGeom prst="rect">
            <a:avLst/>
          </a:prstGeom>
          <a:noFill/>
        </p:spPr>
        <p:txBody>
          <a:bodyPr wrap="square" lIns="0" rIns="0" tIns="0" bIns="0" anchor="ctr">
            <a:spAutoFit/>
          </a:bodyPr>
          <a:lstStyle/>
          <a:p>
            <a:pPr algn="l"/>
            <a:r>
              <a:rPr sz="2200" b="1" i="0">
                <a:solidFill>
                  <a:srgbClr val="164B82"/>
                </a:solidFill>
                <a:latin typeface="Calibri"/>
              </a:rPr>
              <a:t>See what failures are made of</a:t>
            </a:r>
          </a:p>
        </p:txBody>
      </p:sp>
      <p:sp>
        <p:nvSpPr>
          <p:cNvPr id="27" name="TextBox 26"/>
          <p:cNvSpPr txBox="1"/>
          <p:nvPr/>
        </p:nvSpPr>
        <p:spPr>
          <a:xfrm>
            <a:off x="6629399" y="6858000"/>
            <a:ext cx="4526280" cy="1554480"/>
          </a:xfrm>
          <a:prstGeom prst="rect">
            <a:avLst/>
          </a:prstGeom>
          <a:noFill/>
        </p:spPr>
        <p:txBody>
          <a:bodyPr wrap="square" lIns="0" rIns="0" tIns="0" bIns="0" anchor="t">
            <a:spAutoFit/>
          </a:bodyPr>
          <a:lstStyle/>
          <a:p>
            <a:pPr algn="l"/>
            <a:r>
              <a:rPr sz="1900" b="0" i="0">
                <a:solidFill>
                  <a:srgbClr val="343434"/>
                </a:solidFill>
                <a:latin typeface="Calibri"/>
              </a:rPr>
              <a:t>Causes page: share of linguistic, data, model, unattributed</a:t>
            </a:r>
          </a:p>
        </p:txBody>
      </p:sp>
      <p:cxnSp>
        <p:nvCxnSpPr>
          <p:cNvPr id="28" name="Connector 27"/>
          <p:cNvCxnSpPr/>
          <p:nvPr/>
        </p:nvCxnSpPr>
        <p:spPr>
          <a:xfrm>
            <a:off x="11402567" y="5486400"/>
            <a:ext cx="283465" cy="0"/>
          </a:xfrm>
          <a:prstGeom prst="line">
            <a:avLst/>
          </a:prstGeom>
          <a:ln w="31750">
            <a:solidFill>
              <a:srgbClr val="164B82"/>
            </a:solidFill>
            <a:tailEnd type="triangle" w="med" len="med"/>
          </a:ln>
        </p:spPr>
        <p:style>
          <a:lnRef idx="2">
            <a:schemeClr val="accent1"/>
          </a:lnRef>
          <a:fillRef idx="0">
            <a:schemeClr val="accent1"/>
          </a:fillRef>
          <a:effectRef idx="1">
            <a:schemeClr val="accent1"/>
          </a:effectRef>
          <a:fontRef idx="minor">
            <a:schemeClr val="tx1"/>
          </a:fontRef>
        </p:style>
      </p:cxnSp>
      <p:sp>
        <p:nvSpPr>
          <p:cNvPr id="29" name="Demo step 3"/>
          <p:cNvSpPr/>
          <p:nvPr/>
        </p:nvSpPr>
        <p:spPr>
          <a:xfrm>
            <a:off x="11704319" y="2697480"/>
            <a:ext cx="5029200" cy="5806440"/>
          </a:xfrm>
          <a:prstGeom prst="roundRect">
            <a:avLst>
              <a:gd name="adj" fmla="val 6000"/>
            </a:avLst>
          </a:prstGeom>
          <a:solidFill>
            <a:srgbClr val="FFFFFF">
              <a:alpha val="88000"/>
            </a:srgbClr>
          </a:solidFill>
          <a:ln w="15875">
            <a:solidFill>
              <a:srgbClr val="CFDDEC"/>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30" name="Picture 29" descr="explorer_detail.png"/>
          <p:cNvPicPr>
            <a:picLocks noChangeAspect="1"/>
          </p:cNvPicPr>
          <p:nvPr/>
        </p:nvPicPr>
        <p:blipFill>
          <a:blip r:embed="rId7"/>
          <a:stretch>
            <a:fillRect/>
          </a:stretch>
        </p:blipFill>
        <p:spPr>
          <a:xfrm>
            <a:off x="11841480" y="2834640"/>
            <a:ext cx="4754880" cy="2100072"/>
          </a:xfrm>
          <a:prstGeom prst="rect">
            <a:avLst/>
          </a:prstGeom>
          <a:ln w="19050">
            <a:solidFill>
              <a:srgbClr val="B9CBE0"/>
            </a:solidFill>
          </a:ln>
        </p:spPr>
      </p:pic>
      <p:sp>
        <p:nvSpPr>
          <p:cNvPr id="31" name="Step badge 3"/>
          <p:cNvSpPr/>
          <p:nvPr/>
        </p:nvSpPr>
        <p:spPr>
          <a:xfrm>
            <a:off x="11932919" y="5989320"/>
            <a:ext cx="685800" cy="685800"/>
          </a:xfrm>
          <a:prstGeom prst="ellipse">
            <a:avLst/>
          </a:prstGeom>
          <a:solidFill>
            <a:srgbClr val="164B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2" name="TextBox 31"/>
          <p:cNvSpPr txBox="1"/>
          <p:nvPr/>
        </p:nvSpPr>
        <p:spPr>
          <a:xfrm>
            <a:off x="11932919" y="5989320"/>
            <a:ext cx="685800" cy="685800"/>
          </a:xfrm>
          <a:prstGeom prst="rect">
            <a:avLst/>
          </a:prstGeom>
          <a:noFill/>
        </p:spPr>
        <p:txBody>
          <a:bodyPr wrap="square" lIns="0" rIns="0" tIns="0" bIns="0" anchor="ctr">
            <a:spAutoFit/>
          </a:bodyPr>
          <a:lstStyle/>
          <a:p>
            <a:pPr algn="ctr"/>
            <a:r>
              <a:rPr sz="2600" b="1" i="0">
                <a:solidFill>
                  <a:srgbClr val="FFFFFF"/>
                </a:solidFill>
                <a:latin typeface="Calibri"/>
              </a:rPr>
              <a:t>3</a:t>
            </a:r>
          </a:p>
        </p:txBody>
      </p:sp>
      <p:sp>
        <p:nvSpPr>
          <p:cNvPr id="33" name="TextBox 32"/>
          <p:cNvSpPr txBox="1"/>
          <p:nvPr/>
        </p:nvSpPr>
        <p:spPr>
          <a:xfrm>
            <a:off x="12755880" y="5943600"/>
            <a:ext cx="3840480" cy="777240"/>
          </a:xfrm>
          <a:prstGeom prst="rect">
            <a:avLst/>
          </a:prstGeom>
          <a:noFill/>
        </p:spPr>
        <p:txBody>
          <a:bodyPr wrap="square" lIns="0" rIns="0" tIns="0" bIns="0" anchor="ctr">
            <a:spAutoFit/>
          </a:bodyPr>
          <a:lstStyle/>
          <a:p>
            <a:pPr algn="l"/>
            <a:r>
              <a:rPr sz="2200" b="1" i="0">
                <a:solidFill>
                  <a:srgbClr val="164B82"/>
                </a:solidFill>
                <a:latin typeface="Calibri"/>
              </a:rPr>
              <a:t>Open one failing sentence</a:t>
            </a:r>
          </a:p>
        </p:txBody>
      </p:sp>
      <p:sp>
        <p:nvSpPr>
          <p:cNvPr id="34" name="TextBox 33"/>
          <p:cNvSpPr txBox="1"/>
          <p:nvPr/>
        </p:nvSpPr>
        <p:spPr>
          <a:xfrm>
            <a:off x="11978640" y="6858000"/>
            <a:ext cx="4526280" cy="1554480"/>
          </a:xfrm>
          <a:prstGeom prst="rect">
            <a:avLst/>
          </a:prstGeom>
          <a:noFill/>
        </p:spPr>
        <p:txBody>
          <a:bodyPr wrap="square" lIns="0" rIns="0" tIns="0" bIns="0" anchor="t">
            <a:spAutoFit/>
          </a:bodyPr>
          <a:lstStyle/>
          <a:p>
            <a:pPr algn="l"/>
            <a:r>
              <a:rPr sz="1900" b="0" i="0">
                <a:solidFill>
                  <a:srgbClr val="343434"/>
                </a:solidFill>
                <a:latin typeface="Calibri"/>
              </a:rPr>
              <a:t>Explorer: both sentences, every run's prediction, its cause</a:t>
            </a:r>
          </a:p>
        </p:txBody>
      </p:sp>
      <p:sp>
        <p:nvSpPr>
          <p:cNvPr id="35" name="Run command"/>
          <p:cNvSpPr/>
          <p:nvPr/>
        </p:nvSpPr>
        <p:spPr>
          <a:xfrm>
            <a:off x="1005840" y="8732520"/>
            <a:ext cx="15727680" cy="868680"/>
          </a:xfrm>
          <a:prstGeom prst="roundRect">
            <a:avLst>
              <a:gd name="adj" fmla="val 6000"/>
            </a:avLst>
          </a:prstGeom>
          <a:solidFill>
            <a:srgbClr val="E3EDF7">
              <a:alpha val="100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6" name="TextBox 35"/>
          <p:cNvSpPr txBox="1"/>
          <p:nvPr/>
        </p:nvSpPr>
        <p:spPr>
          <a:xfrm>
            <a:off x="1371600" y="8732520"/>
            <a:ext cx="14996159" cy="868680"/>
          </a:xfrm>
          <a:prstGeom prst="rect">
            <a:avLst/>
          </a:prstGeom>
          <a:noFill/>
        </p:spPr>
        <p:txBody>
          <a:bodyPr wrap="square" lIns="0" rIns="0" tIns="0" bIns="0" anchor="ctr">
            <a:spAutoFit/>
          </a:bodyPr>
          <a:lstStyle/>
          <a:p>
            <a:pPr algn="l"/>
            <a:r>
              <a:rPr sz="2400" b="1" i="0">
                <a:solidFill>
                  <a:srgbClr val="2F679F"/>
                </a:solidFill>
                <a:latin typeface="Calibri"/>
              </a:rPr>
              <a:t>Run:  </a:t>
            </a:r>
            <a:r>
              <a:rPr sz="2400" b="1" i="0">
                <a:solidFill>
                  <a:srgbClr val="343434"/>
                </a:solidFill>
                <a:latin typeface="Courier New"/>
              </a:rPr>
              <a:t>streamlit run dashboard/app.py</a:t>
            </a:r>
            <a:r>
              <a:rPr sz="1800" b="0" i="0">
                <a:solidFill>
                  <a:srgbClr val="5B6B7B"/>
                </a:solidFill>
                <a:latin typeface="Calibri"/>
              </a:rPr>
              <a:t>      read-only · loads no model · writes nothing</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name="Freeform 2" id="2"/>
          <p:cNvSpPr/>
          <p:nvPr/>
        </p:nvSpPr>
        <p:spPr>
          <a:xfrm flipH="false" flipV="false" rot="225008">
            <a:off x="-467361" y="-2757747"/>
            <a:ext cx="12701350" cy="5382197"/>
          </a:xfrm>
          <a:custGeom>
            <a:avLst/>
            <a:gdLst/>
            <a:ahLst/>
            <a:cxnLst/>
            <a:rect r="r" b="b" t="t" l="l"/>
            <a:pathLst>
              <a:path h="5382197" w="12701350">
                <a:moveTo>
                  <a:pt x="0" y="0"/>
                </a:moveTo>
                <a:lnTo>
                  <a:pt x="12701349" y="0"/>
                </a:lnTo>
                <a:lnTo>
                  <a:pt x="12701349" y="5382197"/>
                </a:lnTo>
                <a:lnTo>
                  <a:pt x="0" y="5382197"/>
                </a:lnTo>
                <a:lnTo>
                  <a:pt x="0" y="0"/>
                </a:lnTo>
                <a:close/>
              </a:path>
            </a:pathLst>
          </a:custGeom>
          <a:blipFill>
            <a:blip r:embed="rId2"/>
            <a:stretch>
              <a:fillRect l="0" t="0" r="0" b="0"/>
            </a:stretch>
          </a:blipFill>
        </p:spPr>
      </p:sp>
      <p:sp>
        <p:nvSpPr>
          <p:cNvPr name="Freeform 3" id="3"/>
          <p:cNvSpPr/>
          <p:nvPr/>
        </p:nvSpPr>
        <p:spPr>
          <a:xfrm flipH="false" flipV="false" rot="0">
            <a:off x="10986204" y="6250419"/>
            <a:ext cx="11514218" cy="8506128"/>
          </a:xfrm>
          <a:custGeom>
            <a:avLst/>
            <a:gdLst/>
            <a:ahLst/>
            <a:cxnLst/>
            <a:rect r="r" b="b" t="t" l="l"/>
            <a:pathLst>
              <a:path h="8506128" w="11514218">
                <a:moveTo>
                  <a:pt x="0" y="0"/>
                </a:moveTo>
                <a:lnTo>
                  <a:pt x="11514218" y="0"/>
                </a:lnTo>
                <a:lnTo>
                  <a:pt x="11514218" y="8506128"/>
                </a:lnTo>
                <a:lnTo>
                  <a:pt x="0" y="8506128"/>
                </a:lnTo>
                <a:lnTo>
                  <a:pt x="0" y="0"/>
                </a:lnTo>
                <a:close/>
              </a:path>
            </a:pathLst>
          </a:custGeom>
          <a:blipFill>
            <a:blip r:embed="rId3"/>
            <a:stretch>
              <a:fillRect l="0" t="0" r="0" b="0"/>
            </a:stretch>
          </a:blipFill>
        </p:spPr>
      </p:sp>
      <p:grpSp>
        <p:nvGrpSpPr>
          <p:cNvPr name="Group 4" id="4"/>
          <p:cNvGrpSpPr/>
          <p:nvPr/>
        </p:nvGrpSpPr>
        <p:grpSpPr>
          <a:xfrm rot="0">
            <a:off x="17259300" y="-392510"/>
            <a:ext cx="1437565" cy="11072020"/>
            <a:chOff x="0" y="0"/>
            <a:chExt cx="378618" cy="2916088"/>
          </a:xfrm>
        </p:grpSpPr>
        <p:sp>
          <p:nvSpPr>
            <p:cNvPr name="Freeform 5" id="5"/>
            <p:cNvSpPr/>
            <p:nvPr/>
          </p:nvSpPr>
          <p:spPr>
            <a:xfrm flipH="false" flipV="false" rot="0">
              <a:off x="0" y="0"/>
              <a:ext cx="378618" cy="2916088"/>
            </a:xfrm>
            <a:custGeom>
              <a:avLst/>
              <a:gdLst/>
              <a:ahLst/>
              <a:cxnLst/>
              <a:rect r="r" b="b" t="t" l="l"/>
              <a:pathLst>
                <a:path h="2916088" w="378618">
                  <a:moveTo>
                    <a:pt x="0" y="0"/>
                  </a:moveTo>
                  <a:lnTo>
                    <a:pt x="378618" y="0"/>
                  </a:lnTo>
                  <a:lnTo>
                    <a:pt x="378618" y="2916088"/>
                  </a:lnTo>
                  <a:lnTo>
                    <a:pt x="0" y="2916088"/>
                  </a:lnTo>
                  <a:close/>
                </a:path>
              </a:pathLst>
            </a:custGeom>
            <a:gradFill rotWithShape="true">
              <a:gsLst>
                <a:gs pos="0">
                  <a:srgbClr val="E4B795">
                    <a:alpha val="100000"/>
                  </a:srgbClr>
                </a:gs>
                <a:gs pos="50000">
                  <a:srgbClr val="699ACD">
                    <a:alpha val="100000"/>
                  </a:srgbClr>
                </a:gs>
                <a:gs pos="100000">
                  <a:srgbClr val="2F679F">
                    <a:alpha val="100000"/>
                  </a:srgbClr>
                </a:gs>
              </a:gsLst>
              <a:path path="circle">
                <a:fillToRect l="0" r="100000" t="0" b="100000"/>
              </a:path>
              <a:tileRect r="0" l="-100000" b="0" t="-100000"/>
            </a:gradFill>
          </p:spPr>
        </p:sp>
        <p:sp>
          <p:nvSpPr>
            <p:cNvPr name="TextBox 6" id="6"/>
            <p:cNvSpPr txBox="true"/>
            <p:nvPr/>
          </p:nvSpPr>
          <p:spPr>
            <a:xfrm>
              <a:off x="0" y="-57150"/>
              <a:ext cx="378618" cy="2973238"/>
            </a:xfrm>
            <a:prstGeom prst="rect">
              <a:avLst/>
            </a:prstGeom>
          </p:spPr>
          <p:txBody>
            <a:bodyPr anchor="ctr" rtlCol="false" tIns="50800" lIns="50800" bIns="50800" rIns="50800"/>
            <a:lstStyle/>
            <a:p>
              <a:pPr algn="ctr">
                <a:lnSpc>
                  <a:spcPts val="3639"/>
                </a:lnSpc>
              </a:pPr>
            </a:p>
          </p:txBody>
        </p:sp>
      </p:grpSp>
      <p:sp>
        <p:nvSpPr>
          <p:cNvPr name="TextBox 7" id="7"/>
          <p:cNvSpPr txBox="true"/>
          <p:nvPr/>
        </p:nvSpPr>
        <p:spPr>
          <a:xfrm rot="0">
            <a:off x="8021110" y="782737"/>
            <a:ext cx="2492949" cy="351790"/>
          </a:xfrm>
          <a:prstGeom prst="rect">
            <a:avLst/>
          </a:prstGeom>
        </p:spPr>
        <p:txBody>
          <a:bodyPr anchor="t" rtlCol="false" tIns="0" lIns="0" bIns="0" rIns="0">
            <a:spAutoFit/>
          </a:bodyPr>
          <a:lstStyle/>
          <a:p>
            <a:pPr algn="l">
              <a:lnSpc>
                <a:spcPts val="2660"/>
              </a:lnSpc>
              <a:spcBef>
                <a:spcPct val="0"/>
              </a:spcBef>
            </a:pPr>
            <a:r>
              <a:rPr lang="en-US" sz="1900" spc="95">
                <a:solidFill>
                  <a:srgbClr val="164B82"/>
                </a:solidFill>
                <a:latin typeface="Calibri"/>
                <a:ea typeface="Telegraf Extra-Light"/>
                <a:cs typeface="Telegraf Extra-Light"/>
                <a:sym typeface="Telegraf Extra-Light"/>
              </a:rPr>
              <a:t>BCSE497J · Project I</a:t>
            </a:r>
          </a:p>
        </p:txBody>
      </p:sp>
      <p:sp>
        <p:nvSpPr>
          <p:cNvPr name="TextBox 8" id="8"/>
          <p:cNvSpPr txBox="true"/>
          <p:nvPr/>
        </p:nvSpPr>
        <p:spPr>
          <a:xfrm rot="0">
            <a:off x="13305333" y="782737"/>
            <a:ext cx="1819999" cy="351790"/>
          </a:xfrm>
          <a:prstGeom prst="rect">
            <a:avLst/>
          </a:prstGeom>
        </p:spPr>
        <p:txBody>
          <a:bodyPr anchor="t" rtlCol="false" tIns="0" lIns="0" bIns="0" rIns="0">
            <a:spAutoFit/>
          </a:bodyPr>
          <a:lstStyle/>
          <a:p>
            <a:pPr algn="r">
              <a:lnSpc>
                <a:spcPts val="2660"/>
              </a:lnSpc>
              <a:spcBef>
                <a:spcPct val="0"/>
              </a:spcBef>
            </a:pPr>
            <a:r>
              <a:rPr lang="en-US" sz="1900" spc="95">
                <a:solidFill>
                  <a:srgbClr val="164B82"/>
                </a:solidFill>
                <a:latin typeface="Calibri"/>
                <a:ea typeface="Telegraf Extra-Light"/>
                <a:cs typeface="Telegraf Extra-Light"/>
                <a:sym typeface="Telegraf Extra-Light"/>
              </a:rPr>
              <a:t>Oct 2026</a:t>
            </a:r>
          </a:p>
        </p:txBody>
      </p:sp>
      <p:sp>
        <p:nvSpPr>
          <p:cNvPr name="TextBox 9" id="9"/>
          <p:cNvSpPr txBox="true"/>
          <p:nvPr/>
        </p:nvSpPr>
        <p:spPr>
          <a:xfrm rot="0">
            <a:off x="11045641" y="782737"/>
            <a:ext cx="1819999" cy="351790"/>
          </a:xfrm>
          <a:prstGeom prst="rect">
            <a:avLst/>
          </a:prstGeom>
        </p:spPr>
        <p:txBody>
          <a:bodyPr anchor="t" rtlCol="false" tIns="0" lIns="0" bIns="0" rIns="0">
            <a:spAutoFit/>
          </a:bodyPr>
          <a:lstStyle/>
          <a:p>
            <a:pPr algn="ctr">
              <a:lnSpc>
                <a:spcPts val="2660"/>
              </a:lnSpc>
              <a:spcBef>
                <a:spcPct val="0"/>
              </a:spcBef>
            </a:pPr>
            <a:r>
              <a:rPr lang="en-US" sz="1900" spc="95">
                <a:solidFill>
                  <a:srgbClr val="164B82"/>
                </a:solidFill>
                <a:latin typeface="Calibri"/>
                <a:ea typeface="Telegraf Extra-Light"/>
                <a:cs typeface="Telegraf Extra-Light"/>
                <a:sym typeface="Telegraf Extra-Light"/>
              </a:rPr>
              <a:t>Guide Review</a:t>
            </a:r>
          </a:p>
        </p:txBody>
      </p:sp>
      <p:grpSp>
        <p:nvGrpSpPr>
          <p:cNvPr name="Group 10" id="10"/>
          <p:cNvGrpSpPr/>
          <p:nvPr/>
        </p:nvGrpSpPr>
        <p:grpSpPr>
          <a:xfrm rot="5400000">
            <a:off x="11279340" y="-3711595"/>
            <a:ext cx="643045" cy="9407130"/>
            <a:chOff x="0" y="0"/>
            <a:chExt cx="169362" cy="2477598"/>
          </a:xfrm>
        </p:grpSpPr>
        <p:sp>
          <p:nvSpPr>
            <p:cNvPr name="Freeform 11" id="11"/>
            <p:cNvSpPr/>
            <p:nvPr/>
          </p:nvSpPr>
          <p:spPr>
            <a:xfrm flipH="false" flipV="false" rot="0">
              <a:off x="0" y="0"/>
              <a:ext cx="169362" cy="2477598"/>
            </a:xfrm>
            <a:custGeom>
              <a:avLst/>
              <a:gdLst/>
              <a:ahLst/>
              <a:cxnLst/>
              <a:rect r="r" b="b" t="t" l="l"/>
              <a:pathLst>
                <a:path h="2477598" w="169362">
                  <a:moveTo>
                    <a:pt x="84681" y="0"/>
                  </a:moveTo>
                  <a:lnTo>
                    <a:pt x="84681" y="0"/>
                  </a:lnTo>
                  <a:cubicBezTo>
                    <a:pt x="107140" y="0"/>
                    <a:pt x="128678" y="8922"/>
                    <a:pt x="144559" y="24802"/>
                  </a:cubicBezTo>
                  <a:cubicBezTo>
                    <a:pt x="160440" y="40683"/>
                    <a:pt x="169362" y="62222"/>
                    <a:pt x="169362" y="84681"/>
                  </a:cubicBezTo>
                  <a:lnTo>
                    <a:pt x="169362" y="2392917"/>
                  </a:lnTo>
                  <a:cubicBezTo>
                    <a:pt x="169362" y="2439685"/>
                    <a:pt x="131449" y="2477598"/>
                    <a:pt x="84681" y="2477598"/>
                  </a:cubicBezTo>
                  <a:lnTo>
                    <a:pt x="84681" y="2477598"/>
                  </a:lnTo>
                  <a:cubicBezTo>
                    <a:pt x="37913" y="2477598"/>
                    <a:pt x="0" y="2439685"/>
                    <a:pt x="0" y="2392917"/>
                  </a:cubicBezTo>
                  <a:lnTo>
                    <a:pt x="0" y="84681"/>
                  </a:lnTo>
                  <a:cubicBezTo>
                    <a:pt x="0" y="37913"/>
                    <a:pt x="37913" y="0"/>
                    <a:pt x="84681" y="0"/>
                  </a:cubicBezTo>
                  <a:close/>
                </a:path>
              </a:pathLst>
            </a:custGeom>
            <a:ln w="19050" cap="rnd">
              <a:solidFill>
                <a:srgbClr val="164B82"/>
              </a:solidFill>
              <a:prstDash val="solid"/>
              <a:round/>
            </a:ln>
          </p:spPr>
        </p:sp>
        <p:sp>
          <p:nvSpPr>
            <p:cNvPr name="TextBox 12" id="12"/>
            <p:cNvSpPr txBox="true"/>
            <p:nvPr/>
          </p:nvSpPr>
          <p:spPr>
            <a:xfrm>
              <a:off x="0" y="-57150"/>
              <a:ext cx="169362" cy="2534748"/>
            </a:xfrm>
            <a:prstGeom prst="rect">
              <a:avLst/>
            </a:prstGeom>
          </p:spPr>
          <p:txBody>
            <a:bodyPr anchor="ctr" rtlCol="false" tIns="50800" lIns="50800" bIns="50800" rIns="50800"/>
            <a:lstStyle/>
            <a:p>
              <a:pPr algn="ctr">
                <a:lnSpc>
                  <a:spcPts val="3639"/>
                </a:lnSpc>
              </a:pPr>
            </a:p>
          </p:txBody>
        </p:sp>
      </p:grpSp>
      <p:sp>
        <p:nvSpPr>
          <p:cNvPr id="13" name="Title"/>
          <p:cNvSpPr txBox="1"/>
          <p:nvPr/>
        </p:nvSpPr>
        <p:spPr>
          <a:xfrm>
            <a:off x="1005840" y="1371600"/>
            <a:ext cx="15727680" cy="1097280"/>
          </a:xfrm>
          <a:prstGeom prst="rect">
            <a:avLst/>
          </a:prstGeom>
          <a:noFill/>
        </p:spPr>
        <p:txBody>
          <a:bodyPr wrap="square" lIns="0" rIns="0" tIns="0" bIns="0" anchor="ctr">
            <a:spAutoFit/>
          </a:bodyPr>
          <a:lstStyle/>
          <a:p>
            <a:pPr algn="l"/>
            <a:r>
              <a:rPr sz="4800" b="1" i="0">
                <a:solidFill>
                  <a:srgbClr val="343434"/>
                </a:solidFill>
                <a:latin typeface="Calibri"/>
              </a:rPr>
              <a:t>Demo: The Dashboard in Action</a:t>
            </a:r>
          </a:p>
        </p:txBody>
      </p:sp>
      <p:sp>
        <p:nvSpPr>
          <p:cNvPr id="14" name="Page"/>
          <p:cNvSpPr txBox="1"/>
          <p:nvPr/>
        </p:nvSpPr>
        <p:spPr>
          <a:xfrm>
            <a:off x="1005840" y="9646920"/>
            <a:ext cx="3657600" cy="365760"/>
          </a:xfrm>
          <a:prstGeom prst="rect">
            <a:avLst/>
          </a:prstGeom>
          <a:noFill/>
        </p:spPr>
        <p:txBody>
          <a:bodyPr wrap="square" lIns="0" rIns="0" tIns="0" bIns="0" anchor="t">
            <a:spAutoFit/>
          </a:bodyPr>
          <a:lstStyle/>
          <a:p>
            <a:pPr algn="l"/>
            <a:r>
              <a:rPr sz="1800" b="0" i="0">
                <a:solidFill>
                  <a:srgbClr val="164B82"/>
                </a:solidFill>
                <a:latin typeface="Calibri"/>
              </a:rPr>
              <a:t>11 / 19</a:t>
            </a:r>
          </a:p>
        </p:txBody>
      </p:sp>
      <p:pic>
        <p:nvPicPr>
          <p:cNvPr id="15" name="Picture 14" descr="transfer_big.png"/>
          <p:cNvPicPr>
            <a:picLocks noChangeAspect="1"/>
          </p:cNvPicPr>
          <p:nvPr/>
        </p:nvPicPr>
        <p:blipFill>
          <a:blip r:embed="rId5"/>
          <a:stretch>
            <a:fillRect/>
          </a:stretch>
        </p:blipFill>
        <p:spPr>
          <a:xfrm>
            <a:off x="1005840" y="2697480"/>
            <a:ext cx="7680960" cy="2061556"/>
          </a:xfrm>
          <a:prstGeom prst="rect">
            <a:avLst/>
          </a:prstGeom>
          <a:ln w="19050">
            <a:solidFill>
              <a:srgbClr val="B9CBE0"/>
            </a:solidFill>
          </a:ln>
        </p:spPr>
      </p:pic>
      <p:sp>
        <p:nvSpPr>
          <p:cNvPr id="16" name="TextBox 15"/>
          <p:cNvSpPr txBox="1"/>
          <p:nvPr/>
        </p:nvSpPr>
        <p:spPr>
          <a:xfrm>
            <a:off x="1005840" y="4937760"/>
            <a:ext cx="7680960" cy="822960"/>
          </a:xfrm>
          <a:prstGeom prst="rect">
            <a:avLst/>
          </a:prstGeom>
          <a:noFill/>
        </p:spPr>
        <p:txBody>
          <a:bodyPr wrap="square" lIns="0" rIns="0" tIns="0" bIns="0" anchor="t">
            <a:spAutoFit/>
          </a:bodyPr>
          <a:lstStyle/>
          <a:p>
            <a:pPr algn="l"/>
            <a:r>
              <a:rPr sz="1900" b="0" i="0">
                <a:solidFill>
                  <a:srgbClr val="5B6B7B"/>
                </a:solidFill>
                <a:latin typeface="Calibri"/>
              </a:rPr>
              <a:t>Transfer page: task 2, F1 drop from training language (rows) to test language (columns)</a:t>
            </a:r>
          </a:p>
        </p:txBody>
      </p:sp>
      <p:pic>
        <p:nvPicPr>
          <p:cNvPr id="17" name="Picture 16" descr="causes_big.png"/>
          <p:cNvPicPr>
            <a:picLocks noChangeAspect="1"/>
          </p:cNvPicPr>
          <p:nvPr/>
        </p:nvPicPr>
        <p:blipFill>
          <a:blip r:embed="rId6"/>
          <a:stretch>
            <a:fillRect/>
          </a:stretch>
        </p:blipFill>
        <p:spPr>
          <a:xfrm>
            <a:off x="9052560" y="2697480"/>
            <a:ext cx="6858000" cy="2553195"/>
          </a:xfrm>
          <a:prstGeom prst="rect">
            <a:avLst/>
          </a:prstGeom>
          <a:ln w="19050">
            <a:solidFill>
              <a:srgbClr val="B9CBE0"/>
            </a:solidFill>
          </a:ln>
        </p:spPr>
      </p:pic>
      <p:sp>
        <p:nvSpPr>
          <p:cNvPr id="18" name="TextBox 17"/>
          <p:cNvSpPr txBox="1"/>
          <p:nvPr/>
        </p:nvSpPr>
        <p:spPr>
          <a:xfrm>
            <a:off x="9052560" y="5394960"/>
            <a:ext cx="7680960" cy="548640"/>
          </a:xfrm>
          <a:prstGeom prst="rect">
            <a:avLst/>
          </a:prstGeom>
          <a:noFill/>
        </p:spPr>
        <p:txBody>
          <a:bodyPr wrap="square" lIns="0" rIns="0" tIns="0" bIns="0" anchor="t">
            <a:spAutoFit/>
          </a:bodyPr>
          <a:lstStyle/>
          <a:p>
            <a:pPr algn="l"/>
            <a:r>
              <a:rPr sz="1900" b="0" i="0">
                <a:solidFill>
                  <a:srgbClr val="5B6B7B"/>
                </a:solidFill>
                <a:latin typeface="Calibri"/>
              </a:rPr>
              <a:t>Causes page: what each setup's failures are made of</a:t>
            </a:r>
          </a:p>
        </p:txBody>
      </p:sp>
      <p:pic>
        <p:nvPicPr>
          <p:cNvPr id="19" name="Picture 18" descr="explorer_big.png"/>
          <p:cNvPicPr>
            <a:picLocks noChangeAspect="1"/>
          </p:cNvPicPr>
          <p:nvPr/>
        </p:nvPicPr>
        <p:blipFill>
          <a:blip r:embed="rId7"/>
          <a:stretch>
            <a:fillRect/>
          </a:stretch>
        </p:blipFill>
        <p:spPr>
          <a:xfrm>
            <a:off x="1005840" y="6035040"/>
            <a:ext cx="7863840" cy="3404260"/>
          </a:xfrm>
          <a:prstGeom prst="rect">
            <a:avLst/>
          </a:prstGeom>
          <a:ln w="19050">
            <a:solidFill>
              <a:srgbClr val="B9CBE0"/>
            </a:solidFill>
          </a:ln>
        </p:spPr>
      </p:pic>
      <p:sp>
        <p:nvSpPr>
          <p:cNvPr id="20" name="Explorer notes"/>
          <p:cNvSpPr/>
          <p:nvPr/>
        </p:nvSpPr>
        <p:spPr>
          <a:xfrm>
            <a:off x="9235440" y="6035040"/>
            <a:ext cx="7498079" cy="3291840"/>
          </a:xfrm>
          <a:prstGeom prst="roundRect">
            <a:avLst>
              <a:gd name="adj" fmla="val 6000"/>
            </a:avLst>
          </a:prstGeom>
          <a:solidFill>
            <a:srgbClr val="FFFFFF">
              <a:alpha val="88000"/>
            </a:srgbClr>
          </a:solidFill>
          <a:ln w="15875">
            <a:solidFill>
              <a:srgbClr val="CFDDEC"/>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TextBox 20"/>
          <p:cNvSpPr txBox="1"/>
          <p:nvPr/>
        </p:nvSpPr>
        <p:spPr>
          <a:xfrm>
            <a:off x="9601200" y="6217920"/>
            <a:ext cx="6766560" cy="457200"/>
          </a:xfrm>
          <a:prstGeom prst="rect">
            <a:avLst/>
          </a:prstGeom>
          <a:noFill/>
        </p:spPr>
        <p:txBody>
          <a:bodyPr wrap="square" lIns="0" rIns="0" tIns="0" bIns="0" anchor="t">
            <a:spAutoFit/>
          </a:bodyPr>
          <a:lstStyle/>
          <a:p>
            <a:pPr algn="l"/>
            <a:r>
              <a:rPr sz="2000" b="1" i="0">
                <a:solidFill>
                  <a:srgbClr val="2F679F"/>
                </a:solidFill>
                <a:latin typeface="Calibri"/>
              </a:rPr>
              <a:t>EXPLORER: ONE FAILURE</a:t>
            </a:r>
          </a:p>
        </p:txBody>
      </p:sp>
      <p:sp>
        <p:nvSpPr>
          <p:cNvPr id="22" name="TextBox 21"/>
          <p:cNvSpPr txBox="1"/>
          <p:nvPr/>
        </p:nvSpPr>
        <p:spPr>
          <a:xfrm>
            <a:off x="9601200" y="6812280"/>
            <a:ext cx="6858000" cy="2468880"/>
          </a:xfrm>
          <a:prstGeom prst="rect">
            <a:avLst/>
          </a:prstGeom>
          <a:noFill/>
        </p:spPr>
        <p:txBody>
          <a:bodyPr wrap="square" lIns="0" rIns="0" tIns="0" bIns="0">
            <a:spAutoFit/>
          </a:bodyPr>
          <a:lstStyle/>
          <a:p>
            <a:pPr marL="384048" indent="-384048">
              <a:spcAft>
                <a:spcPts val="800"/>
              </a:spcAft>
              <a:buClr>
                <a:srgbClr val="2F679F"/>
              </a:buClr>
              <a:buFont typeface="Arial"/>
              <a:buChar char="•"/>
            </a:pPr>
            <a:r>
              <a:rPr sz="2400" b="0">
                <a:solidFill>
                  <a:srgbClr val="343434"/>
                </a:solidFill>
                <a:latin typeface="Calibri"/>
              </a:rPr>
              <a:t>Hindi sentence: correct</a:t>
            </a:r>
          </a:p>
          <a:p>
            <a:pPr marL="384048" indent="-384048">
              <a:spcAft>
                <a:spcPts val="800"/>
              </a:spcAft>
              <a:buClr>
                <a:srgbClr val="2F679F"/>
              </a:buClr>
              <a:buFont typeface="Arial"/>
              <a:buChar char="•"/>
            </a:pPr>
            <a:r>
              <a:rPr sz="2400" b="0">
                <a:solidFill>
                  <a:srgbClr val="343434"/>
                </a:solidFill>
                <a:latin typeface="Calibri"/>
              </a:rPr>
              <a:t>Bengali counterpart: wrong</a:t>
            </a:r>
          </a:p>
          <a:p>
            <a:pPr marL="384048" indent="-384048">
              <a:spcAft>
                <a:spcPts val="800"/>
              </a:spcAft>
              <a:buClr>
                <a:srgbClr val="2F679F"/>
              </a:buClr>
              <a:buFont typeface="Arial"/>
              <a:buChar char="•"/>
            </a:pPr>
            <a:r>
              <a:rPr sz="2400" b="0">
                <a:solidFill>
                  <a:srgbClr val="343434"/>
                </a:solidFill>
                <a:latin typeface="Calibri"/>
              </a:rPr>
              <a:t>Every run's prediction shown</a:t>
            </a:r>
          </a:p>
          <a:p>
            <a:pPr marL="384048" indent="-384048">
              <a:spcAft>
                <a:spcPts val="800"/>
              </a:spcAft>
              <a:buClr>
                <a:srgbClr val="2F679F"/>
              </a:buClr>
              <a:buFont typeface="Arial"/>
              <a:buChar char="•"/>
            </a:pPr>
            <a:r>
              <a:rPr sz="2400" b="0">
                <a:solidFill>
                  <a:srgbClr val="343434"/>
                </a:solidFill>
                <a:latin typeface="Calibri"/>
              </a:rPr>
              <a:t>Cause label for each failure</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name="Freeform 2" id="2"/>
          <p:cNvSpPr/>
          <p:nvPr/>
        </p:nvSpPr>
        <p:spPr>
          <a:xfrm flipH="false" flipV="false" rot="225008">
            <a:off x="-467361" y="-2757747"/>
            <a:ext cx="12701350" cy="5382197"/>
          </a:xfrm>
          <a:custGeom>
            <a:avLst/>
            <a:gdLst/>
            <a:ahLst/>
            <a:cxnLst/>
            <a:rect r="r" b="b" t="t" l="l"/>
            <a:pathLst>
              <a:path h="5382197" w="12701350">
                <a:moveTo>
                  <a:pt x="0" y="0"/>
                </a:moveTo>
                <a:lnTo>
                  <a:pt x="12701349" y="0"/>
                </a:lnTo>
                <a:lnTo>
                  <a:pt x="12701349" y="5382197"/>
                </a:lnTo>
                <a:lnTo>
                  <a:pt x="0" y="5382197"/>
                </a:lnTo>
                <a:lnTo>
                  <a:pt x="0" y="0"/>
                </a:lnTo>
                <a:close/>
              </a:path>
            </a:pathLst>
          </a:custGeom>
          <a:blipFill>
            <a:blip r:embed="rId2"/>
            <a:stretch>
              <a:fillRect l="0" t="0" r="0" b="0"/>
            </a:stretch>
          </a:blipFill>
        </p:spPr>
      </p:sp>
      <p:sp>
        <p:nvSpPr>
          <p:cNvPr name="Freeform 3" id="3"/>
          <p:cNvSpPr/>
          <p:nvPr/>
        </p:nvSpPr>
        <p:spPr>
          <a:xfrm flipH="false" flipV="false" rot="0">
            <a:off x="10986204" y="6250419"/>
            <a:ext cx="11514218" cy="8506128"/>
          </a:xfrm>
          <a:custGeom>
            <a:avLst/>
            <a:gdLst/>
            <a:ahLst/>
            <a:cxnLst/>
            <a:rect r="r" b="b" t="t" l="l"/>
            <a:pathLst>
              <a:path h="8506128" w="11514218">
                <a:moveTo>
                  <a:pt x="0" y="0"/>
                </a:moveTo>
                <a:lnTo>
                  <a:pt x="11514218" y="0"/>
                </a:lnTo>
                <a:lnTo>
                  <a:pt x="11514218" y="8506128"/>
                </a:lnTo>
                <a:lnTo>
                  <a:pt x="0" y="8506128"/>
                </a:lnTo>
                <a:lnTo>
                  <a:pt x="0" y="0"/>
                </a:lnTo>
                <a:close/>
              </a:path>
            </a:pathLst>
          </a:custGeom>
          <a:blipFill>
            <a:blip r:embed="rId3"/>
            <a:stretch>
              <a:fillRect l="0" t="0" r="0" b="0"/>
            </a:stretch>
          </a:blipFill>
        </p:spPr>
      </p:sp>
      <p:grpSp>
        <p:nvGrpSpPr>
          <p:cNvPr name="Group 4" id="4"/>
          <p:cNvGrpSpPr/>
          <p:nvPr/>
        </p:nvGrpSpPr>
        <p:grpSpPr>
          <a:xfrm rot="0">
            <a:off x="17259300" y="-392510"/>
            <a:ext cx="1437565" cy="11072020"/>
            <a:chOff x="0" y="0"/>
            <a:chExt cx="378618" cy="2916088"/>
          </a:xfrm>
        </p:grpSpPr>
        <p:sp>
          <p:nvSpPr>
            <p:cNvPr name="Freeform 5" id="5"/>
            <p:cNvSpPr/>
            <p:nvPr/>
          </p:nvSpPr>
          <p:spPr>
            <a:xfrm flipH="false" flipV="false" rot="0">
              <a:off x="0" y="0"/>
              <a:ext cx="378618" cy="2916088"/>
            </a:xfrm>
            <a:custGeom>
              <a:avLst/>
              <a:gdLst/>
              <a:ahLst/>
              <a:cxnLst/>
              <a:rect r="r" b="b" t="t" l="l"/>
              <a:pathLst>
                <a:path h="2916088" w="378618">
                  <a:moveTo>
                    <a:pt x="0" y="0"/>
                  </a:moveTo>
                  <a:lnTo>
                    <a:pt x="378618" y="0"/>
                  </a:lnTo>
                  <a:lnTo>
                    <a:pt x="378618" y="2916088"/>
                  </a:lnTo>
                  <a:lnTo>
                    <a:pt x="0" y="2916088"/>
                  </a:lnTo>
                  <a:close/>
                </a:path>
              </a:pathLst>
            </a:custGeom>
            <a:gradFill rotWithShape="true">
              <a:gsLst>
                <a:gs pos="0">
                  <a:srgbClr val="E4B795">
                    <a:alpha val="100000"/>
                  </a:srgbClr>
                </a:gs>
                <a:gs pos="50000">
                  <a:srgbClr val="699ACD">
                    <a:alpha val="100000"/>
                  </a:srgbClr>
                </a:gs>
                <a:gs pos="100000">
                  <a:srgbClr val="2F679F">
                    <a:alpha val="100000"/>
                  </a:srgbClr>
                </a:gs>
              </a:gsLst>
              <a:path path="circle">
                <a:fillToRect l="0" r="100000" t="0" b="100000"/>
              </a:path>
              <a:tileRect r="0" l="-100000" b="0" t="-100000"/>
            </a:gradFill>
          </p:spPr>
        </p:sp>
        <p:sp>
          <p:nvSpPr>
            <p:cNvPr name="TextBox 6" id="6"/>
            <p:cNvSpPr txBox="true"/>
            <p:nvPr/>
          </p:nvSpPr>
          <p:spPr>
            <a:xfrm>
              <a:off x="0" y="-57150"/>
              <a:ext cx="378618" cy="2973238"/>
            </a:xfrm>
            <a:prstGeom prst="rect">
              <a:avLst/>
            </a:prstGeom>
          </p:spPr>
          <p:txBody>
            <a:bodyPr anchor="ctr" rtlCol="false" tIns="50800" lIns="50800" bIns="50800" rIns="50800"/>
            <a:lstStyle/>
            <a:p>
              <a:pPr algn="ctr">
                <a:lnSpc>
                  <a:spcPts val="3639"/>
                </a:lnSpc>
              </a:pPr>
            </a:p>
          </p:txBody>
        </p:sp>
      </p:grpSp>
      <p:sp>
        <p:nvSpPr>
          <p:cNvPr name="TextBox 7" id="7"/>
          <p:cNvSpPr txBox="true"/>
          <p:nvPr/>
        </p:nvSpPr>
        <p:spPr>
          <a:xfrm rot="0">
            <a:off x="8021110" y="782737"/>
            <a:ext cx="2492949" cy="351790"/>
          </a:xfrm>
          <a:prstGeom prst="rect">
            <a:avLst/>
          </a:prstGeom>
        </p:spPr>
        <p:txBody>
          <a:bodyPr anchor="t" rtlCol="false" tIns="0" lIns="0" bIns="0" rIns="0">
            <a:spAutoFit/>
          </a:bodyPr>
          <a:lstStyle/>
          <a:p>
            <a:pPr algn="l">
              <a:lnSpc>
                <a:spcPts val="2660"/>
              </a:lnSpc>
              <a:spcBef>
                <a:spcPct val="0"/>
              </a:spcBef>
            </a:pPr>
            <a:r>
              <a:rPr lang="en-US" sz="1900" spc="95">
                <a:solidFill>
                  <a:srgbClr val="164B82"/>
                </a:solidFill>
                <a:latin typeface="Calibri"/>
                <a:ea typeface="Telegraf Extra-Light"/>
                <a:cs typeface="Telegraf Extra-Light"/>
                <a:sym typeface="Telegraf Extra-Light"/>
              </a:rPr>
              <a:t>BCSE497J · Project I</a:t>
            </a:r>
          </a:p>
        </p:txBody>
      </p:sp>
      <p:sp>
        <p:nvSpPr>
          <p:cNvPr name="TextBox 8" id="8"/>
          <p:cNvSpPr txBox="true"/>
          <p:nvPr/>
        </p:nvSpPr>
        <p:spPr>
          <a:xfrm rot="0">
            <a:off x="13305333" y="782737"/>
            <a:ext cx="1819999" cy="351790"/>
          </a:xfrm>
          <a:prstGeom prst="rect">
            <a:avLst/>
          </a:prstGeom>
        </p:spPr>
        <p:txBody>
          <a:bodyPr anchor="t" rtlCol="false" tIns="0" lIns="0" bIns="0" rIns="0">
            <a:spAutoFit/>
          </a:bodyPr>
          <a:lstStyle/>
          <a:p>
            <a:pPr algn="r">
              <a:lnSpc>
                <a:spcPts val="2660"/>
              </a:lnSpc>
              <a:spcBef>
                <a:spcPct val="0"/>
              </a:spcBef>
            </a:pPr>
            <a:r>
              <a:rPr lang="en-US" sz="1900" spc="95">
                <a:solidFill>
                  <a:srgbClr val="164B82"/>
                </a:solidFill>
                <a:latin typeface="Calibri"/>
                <a:ea typeface="Telegraf Extra-Light"/>
                <a:cs typeface="Telegraf Extra-Light"/>
                <a:sym typeface="Telegraf Extra-Light"/>
              </a:rPr>
              <a:t>Oct 2026</a:t>
            </a:r>
          </a:p>
        </p:txBody>
      </p:sp>
      <p:sp>
        <p:nvSpPr>
          <p:cNvPr name="TextBox 9" id="9"/>
          <p:cNvSpPr txBox="true"/>
          <p:nvPr/>
        </p:nvSpPr>
        <p:spPr>
          <a:xfrm rot="0">
            <a:off x="11045641" y="782737"/>
            <a:ext cx="1819999" cy="351790"/>
          </a:xfrm>
          <a:prstGeom prst="rect">
            <a:avLst/>
          </a:prstGeom>
        </p:spPr>
        <p:txBody>
          <a:bodyPr anchor="t" rtlCol="false" tIns="0" lIns="0" bIns="0" rIns="0">
            <a:spAutoFit/>
          </a:bodyPr>
          <a:lstStyle/>
          <a:p>
            <a:pPr algn="ctr">
              <a:lnSpc>
                <a:spcPts val="2660"/>
              </a:lnSpc>
              <a:spcBef>
                <a:spcPct val="0"/>
              </a:spcBef>
            </a:pPr>
            <a:r>
              <a:rPr lang="en-US" sz="1900" spc="95">
                <a:solidFill>
                  <a:srgbClr val="164B82"/>
                </a:solidFill>
                <a:latin typeface="Calibri"/>
                <a:ea typeface="Telegraf Extra-Light"/>
                <a:cs typeface="Telegraf Extra-Light"/>
                <a:sym typeface="Telegraf Extra-Light"/>
              </a:rPr>
              <a:t>Guide Review</a:t>
            </a:r>
          </a:p>
        </p:txBody>
      </p:sp>
      <p:grpSp>
        <p:nvGrpSpPr>
          <p:cNvPr name="Group 10" id="10"/>
          <p:cNvGrpSpPr/>
          <p:nvPr/>
        </p:nvGrpSpPr>
        <p:grpSpPr>
          <a:xfrm rot="5400000">
            <a:off x="11279340" y="-3711595"/>
            <a:ext cx="643045" cy="9407130"/>
            <a:chOff x="0" y="0"/>
            <a:chExt cx="169362" cy="2477598"/>
          </a:xfrm>
        </p:grpSpPr>
        <p:sp>
          <p:nvSpPr>
            <p:cNvPr name="Freeform 11" id="11"/>
            <p:cNvSpPr/>
            <p:nvPr/>
          </p:nvSpPr>
          <p:spPr>
            <a:xfrm flipH="false" flipV="false" rot="0">
              <a:off x="0" y="0"/>
              <a:ext cx="169362" cy="2477598"/>
            </a:xfrm>
            <a:custGeom>
              <a:avLst/>
              <a:gdLst/>
              <a:ahLst/>
              <a:cxnLst/>
              <a:rect r="r" b="b" t="t" l="l"/>
              <a:pathLst>
                <a:path h="2477598" w="169362">
                  <a:moveTo>
                    <a:pt x="84681" y="0"/>
                  </a:moveTo>
                  <a:lnTo>
                    <a:pt x="84681" y="0"/>
                  </a:lnTo>
                  <a:cubicBezTo>
                    <a:pt x="107140" y="0"/>
                    <a:pt x="128678" y="8922"/>
                    <a:pt x="144559" y="24802"/>
                  </a:cubicBezTo>
                  <a:cubicBezTo>
                    <a:pt x="160440" y="40683"/>
                    <a:pt x="169362" y="62222"/>
                    <a:pt x="169362" y="84681"/>
                  </a:cubicBezTo>
                  <a:lnTo>
                    <a:pt x="169362" y="2392917"/>
                  </a:lnTo>
                  <a:cubicBezTo>
                    <a:pt x="169362" y="2439685"/>
                    <a:pt x="131449" y="2477598"/>
                    <a:pt x="84681" y="2477598"/>
                  </a:cubicBezTo>
                  <a:lnTo>
                    <a:pt x="84681" y="2477598"/>
                  </a:lnTo>
                  <a:cubicBezTo>
                    <a:pt x="37913" y="2477598"/>
                    <a:pt x="0" y="2439685"/>
                    <a:pt x="0" y="2392917"/>
                  </a:cubicBezTo>
                  <a:lnTo>
                    <a:pt x="0" y="84681"/>
                  </a:lnTo>
                  <a:cubicBezTo>
                    <a:pt x="0" y="37913"/>
                    <a:pt x="37913" y="0"/>
                    <a:pt x="84681" y="0"/>
                  </a:cubicBezTo>
                  <a:close/>
                </a:path>
              </a:pathLst>
            </a:custGeom>
            <a:ln w="19050" cap="rnd">
              <a:solidFill>
                <a:srgbClr val="164B82"/>
              </a:solidFill>
              <a:prstDash val="solid"/>
              <a:round/>
            </a:ln>
          </p:spPr>
        </p:sp>
        <p:sp>
          <p:nvSpPr>
            <p:cNvPr name="TextBox 12" id="12"/>
            <p:cNvSpPr txBox="true"/>
            <p:nvPr/>
          </p:nvSpPr>
          <p:spPr>
            <a:xfrm>
              <a:off x="0" y="-57150"/>
              <a:ext cx="169362" cy="2534748"/>
            </a:xfrm>
            <a:prstGeom prst="rect">
              <a:avLst/>
            </a:prstGeom>
          </p:spPr>
          <p:txBody>
            <a:bodyPr anchor="ctr" rtlCol="false" tIns="50800" lIns="50800" bIns="50800" rIns="50800"/>
            <a:lstStyle/>
            <a:p>
              <a:pPr algn="ctr">
                <a:lnSpc>
                  <a:spcPts val="3639"/>
                </a:lnSpc>
              </a:pPr>
            </a:p>
          </p:txBody>
        </p:sp>
      </p:grpSp>
      <p:sp>
        <p:nvSpPr>
          <p:cNvPr id="13" name="Title"/>
          <p:cNvSpPr txBox="1"/>
          <p:nvPr/>
        </p:nvSpPr>
        <p:spPr>
          <a:xfrm>
            <a:off x="1005840" y="1371600"/>
            <a:ext cx="15727680" cy="1097280"/>
          </a:xfrm>
          <a:prstGeom prst="rect">
            <a:avLst/>
          </a:prstGeom>
          <a:noFill/>
        </p:spPr>
        <p:txBody>
          <a:bodyPr wrap="square" lIns="0" rIns="0" tIns="0" bIns="0" anchor="ctr">
            <a:spAutoFit/>
          </a:bodyPr>
          <a:lstStyle/>
          <a:p>
            <a:pPr algn="l"/>
            <a:r>
              <a:rPr sz="4800" b="1" i="0">
                <a:solidFill>
                  <a:srgbClr val="343434"/>
                </a:solidFill>
                <a:latin typeface="Calibri"/>
              </a:rPr>
              <a:t>Testing and Validation</a:t>
            </a:r>
          </a:p>
        </p:txBody>
      </p:sp>
      <p:sp>
        <p:nvSpPr>
          <p:cNvPr id="14" name="Page"/>
          <p:cNvSpPr txBox="1"/>
          <p:nvPr/>
        </p:nvSpPr>
        <p:spPr>
          <a:xfrm>
            <a:off x="1005840" y="9646920"/>
            <a:ext cx="3657600" cy="365760"/>
          </a:xfrm>
          <a:prstGeom prst="rect">
            <a:avLst/>
          </a:prstGeom>
          <a:noFill/>
        </p:spPr>
        <p:txBody>
          <a:bodyPr wrap="square" lIns="0" rIns="0" tIns="0" bIns="0" anchor="t">
            <a:spAutoFit/>
          </a:bodyPr>
          <a:lstStyle/>
          <a:p>
            <a:pPr algn="l"/>
            <a:r>
              <a:rPr sz="1800" b="0" i="0">
                <a:solidFill>
                  <a:srgbClr val="164B82"/>
                </a:solidFill>
                <a:latin typeface="Calibri"/>
              </a:rPr>
              <a:t>12 / 19</a:t>
            </a:r>
          </a:p>
        </p:txBody>
      </p:sp>
      <p:sp>
        <p:nvSpPr>
          <p:cNvPr id="15" name="Stat 1"/>
          <p:cNvSpPr/>
          <p:nvPr/>
        </p:nvSpPr>
        <p:spPr>
          <a:xfrm>
            <a:off x="1005840" y="2743200"/>
            <a:ext cx="5029200" cy="2651760"/>
          </a:xfrm>
          <a:prstGeom prst="roundRect">
            <a:avLst>
              <a:gd name="adj" fmla="val 6000"/>
            </a:avLst>
          </a:prstGeom>
          <a:solidFill>
            <a:srgbClr val="FFFFFF">
              <a:alpha val="88000"/>
            </a:srgbClr>
          </a:solidFill>
          <a:ln w="15875">
            <a:solidFill>
              <a:srgbClr val="CFDDEC"/>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 name="TextBox 15"/>
          <p:cNvSpPr txBox="1"/>
          <p:nvPr/>
        </p:nvSpPr>
        <p:spPr>
          <a:xfrm>
            <a:off x="1325880" y="3017520"/>
            <a:ext cx="4389120" cy="1234440"/>
          </a:xfrm>
          <a:prstGeom prst="rect">
            <a:avLst/>
          </a:prstGeom>
          <a:noFill/>
        </p:spPr>
        <p:txBody>
          <a:bodyPr wrap="square" lIns="0" rIns="0" tIns="0" bIns="0" anchor="ctr">
            <a:spAutoFit/>
          </a:bodyPr>
          <a:lstStyle/>
          <a:p>
            <a:pPr algn="l"/>
            <a:r>
              <a:rPr sz="5600" b="1" i="0">
                <a:solidFill>
                  <a:srgbClr val="164B82"/>
                </a:solidFill>
                <a:latin typeface="Calibri"/>
              </a:rPr>
              <a:t>±0.02</a:t>
            </a:r>
          </a:p>
        </p:txBody>
      </p:sp>
      <p:sp>
        <p:nvSpPr>
          <p:cNvPr id="17" name="TextBox 16"/>
          <p:cNvSpPr txBox="1"/>
          <p:nvPr/>
        </p:nvSpPr>
        <p:spPr>
          <a:xfrm>
            <a:off x="1325880" y="4343400"/>
            <a:ext cx="4389120" cy="914400"/>
          </a:xfrm>
          <a:prstGeom prst="rect">
            <a:avLst/>
          </a:prstGeom>
          <a:noFill/>
        </p:spPr>
        <p:txBody>
          <a:bodyPr wrap="square" lIns="0" rIns="0" tIns="0" bIns="0" anchor="t">
            <a:spAutoFit/>
          </a:bodyPr>
          <a:lstStyle/>
          <a:p>
            <a:pPr algn="l"/>
            <a:r>
              <a:rPr sz="2200" b="0" i="0">
                <a:solidFill>
                  <a:srgbClr val="343434"/>
                </a:solidFill>
                <a:latin typeface="Calibri"/>
              </a:rPr>
              <a:t>Baseline gate: in-language F1 vs published</a:t>
            </a:r>
          </a:p>
        </p:txBody>
      </p:sp>
      <p:sp>
        <p:nvSpPr>
          <p:cNvPr id="18" name="Stat 2"/>
          <p:cNvSpPr/>
          <p:nvPr/>
        </p:nvSpPr>
        <p:spPr>
          <a:xfrm>
            <a:off x="6355079" y="2743200"/>
            <a:ext cx="5029200" cy="2651760"/>
          </a:xfrm>
          <a:prstGeom prst="roundRect">
            <a:avLst>
              <a:gd name="adj" fmla="val 6000"/>
            </a:avLst>
          </a:prstGeom>
          <a:solidFill>
            <a:srgbClr val="FFFFFF">
              <a:alpha val="88000"/>
            </a:srgbClr>
          </a:solidFill>
          <a:ln w="15875">
            <a:solidFill>
              <a:srgbClr val="CFDDEC"/>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 name="TextBox 18"/>
          <p:cNvSpPr txBox="1"/>
          <p:nvPr/>
        </p:nvSpPr>
        <p:spPr>
          <a:xfrm>
            <a:off x="6675119" y="3017520"/>
            <a:ext cx="4389120" cy="1234440"/>
          </a:xfrm>
          <a:prstGeom prst="rect">
            <a:avLst/>
          </a:prstGeom>
          <a:noFill/>
        </p:spPr>
        <p:txBody>
          <a:bodyPr wrap="square" lIns="0" rIns="0" tIns="0" bIns="0" anchor="ctr">
            <a:spAutoFit/>
          </a:bodyPr>
          <a:lstStyle/>
          <a:p>
            <a:pPr algn="l"/>
            <a:r>
              <a:rPr sz="5600" b="1" i="0">
                <a:solidFill>
                  <a:srgbClr val="164B82"/>
                </a:solidFill>
                <a:latin typeface="Calibri"/>
              </a:rPr>
              <a:t>0</a:t>
            </a:r>
          </a:p>
        </p:txBody>
      </p:sp>
      <p:sp>
        <p:nvSpPr>
          <p:cNvPr id="20" name="TextBox 19"/>
          <p:cNvSpPr txBox="1"/>
          <p:nvPr/>
        </p:nvSpPr>
        <p:spPr>
          <a:xfrm>
            <a:off x="6675119" y="4343400"/>
            <a:ext cx="4389120" cy="914400"/>
          </a:xfrm>
          <a:prstGeom prst="rect">
            <a:avLst/>
          </a:prstGeom>
          <a:noFill/>
        </p:spPr>
        <p:txBody>
          <a:bodyPr wrap="square" lIns="0" rIns="0" tIns="0" bIns="0" anchor="t">
            <a:spAutoFit/>
          </a:bodyPr>
          <a:lstStyle/>
          <a:p>
            <a:pPr algn="l"/>
            <a:r>
              <a:rPr sz="2200" b="0" i="0">
                <a:solidFill>
                  <a:srgbClr val="343434"/>
                </a:solidFill>
                <a:latin typeface="Calibri"/>
              </a:rPr>
              <a:t>Blocking integrity failures, all three tasks</a:t>
            </a:r>
          </a:p>
        </p:txBody>
      </p:sp>
      <p:sp>
        <p:nvSpPr>
          <p:cNvPr id="21" name="Stat 3"/>
          <p:cNvSpPr/>
          <p:nvPr/>
        </p:nvSpPr>
        <p:spPr>
          <a:xfrm>
            <a:off x="11704319" y="2743200"/>
            <a:ext cx="5029200" cy="2651760"/>
          </a:xfrm>
          <a:prstGeom prst="roundRect">
            <a:avLst>
              <a:gd name="adj" fmla="val 6000"/>
            </a:avLst>
          </a:prstGeom>
          <a:solidFill>
            <a:srgbClr val="FFFFFF">
              <a:alpha val="88000"/>
            </a:srgbClr>
          </a:solidFill>
          <a:ln w="15875">
            <a:solidFill>
              <a:srgbClr val="CFDDEC"/>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12024359" y="3017520"/>
            <a:ext cx="4389120" cy="1234440"/>
          </a:xfrm>
          <a:prstGeom prst="rect">
            <a:avLst/>
          </a:prstGeom>
          <a:noFill/>
        </p:spPr>
        <p:txBody>
          <a:bodyPr wrap="square" lIns="0" rIns="0" tIns="0" bIns="0" anchor="ctr">
            <a:spAutoFit/>
          </a:bodyPr>
          <a:lstStyle/>
          <a:p>
            <a:pPr algn="l"/>
            <a:r>
              <a:rPr sz="5600" b="1" i="0">
                <a:solidFill>
                  <a:srgbClr val="164B82"/>
                </a:solidFill>
                <a:latin typeface="Calibri"/>
              </a:rPr>
              <a:t>98.5%</a:t>
            </a:r>
          </a:p>
        </p:txBody>
      </p:sp>
      <p:sp>
        <p:nvSpPr>
          <p:cNvPr id="23" name="TextBox 22"/>
          <p:cNvSpPr txBox="1"/>
          <p:nvPr/>
        </p:nvSpPr>
        <p:spPr>
          <a:xfrm>
            <a:off x="12024359" y="4343400"/>
            <a:ext cx="4389120" cy="914400"/>
          </a:xfrm>
          <a:prstGeom prst="rect">
            <a:avLst/>
          </a:prstGeom>
          <a:noFill/>
        </p:spPr>
        <p:txBody>
          <a:bodyPr wrap="square" lIns="0" rIns="0" tIns="0" bIns="0" anchor="t">
            <a:spAutoFit/>
          </a:bodyPr>
          <a:lstStyle/>
          <a:p>
            <a:pPr algn="l"/>
            <a:r>
              <a:rPr sz="2200" b="0" i="0">
                <a:solidFill>
                  <a:srgbClr val="343434"/>
                </a:solidFill>
                <a:latin typeface="Calibri"/>
              </a:rPr>
              <a:t>Router labels agreeing in hand check (197 of 200)</a:t>
            </a:r>
          </a:p>
        </p:txBody>
      </p:sp>
      <p:sp>
        <p:nvSpPr>
          <p:cNvPr id="24" name="Stat 4"/>
          <p:cNvSpPr/>
          <p:nvPr/>
        </p:nvSpPr>
        <p:spPr>
          <a:xfrm>
            <a:off x="1005840" y="5623560"/>
            <a:ext cx="5029200" cy="2651760"/>
          </a:xfrm>
          <a:prstGeom prst="roundRect">
            <a:avLst>
              <a:gd name="adj" fmla="val 6000"/>
            </a:avLst>
          </a:prstGeom>
          <a:solidFill>
            <a:srgbClr val="FFFFFF">
              <a:alpha val="88000"/>
            </a:srgbClr>
          </a:solidFill>
          <a:ln w="15875">
            <a:solidFill>
              <a:srgbClr val="CFDDEC"/>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TextBox 24"/>
          <p:cNvSpPr txBox="1"/>
          <p:nvPr/>
        </p:nvSpPr>
        <p:spPr>
          <a:xfrm>
            <a:off x="1325880" y="5897880"/>
            <a:ext cx="4389120" cy="1234440"/>
          </a:xfrm>
          <a:prstGeom prst="rect">
            <a:avLst/>
          </a:prstGeom>
          <a:noFill/>
        </p:spPr>
        <p:txBody>
          <a:bodyPr wrap="square" lIns="0" rIns="0" tIns="0" bIns="0" anchor="ctr">
            <a:spAutoFit/>
          </a:bodyPr>
          <a:lstStyle/>
          <a:p>
            <a:pPr algn="l"/>
            <a:r>
              <a:rPr sz="5600" b="1" i="0">
                <a:solidFill>
                  <a:srgbClr val="164B82"/>
                </a:solidFill>
                <a:latin typeface="Calibri"/>
              </a:rPr>
              <a:t>3 seeds</a:t>
            </a:r>
          </a:p>
        </p:txBody>
      </p:sp>
      <p:sp>
        <p:nvSpPr>
          <p:cNvPr id="26" name="TextBox 25"/>
          <p:cNvSpPr txBox="1"/>
          <p:nvPr/>
        </p:nvSpPr>
        <p:spPr>
          <a:xfrm>
            <a:off x="1325880" y="7223760"/>
            <a:ext cx="4389120" cy="914400"/>
          </a:xfrm>
          <a:prstGeom prst="rect">
            <a:avLst/>
          </a:prstGeom>
          <a:noFill/>
        </p:spPr>
        <p:txBody>
          <a:bodyPr wrap="square" lIns="0" rIns="0" tIns="0" bIns="0" anchor="t">
            <a:spAutoFit/>
          </a:bodyPr>
          <a:lstStyle/>
          <a:p>
            <a:pPr algn="l"/>
            <a:r>
              <a:rPr sz="2200" b="0" i="0">
                <a:solidFill>
                  <a:srgbClr val="343434"/>
                </a:solidFill>
                <a:latin typeface="Calibri"/>
              </a:rPr>
              <a:t>Every configuration, reported as mean ± SD</a:t>
            </a:r>
          </a:p>
        </p:txBody>
      </p:sp>
      <p:sp>
        <p:nvSpPr>
          <p:cNvPr id="27" name="Stat 5"/>
          <p:cNvSpPr/>
          <p:nvPr/>
        </p:nvSpPr>
        <p:spPr>
          <a:xfrm>
            <a:off x="6355079" y="5623560"/>
            <a:ext cx="5029200" cy="2651760"/>
          </a:xfrm>
          <a:prstGeom prst="roundRect">
            <a:avLst>
              <a:gd name="adj" fmla="val 6000"/>
            </a:avLst>
          </a:prstGeom>
          <a:solidFill>
            <a:srgbClr val="FFFFFF">
              <a:alpha val="88000"/>
            </a:srgbClr>
          </a:solidFill>
          <a:ln w="15875">
            <a:solidFill>
              <a:srgbClr val="CFDDEC"/>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8" name="TextBox 27"/>
          <p:cNvSpPr txBox="1"/>
          <p:nvPr/>
        </p:nvSpPr>
        <p:spPr>
          <a:xfrm>
            <a:off x="6675119" y="5897880"/>
            <a:ext cx="4389120" cy="1234440"/>
          </a:xfrm>
          <a:prstGeom prst="rect">
            <a:avLst/>
          </a:prstGeom>
          <a:noFill/>
        </p:spPr>
        <p:txBody>
          <a:bodyPr wrap="square" lIns="0" rIns="0" tIns="0" bIns="0" anchor="ctr">
            <a:spAutoFit/>
          </a:bodyPr>
          <a:lstStyle/>
          <a:p>
            <a:pPr algn="l"/>
            <a:r>
              <a:rPr sz="5600" b="1" i="0">
                <a:solidFill>
                  <a:srgbClr val="164B82"/>
                </a:solidFill>
                <a:latin typeface="Calibri"/>
              </a:rPr>
              <a:t>1,000</a:t>
            </a:r>
          </a:p>
        </p:txBody>
      </p:sp>
      <p:sp>
        <p:nvSpPr>
          <p:cNvPr id="29" name="TextBox 28"/>
          <p:cNvSpPr txBox="1"/>
          <p:nvPr/>
        </p:nvSpPr>
        <p:spPr>
          <a:xfrm>
            <a:off x="6675119" y="7223760"/>
            <a:ext cx="4389120" cy="914400"/>
          </a:xfrm>
          <a:prstGeom prst="rect">
            <a:avLst/>
          </a:prstGeom>
          <a:noFill/>
        </p:spPr>
        <p:txBody>
          <a:bodyPr wrap="square" lIns="0" rIns="0" tIns="0" bIns="0" anchor="t">
            <a:spAutoFit/>
          </a:bodyPr>
          <a:lstStyle/>
          <a:p>
            <a:pPr algn="l"/>
            <a:r>
              <a:rPr sz="2200" b="0" i="0">
                <a:solidFill>
                  <a:srgbClr val="343434"/>
                </a:solidFill>
                <a:latin typeface="Calibri"/>
              </a:rPr>
              <a:t>Bootstrap samples for 95% intervals</a:t>
            </a:r>
          </a:p>
        </p:txBody>
      </p:sp>
      <p:sp>
        <p:nvSpPr>
          <p:cNvPr id="30" name="Stat 6"/>
          <p:cNvSpPr/>
          <p:nvPr/>
        </p:nvSpPr>
        <p:spPr>
          <a:xfrm>
            <a:off x="11704319" y="5623560"/>
            <a:ext cx="5029200" cy="2651760"/>
          </a:xfrm>
          <a:prstGeom prst="roundRect">
            <a:avLst>
              <a:gd name="adj" fmla="val 6000"/>
            </a:avLst>
          </a:prstGeom>
          <a:solidFill>
            <a:srgbClr val="FFFFFF">
              <a:alpha val="88000"/>
            </a:srgbClr>
          </a:solidFill>
          <a:ln w="15875">
            <a:solidFill>
              <a:srgbClr val="CFDDEC"/>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1" name="TextBox 30"/>
          <p:cNvSpPr txBox="1"/>
          <p:nvPr/>
        </p:nvSpPr>
        <p:spPr>
          <a:xfrm>
            <a:off x="12024359" y="5897880"/>
            <a:ext cx="4389120" cy="1234440"/>
          </a:xfrm>
          <a:prstGeom prst="rect">
            <a:avLst/>
          </a:prstGeom>
          <a:noFill/>
        </p:spPr>
        <p:txBody>
          <a:bodyPr wrap="square" lIns="0" rIns="0" tIns="0" bIns="0" anchor="ctr">
            <a:spAutoFit/>
          </a:bodyPr>
          <a:lstStyle/>
          <a:p>
            <a:pPr algn="l"/>
            <a:r>
              <a:rPr sz="5600" b="1" i="0">
                <a:solidFill>
                  <a:srgbClr val="164B82"/>
                </a:solidFill>
                <a:latin typeface="Calibri"/>
              </a:rPr>
              <a:t>180</a:t>
            </a:r>
          </a:p>
        </p:txBody>
      </p:sp>
      <p:sp>
        <p:nvSpPr>
          <p:cNvPr id="32" name="TextBox 31"/>
          <p:cNvSpPr txBox="1"/>
          <p:nvPr/>
        </p:nvSpPr>
        <p:spPr>
          <a:xfrm>
            <a:off x="12024359" y="7223760"/>
            <a:ext cx="4389120" cy="914400"/>
          </a:xfrm>
          <a:prstGeom prst="rect">
            <a:avLst/>
          </a:prstGeom>
          <a:noFill/>
        </p:spPr>
        <p:txBody>
          <a:bodyPr wrap="square" lIns="0" rIns="0" tIns="0" bIns="0" anchor="t">
            <a:spAutoFit/>
          </a:bodyPr>
          <a:lstStyle/>
          <a:p>
            <a:pPr algn="l"/>
            <a:r>
              <a:rPr sz="2200" b="0" i="0">
                <a:solidFill>
                  <a:srgbClr val="343434"/>
                </a:solidFill>
                <a:latin typeface="Calibri"/>
              </a:rPr>
              <a:t>Translated rows per task hand-checked</a:t>
            </a:r>
          </a:p>
        </p:txBody>
      </p:sp>
      <p:sp>
        <p:nvSpPr>
          <p:cNvPr id="33" name="Zero-shot note"/>
          <p:cNvSpPr/>
          <p:nvPr/>
        </p:nvSpPr>
        <p:spPr>
          <a:xfrm>
            <a:off x="1005840" y="8595360"/>
            <a:ext cx="15727680" cy="868680"/>
          </a:xfrm>
          <a:prstGeom prst="roundRect">
            <a:avLst>
              <a:gd name="adj" fmla="val 6000"/>
            </a:avLst>
          </a:prstGeom>
          <a:solidFill>
            <a:srgbClr val="E3EDF7">
              <a:alpha val="100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4" name="TextBox 33"/>
          <p:cNvSpPr txBox="1"/>
          <p:nvPr/>
        </p:nvSpPr>
        <p:spPr>
          <a:xfrm>
            <a:off x="1371600" y="8595360"/>
            <a:ext cx="14996159" cy="868680"/>
          </a:xfrm>
          <a:prstGeom prst="rect">
            <a:avLst/>
          </a:prstGeom>
          <a:noFill/>
        </p:spPr>
        <p:txBody>
          <a:bodyPr wrap="square" lIns="0" rIns="0" tIns="0" bIns="0" anchor="ctr">
            <a:spAutoFit/>
          </a:bodyPr>
          <a:lstStyle/>
          <a:p>
            <a:pPr algn="l"/>
            <a:r>
              <a:rPr sz="2100" b="1" i="0">
                <a:solidFill>
                  <a:srgbClr val="164B82"/>
                </a:solidFill>
                <a:latin typeface="Calibri"/>
              </a:rPr>
              <a:t>Zero-shot inference asserts no optimiser and no gradient step.  Hand checks cover samples, not the full corpus.</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name="Freeform 2" id="2"/>
          <p:cNvSpPr/>
          <p:nvPr/>
        </p:nvSpPr>
        <p:spPr>
          <a:xfrm flipH="false" flipV="false" rot="225008">
            <a:off x="-467361" y="-2757747"/>
            <a:ext cx="12701350" cy="5382197"/>
          </a:xfrm>
          <a:custGeom>
            <a:avLst/>
            <a:gdLst/>
            <a:ahLst/>
            <a:cxnLst/>
            <a:rect r="r" b="b" t="t" l="l"/>
            <a:pathLst>
              <a:path h="5382197" w="12701350">
                <a:moveTo>
                  <a:pt x="0" y="0"/>
                </a:moveTo>
                <a:lnTo>
                  <a:pt x="12701349" y="0"/>
                </a:lnTo>
                <a:lnTo>
                  <a:pt x="12701349" y="5382197"/>
                </a:lnTo>
                <a:lnTo>
                  <a:pt x="0" y="5382197"/>
                </a:lnTo>
                <a:lnTo>
                  <a:pt x="0" y="0"/>
                </a:lnTo>
                <a:close/>
              </a:path>
            </a:pathLst>
          </a:custGeom>
          <a:blipFill>
            <a:blip r:embed="rId2"/>
            <a:stretch>
              <a:fillRect l="0" t="0" r="0" b="0"/>
            </a:stretch>
          </a:blipFill>
        </p:spPr>
      </p:sp>
      <p:sp>
        <p:nvSpPr>
          <p:cNvPr name="Freeform 3" id="3"/>
          <p:cNvSpPr/>
          <p:nvPr/>
        </p:nvSpPr>
        <p:spPr>
          <a:xfrm flipH="false" flipV="false" rot="0">
            <a:off x="10986204" y="6250419"/>
            <a:ext cx="11514218" cy="8506128"/>
          </a:xfrm>
          <a:custGeom>
            <a:avLst/>
            <a:gdLst/>
            <a:ahLst/>
            <a:cxnLst/>
            <a:rect r="r" b="b" t="t" l="l"/>
            <a:pathLst>
              <a:path h="8506128" w="11514218">
                <a:moveTo>
                  <a:pt x="0" y="0"/>
                </a:moveTo>
                <a:lnTo>
                  <a:pt x="11514218" y="0"/>
                </a:lnTo>
                <a:lnTo>
                  <a:pt x="11514218" y="8506128"/>
                </a:lnTo>
                <a:lnTo>
                  <a:pt x="0" y="8506128"/>
                </a:lnTo>
                <a:lnTo>
                  <a:pt x="0" y="0"/>
                </a:lnTo>
                <a:close/>
              </a:path>
            </a:pathLst>
          </a:custGeom>
          <a:blipFill>
            <a:blip r:embed="rId3"/>
            <a:stretch>
              <a:fillRect l="0" t="0" r="0" b="0"/>
            </a:stretch>
          </a:blipFill>
        </p:spPr>
      </p:sp>
      <p:grpSp>
        <p:nvGrpSpPr>
          <p:cNvPr name="Group 4" id="4"/>
          <p:cNvGrpSpPr/>
          <p:nvPr/>
        </p:nvGrpSpPr>
        <p:grpSpPr>
          <a:xfrm rot="0">
            <a:off x="17259300" y="-392510"/>
            <a:ext cx="1437565" cy="11072020"/>
            <a:chOff x="0" y="0"/>
            <a:chExt cx="378618" cy="2916088"/>
          </a:xfrm>
        </p:grpSpPr>
        <p:sp>
          <p:nvSpPr>
            <p:cNvPr name="Freeform 5" id="5"/>
            <p:cNvSpPr/>
            <p:nvPr/>
          </p:nvSpPr>
          <p:spPr>
            <a:xfrm flipH="false" flipV="false" rot="0">
              <a:off x="0" y="0"/>
              <a:ext cx="378618" cy="2916088"/>
            </a:xfrm>
            <a:custGeom>
              <a:avLst/>
              <a:gdLst/>
              <a:ahLst/>
              <a:cxnLst/>
              <a:rect r="r" b="b" t="t" l="l"/>
              <a:pathLst>
                <a:path h="2916088" w="378618">
                  <a:moveTo>
                    <a:pt x="0" y="0"/>
                  </a:moveTo>
                  <a:lnTo>
                    <a:pt x="378618" y="0"/>
                  </a:lnTo>
                  <a:lnTo>
                    <a:pt x="378618" y="2916088"/>
                  </a:lnTo>
                  <a:lnTo>
                    <a:pt x="0" y="2916088"/>
                  </a:lnTo>
                  <a:close/>
                </a:path>
              </a:pathLst>
            </a:custGeom>
            <a:gradFill rotWithShape="true">
              <a:gsLst>
                <a:gs pos="0">
                  <a:srgbClr val="E4B795">
                    <a:alpha val="100000"/>
                  </a:srgbClr>
                </a:gs>
                <a:gs pos="50000">
                  <a:srgbClr val="699ACD">
                    <a:alpha val="100000"/>
                  </a:srgbClr>
                </a:gs>
                <a:gs pos="100000">
                  <a:srgbClr val="2F679F">
                    <a:alpha val="100000"/>
                  </a:srgbClr>
                </a:gs>
              </a:gsLst>
              <a:path path="circle">
                <a:fillToRect l="0" r="100000" t="0" b="100000"/>
              </a:path>
              <a:tileRect r="0" l="-100000" b="0" t="-100000"/>
            </a:gradFill>
          </p:spPr>
        </p:sp>
        <p:sp>
          <p:nvSpPr>
            <p:cNvPr name="TextBox 6" id="6"/>
            <p:cNvSpPr txBox="true"/>
            <p:nvPr/>
          </p:nvSpPr>
          <p:spPr>
            <a:xfrm>
              <a:off x="0" y="-57150"/>
              <a:ext cx="378618" cy="2973238"/>
            </a:xfrm>
            <a:prstGeom prst="rect">
              <a:avLst/>
            </a:prstGeom>
          </p:spPr>
          <p:txBody>
            <a:bodyPr anchor="ctr" rtlCol="false" tIns="50800" lIns="50800" bIns="50800" rIns="50800"/>
            <a:lstStyle/>
            <a:p>
              <a:pPr algn="ctr">
                <a:lnSpc>
                  <a:spcPts val="3639"/>
                </a:lnSpc>
              </a:pPr>
            </a:p>
          </p:txBody>
        </p:sp>
      </p:grpSp>
      <p:sp>
        <p:nvSpPr>
          <p:cNvPr name="TextBox 7" id="7"/>
          <p:cNvSpPr txBox="true"/>
          <p:nvPr/>
        </p:nvSpPr>
        <p:spPr>
          <a:xfrm rot="0">
            <a:off x="8021110" y="782737"/>
            <a:ext cx="2492949" cy="351790"/>
          </a:xfrm>
          <a:prstGeom prst="rect">
            <a:avLst/>
          </a:prstGeom>
        </p:spPr>
        <p:txBody>
          <a:bodyPr anchor="t" rtlCol="false" tIns="0" lIns="0" bIns="0" rIns="0">
            <a:spAutoFit/>
          </a:bodyPr>
          <a:lstStyle/>
          <a:p>
            <a:pPr algn="l">
              <a:lnSpc>
                <a:spcPts val="2660"/>
              </a:lnSpc>
              <a:spcBef>
                <a:spcPct val="0"/>
              </a:spcBef>
            </a:pPr>
            <a:r>
              <a:rPr lang="en-US" sz="1900" spc="95">
                <a:solidFill>
                  <a:srgbClr val="164B82"/>
                </a:solidFill>
                <a:latin typeface="Calibri"/>
                <a:ea typeface="Telegraf Extra-Light"/>
                <a:cs typeface="Telegraf Extra-Light"/>
                <a:sym typeface="Telegraf Extra-Light"/>
              </a:rPr>
              <a:t>BCSE497J · Project I</a:t>
            </a:r>
          </a:p>
        </p:txBody>
      </p:sp>
      <p:sp>
        <p:nvSpPr>
          <p:cNvPr name="TextBox 8" id="8"/>
          <p:cNvSpPr txBox="true"/>
          <p:nvPr/>
        </p:nvSpPr>
        <p:spPr>
          <a:xfrm rot="0">
            <a:off x="13305333" y="782737"/>
            <a:ext cx="1819999" cy="351790"/>
          </a:xfrm>
          <a:prstGeom prst="rect">
            <a:avLst/>
          </a:prstGeom>
        </p:spPr>
        <p:txBody>
          <a:bodyPr anchor="t" rtlCol="false" tIns="0" lIns="0" bIns="0" rIns="0">
            <a:spAutoFit/>
          </a:bodyPr>
          <a:lstStyle/>
          <a:p>
            <a:pPr algn="r">
              <a:lnSpc>
                <a:spcPts val="2660"/>
              </a:lnSpc>
              <a:spcBef>
                <a:spcPct val="0"/>
              </a:spcBef>
            </a:pPr>
            <a:r>
              <a:rPr lang="en-US" sz="1900" spc="95">
                <a:solidFill>
                  <a:srgbClr val="164B82"/>
                </a:solidFill>
                <a:latin typeface="Calibri"/>
                <a:ea typeface="Telegraf Extra-Light"/>
                <a:cs typeface="Telegraf Extra-Light"/>
                <a:sym typeface="Telegraf Extra-Light"/>
              </a:rPr>
              <a:t>Oct 2026</a:t>
            </a:r>
          </a:p>
        </p:txBody>
      </p:sp>
      <p:sp>
        <p:nvSpPr>
          <p:cNvPr name="TextBox 9" id="9"/>
          <p:cNvSpPr txBox="true"/>
          <p:nvPr/>
        </p:nvSpPr>
        <p:spPr>
          <a:xfrm rot="0">
            <a:off x="11045641" y="782737"/>
            <a:ext cx="1819999" cy="351790"/>
          </a:xfrm>
          <a:prstGeom prst="rect">
            <a:avLst/>
          </a:prstGeom>
        </p:spPr>
        <p:txBody>
          <a:bodyPr anchor="t" rtlCol="false" tIns="0" lIns="0" bIns="0" rIns="0">
            <a:spAutoFit/>
          </a:bodyPr>
          <a:lstStyle/>
          <a:p>
            <a:pPr algn="ctr">
              <a:lnSpc>
                <a:spcPts val="2660"/>
              </a:lnSpc>
              <a:spcBef>
                <a:spcPct val="0"/>
              </a:spcBef>
            </a:pPr>
            <a:r>
              <a:rPr lang="en-US" sz="1900" spc="95">
                <a:solidFill>
                  <a:srgbClr val="164B82"/>
                </a:solidFill>
                <a:latin typeface="Calibri"/>
                <a:ea typeface="Telegraf Extra-Light"/>
                <a:cs typeface="Telegraf Extra-Light"/>
                <a:sym typeface="Telegraf Extra-Light"/>
              </a:rPr>
              <a:t>Guide Review</a:t>
            </a:r>
          </a:p>
        </p:txBody>
      </p:sp>
      <p:grpSp>
        <p:nvGrpSpPr>
          <p:cNvPr name="Group 10" id="10"/>
          <p:cNvGrpSpPr/>
          <p:nvPr/>
        </p:nvGrpSpPr>
        <p:grpSpPr>
          <a:xfrm rot="5400000">
            <a:off x="11279340" y="-3711595"/>
            <a:ext cx="643045" cy="9407130"/>
            <a:chOff x="0" y="0"/>
            <a:chExt cx="169362" cy="2477598"/>
          </a:xfrm>
        </p:grpSpPr>
        <p:sp>
          <p:nvSpPr>
            <p:cNvPr name="Freeform 11" id="11"/>
            <p:cNvSpPr/>
            <p:nvPr/>
          </p:nvSpPr>
          <p:spPr>
            <a:xfrm flipH="false" flipV="false" rot="0">
              <a:off x="0" y="0"/>
              <a:ext cx="169362" cy="2477598"/>
            </a:xfrm>
            <a:custGeom>
              <a:avLst/>
              <a:gdLst/>
              <a:ahLst/>
              <a:cxnLst/>
              <a:rect r="r" b="b" t="t" l="l"/>
              <a:pathLst>
                <a:path h="2477598" w="169362">
                  <a:moveTo>
                    <a:pt x="84681" y="0"/>
                  </a:moveTo>
                  <a:lnTo>
                    <a:pt x="84681" y="0"/>
                  </a:lnTo>
                  <a:cubicBezTo>
                    <a:pt x="107140" y="0"/>
                    <a:pt x="128678" y="8922"/>
                    <a:pt x="144559" y="24802"/>
                  </a:cubicBezTo>
                  <a:cubicBezTo>
                    <a:pt x="160440" y="40683"/>
                    <a:pt x="169362" y="62222"/>
                    <a:pt x="169362" y="84681"/>
                  </a:cubicBezTo>
                  <a:lnTo>
                    <a:pt x="169362" y="2392917"/>
                  </a:lnTo>
                  <a:cubicBezTo>
                    <a:pt x="169362" y="2439685"/>
                    <a:pt x="131449" y="2477598"/>
                    <a:pt x="84681" y="2477598"/>
                  </a:cubicBezTo>
                  <a:lnTo>
                    <a:pt x="84681" y="2477598"/>
                  </a:lnTo>
                  <a:cubicBezTo>
                    <a:pt x="37913" y="2477598"/>
                    <a:pt x="0" y="2439685"/>
                    <a:pt x="0" y="2392917"/>
                  </a:cubicBezTo>
                  <a:lnTo>
                    <a:pt x="0" y="84681"/>
                  </a:lnTo>
                  <a:cubicBezTo>
                    <a:pt x="0" y="37913"/>
                    <a:pt x="37913" y="0"/>
                    <a:pt x="84681" y="0"/>
                  </a:cubicBezTo>
                  <a:close/>
                </a:path>
              </a:pathLst>
            </a:custGeom>
            <a:ln w="19050" cap="rnd">
              <a:solidFill>
                <a:srgbClr val="164B82"/>
              </a:solidFill>
              <a:prstDash val="solid"/>
              <a:round/>
            </a:ln>
          </p:spPr>
        </p:sp>
        <p:sp>
          <p:nvSpPr>
            <p:cNvPr name="TextBox 12" id="12"/>
            <p:cNvSpPr txBox="true"/>
            <p:nvPr/>
          </p:nvSpPr>
          <p:spPr>
            <a:xfrm>
              <a:off x="0" y="-57150"/>
              <a:ext cx="169362" cy="2534748"/>
            </a:xfrm>
            <a:prstGeom prst="rect">
              <a:avLst/>
            </a:prstGeom>
          </p:spPr>
          <p:txBody>
            <a:bodyPr anchor="ctr" rtlCol="false" tIns="50800" lIns="50800" bIns="50800" rIns="50800"/>
            <a:lstStyle/>
            <a:p>
              <a:pPr algn="ctr">
                <a:lnSpc>
                  <a:spcPts val="3639"/>
                </a:lnSpc>
              </a:pPr>
            </a:p>
          </p:txBody>
        </p:sp>
      </p:grpSp>
      <p:sp>
        <p:nvSpPr>
          <p:cNvPr id="13" name="Title"/>
          <p:cNvSpPr txBox="1"/>
          <p:nvPr/>
        </p:nvSpPr>
        <p:spPr>
          <a:xfrm>
            <a:off x="1005840" y="1371600"/>
            <a:ext cx="15727680" cy="1097280"/>
          </a:xfrm>
          <a:prstGeom prst="rect">
            <a:avLst/>
          </a:prstGeom>
          <a:noFill/>
        </p:spPr>
        <p:txBody>
          <a:bodyPr wrap="square" lIns="0" rIns="0" tIns="0" bIns="0" anchor="ctr">
            <a:spAutoFit/>
          </a:bodyPr>
          <a:lstStyle/>
          <a:p>
            <a:pPr algn="l"/>
            <a:r>
              <a:rPr sz="4800" b="1" i="0">
                <a:solidFill>
                  <a:srgbClr val="343434"/>
                </a:solidFill>
                <a:latin typeface="Calibri"/>
              </a:rPr>
              <a:t>Results and Metrics</a:t>
            </a:r>
          </a:p>
        </p:txBody>
      </p:sp>
      <p:sp>
        <p:nvSpPr>
          <p:cNvPr id="14" name="Page"/>
          <p:cNvSpPr txBox="1"/>
          <p:nvPr/>
        </p:nvSpPr>
        <p:spPr>
          <a:xfrm>
            <a:off x="1005840" y="9646920"/>
            <a:ext cx="3657600" cy="365760"/>
          </a:xfrm>
          <a:prstGeom prst="rect">
            <a:avLst/>
          </a:prstGeom>
          <a:noFill/>
        </p:spPr>
        <p:txBody>
          <a:bodyPr wrap="square" lIns="0" rIns="0" tIns="0" bIns="0" anchor="t">
            <a:spAutoFit/>
          </a:bodyPr>
          <a:lstStyle/>
          <a:p>
            <a:pPr algn="l"/>
            <a:r>
              <a:rPr sz="1800" b="0" i="0">
                <a:solidFill>
                  <a:srgbClr val="164B82"/>
                </a:solidFill>
                <a:latin typeface="Calibri"/>
              </a:rPr>
              <a:t>13 / 19</a:t>
            </a:r>
          </a:p>
        </p:txBody>
      </p:sp>
      <p:sp>
        <p:nvSpPr>
          <p:cNvPr id="15" name="KPI 1"/>
          <p:cNvSpPr/>
          <p:nvPr/>
        </p:nvSpPr>
        <p:spPr>
          <a:xfrm>
            <a:off x="1005840" y="2651760"/>
            <a:ext cx="5029200" cy="1600200"/>
          </a:xfrm>
          <a:prstGeom prst="roundRect">
            <a:avLst>
              <a:gd name="adj" fmla="val 6000"/>
            </a:avLst>
          </a:prstGeom>
          <a:solidFill>
            <a:srgbClr val="164B82">
              <a:alpha val="100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 name="TextBox 15"/>
          <p:cNvSpPr txBox="1"/>
          <p:nvPr/>
        </p:nvSpPr>
        <p:spPr>
          <a:xfrm>
            <a:off x="1280160" y="2697480"/>
            <a:ext cx="4480560" cy="868680"/>
          </a:xfrm>
          <a:prstGeom prst="rect">
            <a:avLst/>
          </a:prstGeom>
          <a:noFill/>
        </p:spPr>
        <p:txBody>
          <a:bodyPr wrap="square" lIns="0" rIns="0" tIns="0" bIns="0" anchor="ctr">
            <a:spAutoFit/>
          </a:bodyPr>
          <a:lstStyle/>
          <a:p>
            <a:pPr algn="l"/>
            <a:r>
              <a:rPr sz="4400" b="1" i="0">
                <a:solidFill>
                  <a:srgbClr val="FFFFFF"/>
                </a:solidFill>
                <a:latin typeface="Calibri"/>
              </a:rPr>
              <a:t>1 in 6</a:t>
            </a:r>
          </a:p>
        </p:txBody>
      </p:sp>
      <p:sp>
        <p:nvSpPr>
          <p:cNvPr id="17" name="TextBox 16"/>
          <p:cNvSpPr txBox="1"/>
          <p:nvPr/>
        </p:nvSpPr>
        <p:spPr>
          <a:xfrm>
            <a:off x="1280160" y="3520440"/>
            <a:ext cx="4480560" cy="640080"/>
          </a:xfrm>
          <a:prstGeom prst="rect">
            <a:avLst/>
          </a:prstGeom>
          <a:noFill/>
        </p:spPr>
        <p:txBody>
          <a:bodyPr wrap="square" lIns="0" rIns="0" tIns="0" bIns="0" anchor="t">
            <a:spAutoFit/>
          </a:bodyPr>
          <a:lstStyle/>
          <a:p>
            <a:pPr algn="l"/>
            <a:r>
              <a:rPr sz="1700" b="0" i="0">
                <a:solidFill>
                  <a:srgbClr val="E4B795"/>
                </a:solidFill>
                <a:latin typeface="Calibri"/>
              </a:rPr>
              <a:t>annotated numerals do not survive translation</a:t>
            </a:r>
          </a:p>
        </p:txBody>
      </p:sp>
      <p:sp>
        <p:nvSpPr>
          <p:cNvPr id="18" name="KPI 2"/>
          <p:cNvSpPr/>
          <p:nvPr/>
        </p:nvSpPr>
        <p:spPr>
          <a:xfrm>
            <a:off x="6355079" y="2651760"/>
            <a:ext cx="5029200" cy="1600200"/>
          </a:xfrm>
          <a:prstGeom prst="roundRect">
            <a:avLst>
              <a:gd name="adj" fmla="val 6000"/>
            </a:avLst>
          </a:prstGeom>
          <a:solidFill>
            <a:srgbClr val="164B82">
              <a:alpha val="100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 name="TextBox 18"/>
          <p:cNvSpPr txBox="1"/>
          <p:nvPr/>
        </p:nvSpPr>
        <p:spPr>
          <a:xfrm>
            <a:off x="6629399" y="2697480"/>
            <a:ext cx="4480560" cy="868680"/>
          </a:xfrm>
          <a:prstGeom prst="rect">
            <a:avLst/>
          </a:prstGeom>
          <a:noFill/>
        </p:spPr>
        <p:txBody>
          <a:bodyPr wrap="square" lIns="0" rIns="0" tIns="0" bIns="0" anchor="ctr">
            <a:spAutoFit/>
          </a:bodyPr>
          <a:lstStyle/>
          <a:p>
            <a:pPr algn="l"/>
            <a:r>
              <a:rPr sz="4400" b="1" i="0">
                <a:solidFill>
                  <a:srgbClr val="FFFFFF"/>
                </a:solidFill>
                <a:latin typeface="Calibri"/>
              </a:rPr>
              <a:t>0.26–0.45</a:t>
            </a:r>
          </a:p>
        </p:txBody>
      </p:sp>
      <p:sp>
        <p:nvSpPr>
          <p:cNvPr id="20" name="TextBox 19"/>
          <p:cNvSpPr txBox="1"/>
          <p:nvPr/>
        </p:nvSpPr>
        <p:spPr>
          <a:xfrm>
            <a:off x="6629399" y="3520440"/>
            <a:ext cx="4480560" cy="640080"/>
          </a:xfrm>
          <a:prstGeom prst="rect">
            <a:avLst/>
          </a:prstGeom>
          <a:noFill/>
        </p:spPr>
        <p:txBody>
          <a:bodyPr wrap="square" lIns="0" rIns="0" tIns="0" bIns="0" anchor="t">
            <a:spAutoFit/>
          </a:bodyPr>
          <a:lstStyle/>
          <a:p>
            <a:pPr algn="l"/>
            <a:r>
              <a:rPr sz="1700" b="0" i="0">
                <a:solidFill>
                  <a:srgbClr val="E4B795"/>
                </a:solidFill>
                <a:latin typeface="Calibri"/>
              </a:rPr>
              <a:t>IndicBERT transfer gap, task 2 (macro-F1)</a:t>
            </a:r>
          </a:p>
        </p:txBody>
      </p:sp>
      <p:sp>
        <p:nvSpPr>
          <p:cNvPr id="21" name="KPI 3"/>
          <p:cNvSpPr/>
          <p:nvPr/>
        </p:nvSpPr>
        <p:spPr>
          <a:xfrm>
            <a:off x="11704319" y="2651760"/>
            <a:ext cx="5029200" cy="1600200"/>
          </a:xfrm>
          <a:prstGeom prst="roundRect">
            <a:avLst>
              <a:gd name="adj" fmla="val 6000"/>
            </a:avLst>
          </a:prstGeom>
          <a:solidFill>
            <a:srgbClr val="164B82">
              <a:alpha val="100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11978640" y="2697480"/>
            <a:ext cx="4480560" cy="868680"/>
          </a:xfrm>
          <a:prstGeom prst="rect">
            <a:avLst/>
          </a:prstGeom>
          <a:noFill/>
        </p:spPr>
        <p:txBody>
          <a:bodyPr wrap="square" lIns="0" rIns="0" tIns="0" bIns="0" anchor="ctr">
            <a:spAutoFit/>
          </a:bodyPr>
          <a:lstStyle/>
          <a:p>
            <a:pPr algn="l"/>
            <a:r>
              <a:rPr sz="4400" b="1" i="0">
                <a:solidFill>
                  <a:srgbClr val="FFFFFF"/>
                </a:solidFill>
                <a:latin typeface="Calibri"/>
              </a:rPr>
              <a:t>0.11–0.24</a:t>
            </a:r>
          </a:p>
        </p:txBody>
      </p:sp>
      <p:sp>
        <p:nvSpPr>
          <p:cNvPr id="23" name="TextBox 22"/>
          <p:cNvSpPr txBox="1"/>
          <p:nvPr/>
        </p:nvSpPr>
        <p:spPr>
          <a:xfrm>
            <a:off x="11978640" y="3520440"/>
            <a:ext cx="4480560" cy="640080"/>
          </a:xfrm>
          <a:prstGeom prst="rect">
            <a:avLst/>
          </a:prstGeom>
          <a:noFill/>
        </p:spPr>
        <p:txBody>
          <a:bodyPr wrap="square" lIns="0" rIns="0" tIns="0" bIns="0" anchor="t">
            <a:spAutoFit/>
          </a:bodyPr>
          <a:lstStyle/>
          <a:p>
            <a:pPr algn="l"/>
            <a:r>
              <a:rPr sz="1700" b="0" i="0">
                <a:solidFill>
                  <a:srgbClr val="E4B795"/>
                </a:solidFill>
                <a:latin typeface="Calibri"/>
              </a:rPr>
              <a:t>mBERT transfer gap, task 2 (macro-F1)</a:t>
            </a:r>
          </a:p>
        </p:txBody>
      </p:sp>
      <p:graphicFrame>
        <p:nvGraphicFramePr>
          <p:cNvPr id="24" name="Gap chart"/>
          <p:cNvGraphicFramePr>
            <a:graphicFrameLocks noGrp="1"/>
          </p:cNvGraphicFramePr>
          <p:nvPr/>
        </p:nvGraphicFramePr>
        <p:xfrm>
          <a:off x="1005840" y="4434840"/>
          <a:ext cx="9692640" cy="5029200"/>
        </p:xfrm>
        <a:graphic>
          <a:graphicData uri="http://schemas.openxmlformats.org/drawingml/2006/chart">
            <c:chart xmlns:c="http://schemas.openxmlformats.org/drawingml/2006/chart" r:id="rId5"/>
          </a:graphicData>
        </a:graphic>
      </p:graphicFrame>
      <p:graphicFrame>
        <p:nvGraphicFramePr>
          <p:cNvPr id="25" name="Numeral chart"/>
          <p:cNvGraphicFramePr>
            <a:graphicFrameLocks noGrp="1"/>
          </p:cNvGraphicFramePr>
          <p:nvPr/>
        </p:nvGraphicFramePr>
        <p:xfrm>
          <a:off x="10972800" y="4434840"/>
          <a:ext cx="5760720" cy="5029200"/>
        </p:xfrm>
        <a:graphic>
          <a:graphicData uri="http://schemas.openxmlformats.org/drawingml/2006/chart">
            <c:chart xmlns:c="http://schemas.openxmlformats.org/drawingml/2006/chart" r:id="rId6"/>
          </a:graphicData>
        </a:graphic>
      </p:graphicFrame>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name="Freeform 2" id="2"/>
          <p:cNvSpPr/>
          <p:nvPr/>
        </p:nvSpPr>
        <p:spPr>
          <a:xfrm flipH="false" flipV="false" rot="225008">
            <a:off x="-467361" y="-2757747"/>
            <a:ext cx="12701350" cy="5382197"/>
          </a:xfrm>
          <a:custGeom>
            <a:avLst/>
            <a:gdLst/>
            <a:ahLst/>
            <a:cxnLst/>
            <a:rect r="r" b="b" t="t" l="l"/>
            <a:pathLst>
              <a:path h="5382197" w="12701350">
                <a:moveTo>
                  <a:pt x="0" y="0"/>
                </a:moveTo>
                <a:lnTo>
                  <a:pt x="12701349" y="0"/>
                </a:lnTo>
                <a:lnTo>
                  <a:pt x="12701349" y="5382197"/>
                </a:lnTo>
                <a:lnTo>
                  <a:pt x="0" y="5382197"/>
                </a:lnTo>
                <a:lnTo>
                  <a:pt x="0" y="0"/>
                </a:lnTo>
                <a:close/>
              </a:path>
            </a:pathLst>
          </a:custGeom>
          <a:blipFill>
            <a:blip r:embed="rId2"/>
            <a:stretch>
              <a:fillRect l="0" t="0" r="0" b="0"/>
            </a:stretch>
          </a:blipFill>
        </p:spPr>
      </p:sp>
      <p:sp>
        <p:nvSpPr>
          <p:cNvPr name="Freeform 3" id="3"/>
          <p:cNvSpPr/>
          <p:nvPr/>
        </p:nvSpPr>
        <p:spPr>
          <a:xfrm flipH="false" flipV="false" rot="0">
            <a:off x="10986204" y="6250419"/>
            <a:ext cx="11514218" cy="8506128"/>
          </a:xfrm>
          <a:custGeom>
            <a:avLst/>
            <a:gdLst/>
            <a:ahLst/>
            <a:cxnLst/>
            <a:rect r="r" b="b" t="t" l="l"/>
            <a:pathLst>
              <a:path h="8506128" w="11514218">
                <a:moveTo>
                  <a:pt x="0" y="0"/>
                </a:moveTo>
                <a:lnTo>
                  <a:pt x="11514218" y="0"/>
                </a:lnTo>
                <a:lnTo>
                  <a:pt x="11514218" y="8506128"/>
                </a:lnTo>
                <a:lnTo>
                  <a:pt x="0" y="8506128"/>
                </a:lnTo>
                <a:lnTo>
                  <a:pt x="0" y="0"/>
                </a:lnTo>
                <a:close/>
              </a:path>
            </a:pathLst>
          </a:custGeom>
          <a:blipFill>
            <a:blip r:embed="rId3"/>
            <a:stretch>
              <a:fillRect l="0" t="0" r="0" b="0"/>
            </a:stretch>
          </a:blipFill>
        </p:spPr>
      </p:sp>
      <p:grpSp>
        <p:nvGrpSpPr>
          <p:cNvPr name="Group 4" id="4"/>
          <p:cNvGrpSpPr/>
          <p:nvPr/>
        </p:nvGrpSpPr>
        <p:grpSpPr>
          <a:xfrm rot="0">
            <a:off x="17259300" y="-392510"/>
            <a:ext cx="1437565" cy="11072020"/>
            <a:chOff x="0" y="0"/>
            <a:chExt cx="378618" cy="2916088"/>
          </a:xfrm>
        </p:grpSpPr>
        <p:sp>
          <p:nvSpPr>
            <p:cNvPr name="Freeform 5" id="5"/>
            <p:cNvSpPr/>
            <p:nvPr/>
          </p:nvSpPr>
          <p:spPr>
            <a:xfrm flipH="false" flipV="false" rot="0">
              <a:off x="0" y="0"/>
              <a:ext cx="378618" cy="2916088"/>
            </a:xfrm>
            <a:custGeom>
              <a:avLst/>
              <a:gdLst/>
              <a:ahLst/>
              <a:cxnLst/>
              <a:rect r="r" b="b" t="t" l="l"/>
              <a:pathLst>
                <a:path h="2916088" w="378618">
                  <a:moveTo>
                    <a:pt x="0" y="0"/>
                  </a:moveTo>
                  <a:lnTo>
                    <a:pt x="378618" y="0"/>
                  </a:lnTo>
                  <a:lnTo>
                    <a:pt x="378618" y="2916088"/>
                  </a:lnTo>
                  <a:lnTo>
                    <a:pt x="0" y="2916088"/>
                  </a:lnTo>
                  <a:close/>
                </a:path>
              </a:pathLst>
            </a:custGeom>
            <a:gradFill rotWithShape="true">
              <a:gsLst>
                <a:gs pos="0">
                  <a:srgbClr val="E4B795">
                    <a:alpha val="100000"/>
                  </a:srgbClr>
                </a:gs>
                <a:gs pos="50000">
                  <a:srgbClr val="699ACD">
                    <a:alpha val="100000"/>
                  </a:srgbClr>
                </a:gs>
                <a:gs pos="100000">
                  <a:srgbClr val="2F679F">
                    <a:alpha val="100000"/>
                  </a:srgbClr>
                </a:gs>
              </a:gsLst>
              <a:path path="circle">
                <a:fillToRect l="0" r="100000" t="0" b="100000"/>
              </a:path>
              <a:tileRect r="0" l="-100000" b="0" t="-100000"/>
            </a:gradFill>
          </p:spPr>
        </p:sp>
        <p:sp>
          <p:nvSpPr>
            <p:cNvPr name="TextBox 6" id="6"/>
            <p:cNvSpPr txBox="true"/>
            <p:nvPr/>
          </p:nvSpPr>
          <p:spPr>
            <a:xfrm>
              <a:off x="0" y="-57150"/>
              <a:ext cx="378618" cy="2973238"/>
            </a:xfrm>
            <a:prstGeom prst="rect">
              <a:avLst/>
            </a:prstGeom>
          </p:spPr>
          <p:txBody>
            <a:bodyPr anchor="ctr" rtlCol="false" tIns="50800" lIns="50800" bIns="50800" rIns="50800"/>
            <a:lstStyle/>
            <a:p>
              <a:pPr algn="ctr">
                <a:lnSpc>
                  <a:spcPts val="3639"/>
                </a:lnSpc>
              </a:pPr>
            </a:p>
          </p:txBody>
        </p:sp>
      </p:grpSp>
      <p:sp>
        <p:nvSpPr>
          <p:cNvPr name="TextBox 7" id="7"/>
          <p:cNvSpPr txBox="true"/>
          <p:nvPr/>
        </p:nvSpPr>
        <p:spPr>
          <a:xfrm rot="0">
            <a:off x="8021110" y="782737"/>
            <a:ext cx="2492949" cy="351790"/>
          </a:xfrm>
          <a:prstGeom prst="rect">
            <a:avLst/>
          </a:prstGeom>
        </p:spPr>
        <p:txBody>
          <a:bodyPr anchor="t" rtlCol="false" tIns="0" lIns="0" bIns="0" rIns="0">
            <a:spAutoFit/>
          </a:bodyPr>
          <a:lstStyle/>
          <a:p>
            <a:pPr algn="l">
              <a:lnSpc>
                <a:spcPts val="2660"/>
              </a:lnSpc>
              <a:spcBef>
                <a:spcPct val="0"/>
              </a:spcBef>
            </a:pPr>
            <a:r>
              <a:rPr lang="en-US" sz="1900" spc="95">
                <a:solidFill>
                  <a:srgbClr val="164B82"/>
                </a:solidFill>
                <a:latin typeface="Calibri"/>
                <a:ea typeface="Telegraf Extra-Light"/>
                <a:cs typeface="Telegraf Extra-Light"/>
                <a:sym typeface="Telegraf Extra-Light"/>
              </a:rPr>
              <a:t>BCSE497J · Project I</a:t>
            </a:r>
          </a:p>
        </p:txBody>
      </p:sp>
      <p:sp>
        <p:nvSpPr>
          <p:cNvPr name="TextBox 8" id="8"/>
          <p:cNvSpPr txBox="true"/>
          <p:nvPr/>
        </p:nvSpPr>
        <p:spPr>
          <a:xfrm rot="0">
            <a:off x="13305333" y="782737"/>
            <a:ext cx="1819999" cy="351790"/>
          </a:xfrm>
          <a:prstGeom prst="rect">
            <a:avLst/>
          </a:prstGeom>
        </p:spPr>
        <p:txBody>
          <a:bodyPr anchor="t" rtlCol="false" tIns="0" lIns="0" bIns="0" rIns="0">
            <a:spAutoFit/>
          </a:bodyPr>
          <a:lstStyle/>
          <a:p>
            <a:pPr algn="r">
              <a:lnSpc>
                <a:spcPts val="2660"/>
              </a:lnSpc>
              <a:spcBef>
                <a:spcPct val="0"/>
              </a:spcBef>
            </a:pPr>
            <a:r>
              <a:rPr lang="en-US" sz="1900" spc="95">
                <a:solidFill>
                  <a:srgbClr val="164B82"/>
                </a:solidFill>
                <a:latin typeface="Calibri"/>
                <a:ea typeface="Telegraf Extra-Light"/>
                <a:cs typeface="Telegraf Extra-Light"/>
                <a:sym typeface="Telegraf Extra-Light"/>
              </a:rPr>
              <a:t>Oct 2026</a:t>
            </a:r>
          </a:p>
        </p:txBody>
      </p:sp>
      <p:sp>
        <p:nvSpPr>
          <p:cNvPr name="TextBox 9" id="9"/>
          <p:cNvSpPr txBox="true"/>
          <p:nvPr/>
        </p:nvSpPr>
        <p:spPr>
          <a:xfrm rot="0">
            <a:off x="11045641" y="782737"/>
            <a:ext cx="1819999" cy="351790"/>
          </a:xfrm>
          <a:prstGeom prst="rect">
            <a:avLst/>
          </a:prstGeom>
        </p:spPr>
        <p:txBody>
          <a:bodyPr anchor="t" rtlCol="false" tIns="0" lIns="0" bIns="0" rIns="0">
            <a:spAutoFit/>
          </a:bodyPr>
          <a:lstStyle/>
          <a:p>
            <a:pPr algn="ctr">
              <a:lnSpc>
                <a:spcPts val="2660"/>
              </a:lnSpc>
              <a:spcBef>
                <a:spcPct val="0"/>
              </a:spcBef>
            </a:pPr>
            <a:r>
              <a:rPr lang="en-US" sz="1900" spc="95">
                <a:solidFill>
                  <a:srgbClr val="164B82"/>
                </a:solidFill>
                <a:latin typeface="Calibri"/>
                <a:ea typeface="Telegraf Extra-Light"/>
                <a:cs typeface="Telegraf Extra-Light"/>
                <a:sym typeface="Telegraf Extra-Light"/>
              </a:rPr>
              <a:t>Guide Review</a:t>
            </a:r>
          </a:p>
        </p:txBody>
      </p:sp>
      <p:grpSp>
        <p:nvGrpSpPr>
          <p:cNvPr name="Group 10" id="10"/>
          <p:cNvGrpSpPr/>
          <p:nvPr/>
        </p:nvGrpSpPr>
        <p:grpSpPr>
          <a:xfrm rot="5400000">
            <a:off x="11279340" y="-3711595"/>
            <a:ext cx="643045" cy="9407130"/>
            <a:chOff x="0" y="0"/>
            <a:chExt cx="169362" cy="2477598"/>
          </a:xfrm>
        </p:grpSpPr>
        <p:sp>
          <p:nvSpPr>
            <p:cNvPr name="Freeform 11" id="11"/>
            <p:cNvSpPr/>
            <p:nvPr/>
          </p:nvSpPr>
          <p:spPr>
            <a:xfrm flipH="false" flipV="false" rot="0">
              <a:off x="0" y="0"/>
              <a:ext cx="169362" cy="2477598"/>
            </a:xfrm>
            <a:custGeom>
              <a:avLst/>
              <a:gdLst/>
              <a:ahLst/>
              <a:cxnLst/>
              <a:rect r="r" b="b" t="t" l="l"/>
              <a:pathLst>
                <a:path h="2477598" w="169362">
                  <a:moveTo>
                    <a:pt x="84681" y="0"/>
                  </a:moveTo>
                  <a:lnTo>
                    <a:pt x="84681" y="0"/>
                  </a:lnTo>
                  <a:cubicBezTo>
                    <a:pt x="107140" y="0"/>
                    <a:pt x="128678" y="8922"/>
                    <a:pt x="144559" y="24802"/>
                  </a:cubicBezTo>
                  <a:cubicBezTo>
                    <a:pt x="160440" y="40683"/>
                    <a:pt x="169362" y="62222"/>
                    <a:pt x="169362" y="84681"/>
                  </a:cubicBezTo>
                  <a:lnTo>
                    <a:pt x="169362" y="2392917"/>
                  </a:lnTo>
                  <a:cubicBezTo>
                    <a:pt x="169362" y="2439685"/>
                    <a:pt x="131449" y="2477598"/>
                    <a:pt x="84681" y="2477598"/>
                  </a:cubicBezTo>
                  <a:lnTo>
                    <a:pt x="84681" y="2477598"/>
                  </a:lnTo>
                  <a:cubicBezTo>
                    <a:pt x="37913" y="2477598"/>
                    <a:pt x="0" y="2439685"/>
                    <a:pt x="0" y="2392917"/>
                  </a:cubicBezTo>
                  <a:lnTo>
                    <a:pt x="0" y="84681"/>
                  </a:lnTo>
                  <a:cubicBezTo>
                    <a:pt x="0" y="37913"/>
                    <a:pt x="37913" y="0"/>
                    <a:pt x="84681" y="0"/>
                  </a:cubicBezTo>
                  <a:close/>
                </a:path>
              </a:pathLst>
            </a:custGeom>
            <a:ln w="19050" cap="rnd">
              <a:solidFill>
                <a:srgbClr val="164B82"/>
              </a:solidFill>
              <a:prstDash val="solid"/>
              <a:round/>
            </a:ln>
          </p:spPr>
        </p:sp>
        <p:sp>
          <p:nvSpPr>
            <p:cNvPr name="TextBox 12" id="12"/>
            <p:cNvSpPr txBox="true"/>
            <p:nvPr/>
          </p:nvSpPr>
          <p:spPr>
            <a:xfrm>
              <a:off x="0" y="-57150"/>
              <a:ext cx="169362" cy="2534748"/>
            </a:xfrm>
            <a:prstGeom prst="rect">
              <a:avLst/>
            </a:prstGeom>
          </p:spPr>
          <p:txBody>
            <a:bodyPr anchor="ctr" rtlCol="false" tIns="50800" lIns="50800" bIns="50800" rIns="50800"/>
            <a:lstStyle/>
            <a:p>
              <a:pPr algn="ctr">
                <a:lnSpc>
                  <a:spcPts val="3639"/>
                </a:lnSpc>
              </a:pPr>
            </a:p>
          </p:txBody>
        </p:sp>
      </p:grpSp>
      <p:sp>
        <p:nvSpPr>
          <p:cNvPr id="13" name="Title"/>
          <p:cNvSpPr txBox="1"/>
          <p:nvPr/>
        </p:nvSpPr>
        <p:spPr>
          <a:xfrm>
            <a:off x="1005840" y="1371600"/>
            <a:ext cx="15727680" cy="1097280"/>
          </a:xfrm>
          <a:prstGeom prst="rect">
            <a:avLst/>
          </a:prstGeom>
          <a:noFill/>
        </p:spPr>
        <p:txBody>
          <a:bodyPr wrap="square" lIns="0" rIns="0" tIns="0" bIns="0" anchor="ctr">
            <a:spAutoFit/>
          </a:bodyPr>
          <a:lstStyle/>
          <a:p>
            <a:pPr algn="l"/>
            <a:r>
              <a:rPr sz="4800" b="1" i="0">
                <a:solidFill>
                  <a:srgbClr val="343434"/>
                </a:solidFill>
                <a:latin typeface="Calibri"/>
              </a:rPr>
              <a:t>Comparison with Existing Work</a:t>
            </a:r>
          </a:p>
        </p:txBody>
      </p:sp>
      <p:sp>
        <p:nvSpPr>
          <p:cNvPr id="14" name="Page"/>
          <p:cNvSpPr txBox="1"/>
          <p:nvPr/>
        </p:nvSpPr>
        <p:spPr>
          <a:xfrm>
            <a:off x="1005840" y="9646920"/>
            <a:ext cx="3657600" cy="365760"/>
          </a:xfrm>
          <a:prstGeom prst="rect">
            <a:avLst/>
          </a:prstGeom>
          <a:noFill/>
        </p:spPr>
        <p:txBody>
          <a:bodyPr wrap="square" lIns="0" rIns="0" tIns="0" bIns="0" anchor="t">
            <a:spAutoFit/>
          </a:bodyPr>
          <a:lstStyle/>
          <a:p>
            <a:pPr algn="l"/>
            <a:r>
              <a:rPr sz="1800" b="0" i="0">
                <a:solidFill>
                  <a:srgbClr val="164B82"/>
                </a:solidFill>
                <a:latin typeface="Calibri"/>
              </a:rPr>
              <a:t>14 / 19</a:t>
            </a:r>
          </a:p>
        </p:txBody>
      </p:sp>
      <p:graphicFrame>
        <p:nvGraphicFramePr>
          <p:cNvPr id="15" name="Baseline chart"/>
          <p:cNvGraphicFramePr>
            <a:graphicFrameLocks noGrp="1"/>
          </p:cNvGraphicFramePr>
          <p:nvPr/>
        </p:nvGraphicFramePr>
        <p:xfrm>
          <a:off x="1005840" y="2697480"/>
          <a:ext cx="8138160" cy="5577840"/>
        </p:xfrm>
        <a:graphic>
          <a:graphicData uri="http://schemas.openxmlformats.org/drawingml/2006/chart">
            <c:chart xmlns:c="http://schemas.openxmlformats.org/drawingml/2006/chart" r:id="rId5"/>
          </a:graphicData>
        </a:graphic>
      </p:graphicFrame>
      <p:sp>
        <p:nvSpPr>
          <p:cNvPr id="16" name="Baseline caption"/>
          <p:cNvSpPr txBox="1"/>
          <p:nvPr/>
        </p:nvSpPr>
        <p:spPr>
          <a:xfrm>
            <a:off x="1005840" y="8412480"/>
            <a:ext cx="8138160" cy="1005840"/>
          </a:xfrm>
          <a:prstGeom prst="rect">
            <a:avLst/>
          </a:prstGeom>
          <a:noFill/>
        </p:spPr>
        <p:txBody>
          <a:bodyPr wrap="square" lIns="0" rIns="0" tIns="0" bIns="0" anchor="t">
            <a:spAutoFit/>
          </a:bodyPr>
          <a:lstStyle/>
          <a:p>
            <a:pPr algn="l"/>
            <a:r>
              <a:rPr sz="1900" b="0" i="0">
                <a:solidFill>
                  <a:srgbClr val="5B6B7B"/>
                </a:solidFill>
                <a:latin typeface="Calibri"/>
              </a:rPr>
              <a:t>IndicBERT at or above published in 5 of 6 baselines; task-2 Hindi is 3.7 points below.</a:t>
            </a:r>
          </a:p>
        </p:txBody>
      </p:sp>
      <p:graphicFrame>
        <p:nvGraphicFramePr>
          <p:cNvPr id="17" name="Comparison table"/>
          <p:cNvGraphicFramePr>
            <a:graphicFrameLocks noGrp="1"/>
          </p:cNvGraphicFramePr>
          <p:nvPr/>
        </p:nvGraphicFramePr>
        <p:xfrm>
          <a:off x="9509760" y="2697480"/>
          <a:ext cx="7223760" cy="6309360"/>
        </p:xfrm>
        <a:graphic>
          <a:graphicData uri="http://schemas.openxmlformats.org/drawingml/2006/table">
            <a:tbl>
              <a:tblPr firstRow="0" bandRow="0">
                <a:tableStyleId>{2D5ABB26-0587-4C30-8999-92F81FD0307C}</a:tableStyleId>
              </a:tblPr>
              <a:tblGrid>
                <a:gridCol w="3108960"/>
                <a:gridCol w="4114800"/>
              </a:tblGrid>
              <a:tr h="1051560">
                <a:tc>
                  <a:txBody>
                    <a:bodyPr wrap="square"/>
                    <a:lstStyle/>
                    <a:p>
                      <a:r>
                        <a:rPr sz="2100" b="1">
                          <a:solidFill>
                            <a:srgbClr val="FFFFFF"/>
                          </a:solidFill>
                          <a:latin typeface="Calibri"/>
                        </a:rPr>
                        <a:t>Prior work</a:t>
                      </a:r>
                    </a:p>
                  </a:txBody>
                  <a:tcPr marL="128016" marR="128016" marT="45720" marB="45720" anchor="ctr">
                    <a:solidFill>
                      <a:srgbClr val="164B82"/>
                    </a:solidFill>
                  </a:tcPr>
                </a:tc>
                <a:tc>
                  <a:txBody>
                    <a:bodyPr wrap="square"/>
                    <a:lstStyle/>
                    <a:p>
                      <a:r>
                        <a:rPr sz="2100" b="1">
                          <a:solidFill>
                            <a:srgbClr val="FFFFFF"/>
                          </a:solidFill>
                          <a:latin typeface="Calibri"/>
                        </a:rPr>
                        <a:t>This study</a:t>
                      </a:r>
                    </a:p>
                  </a:txBody>
                  <a:tcPr marL="128016" marR="128016" marT="45720" marB="45720" anchor="ctr">
                    <a:solidFill>
                      <a:srgbClr val="164B82"/>
                    </a:solidFill>
                  </a:tcPr>
                </a:tc>
              </a:tr>
              <a:tr h="1051560">
                <a:tc>
                  <a:txBody>
                    <a:bodyPr wrap="square"/>
                    <a:lstStyle/>
                    <a:p>
                      <a:r>
                        <a:rPr sz="2100" b="0">
                          <a:solidFill>
                            <a:srgbClr val="343434"/>
                          </a:solidFill>
                          <a:latin typeface="Calibri"/>
                        </a:rPr>
                        <a:t>Single-language baselines</a:t>
                      </a:r>
                    </a:p>
                  </a:txBody>
                  <a:tcPr marL="128016" marR="128016" marT="45720" marB="45720" anchor="ctr">
                    <a:solidFill>
                      <a:srgbClr val="FFFFFF"/>
                    </a:solidFill>
                  </a:tcPr>
                </a:tc>
                <a:tc>
                  <a:txBody>
                    <a:bodyPr wrap="square"/>
                    <a:lstStyle/>
                    <a:p>
                      <a:r>
                        <a:rPr sz="2100" b="0">
                          <a:solidFill>
                            <a:srgbClr val="343434"/>
                          </a:solidFill>
                          <a:latin typeface="Calibri"/>
                        </a:rPr>
                        <a:t>Transfer across languages, content fixed</a:t>
                      </a:r>
                    </a:p>
                  </a:txBody>
                  <a:tcPr marL="128016" marR="128016" marT="45720" marB="45720" anchor="ctr">
                    <a:solidFill>
                      <a:srgbClr val="FFFFFF"/>
                    </a:solidFill>
                  </a:tcPr>
                </a:tc>
              </a:tr>
              <a:tr h="1051560">
                <a:tc>
                  <a:txBody>
                    <a:bodyPr wrap="square"/>
                    <a:lstStyle/>
                    <a:p>
                      <a:r>
                        <a:rPr sz="2100" b="0">
                          <a:solidFill>
                            <a:srgbClr val="343434"/>
                          </a:solidFill>
                          <a:latin typeface="Calibri"/>
                        </a:rPr>
                        <a:t>Aggregate transfer gaps</a:t>
                      </a:r>
                    </a:p>
                  </a:txBody>
                  <a:tcPr marL="128016" marR="128016" marT="45720" marB="45720" anchor="ctr">
                    <a:solidFill>
                      <a:srgbClr val="EAF1F8"/>
                    </a:solidFill>
                  </a:tcPr>
                </a:tc>
                <a:tc>
                  <a:txBody>
                    <a:bodyPr wrap="square"/>
                    <a:lstStyle/>
                    <a:p>
                      <a:r>
                        <a:rPr sz="2100" b="0">
                          <a:solidFill>
                            <a:srgbClr val="343434"/>
                          </a:solidFill>
                          <a:latin typeface="Calibri"/>
                        </a:rPr>
                        <a:t>Gaps by direction, source, provenance</a:t>
                      </a:r>
                    </a:p>
                  </a:txBody>
                  <a:tcPr marL="128016" marR="128016" marT="45720" marB="45720" anchor="ctr">
                    <a:solidFill>
                      <a:srgbClr val="EAF1F8"/>
                    </a:solidFill>
                  </a:tcPr>
                </a:tc>
              </a:tr>
              <a:tr h="1051560">
                <a:tc>
                  <a:txBody>
                    <a:bodyPr wrap="square"/>
                    <a:lstStyle/>
                    <a:p>
                      <a:r>
                        <a:rPr sz="2100" b="0">
                          <a:solidFill>
                            <a:srgbClr val="343434"/>
                          </a:solidFill>
                          <a:latin typeface="Calibri"/>
                        </a:rPr>
                        <a:t>Unchecked MT benchmarks</a:t>
                      </a:r>
                    </a:p>
                  </a:txBody>
                  <a:tcPr marL="128016" marR="128016" marT="45720" marB="45720" anchor="ctr">
                    <a:solidFill>
                      <a:srgbClr val="FFFFFF"/>
                    </a:solidFill>
                  </a:tcPr>
                </a:tc>
                <a:tc>
                  <a:txBody>
                    <a:bodyPr wrap="square"/>
                    <a:lstStyle/>
                    <a:p>
                      <a:r>
                        <a:rPr sz="2100" b="0">
                          <a:solidFill>
                            <a:srgbClr val="343434"/>
                          </a:solidFill>
                          <a:latin typeface="Calibri"/>
                        </a:rPr>
                        <a:t>92,760 rows checked, flagged, kept</a:t>
                      </a:r>
                    </a:p>
                  </a:txBody>
                  <a:tcPr marL="128016" marR="128016" marT="45720" marB="45720" anchor="ctr">
                    <a:solidFill>
                      <a:srgbClr val="FFFFFF"/>
                    </a:solidFill>
                  </a:tcPr>
                </a:tc>
              </a:tr>
              <a:tr h="1051560">
                <a:tc>
                  <a:txBody>
                    <a:bodyPr wrap="square"/>
                    <a:lstStyle/>
                    <a:p>
                      <a:r>
                        <a:rPr sz="2100" b="0">
                          <a:solidFill>
                            <a:srgbClr val="343434"/>
                          </a:solidFill>
                          <a:latin typeface="Calibri"/>
                        </a:rPr>
                        <a:t>No Indic ESG shared task</a:t>
                      </a:r>
                    </a:p>
                  </a:txBody>
                  <a:tcPr marL="128016" marR="128016" marT="45720" marB="45720" anchor="ctr">
                    <a:solidFill>
                      <a:srgbClr val="EAF1F8"/>
                    </a:solidFill>
                  </a:tcPr>
                </a:tc>
                <a:tc>
                  <a:txBody>
                    <a:bodyPr wrap="square"/>
                    <a:lstStyle/>
                    <a:p>
                      <a:r>
                        <a:rPr sz="2100" b="0">
                          <a:solidFill>
                            <a:srgbClr val="343434"/>
                          </a:solidFill>
                          <a:latin typeface="Calibri"/>
                        </a:rPr>
                        <a:t>Hi, Bn, Te, Ml financial + ESG corpus</a:t>
                      </a:r>
                    </a:p>
                  </a:txBody>
                  <a:tcPr marL="128016" marR="128016" marT="45720" marB="45720" anchor="ctr">
                    <a:solidFill>
                      <a:srgbClr val="EAF1F8"/>
                    </a:solidFill>
                  </a:tcPr>
                </a:tc>
              </a:tr>
              <a:tr h="1051560">
                <a:tc>
                  <a:txBody>
                    <a:bodyPr wrap="square"/>
                    <a:lstStyle/>
                    <a:p>
                      <a:r>
                        <a:rPr sz="2100" b="0">
                          <a:solidFill>
                            <a:srgbClr val="343434"/>
                          </a:solidFill>
                          <a:latin typeface="Calibri"/>
                        </a:rPr>
                        <a:t>Gap sizes, causes unlabelled</a:t>
                      </a:r>
                    </a:p>
                  </a:txBody>
                  <a:tcPr marL="128016" marR="128016" marT="45720" marB="45720" anchor="ctr">
                    <a:solidFill>
                      <a:srgbClr val="FFFFFF"/>
                    </a:solidFill>
                  </a:tcPr>
                </a:tc>
                <a:tc>
                  <a:txBody>
                    <a:bodyPr wrap="square"/>
                    <a:lstStyle/>
                    <a:p>
                      <a:r>
                        <a:rPr sz="2100" b="0">
                          <a:solidFill>
                            <a:srgbClr val="343434"/>
                          </a:solidFill>
                          <a:latin typeface="Calibri"/>
                        </a:rPr>
                        <a:t>Every failure gets one cause label</a:t>
                      </a:r>
                    </a:p>
                  </a:txBody>
                  <a:tcPr marL="128016" marR="128016" marT="45720" marB="45720" anchor="ctr">
                    <a:solidFill>
                      <a:srgbClr val="FFFFFF"/>
                    </a:solidFill>
                  </a:tcPr>
                </a:tc>
              </a:tr>
            </a:tbl>
          </a:graphicData>
        </a:graphic>
      </p:graphicFrame>
      <p:sp>
        <p:nvSpPr>
          <p:cNvPr id="18" name="TextBox 17"/>
          <p:cNvSpPr txBox="1"/>
          <p:nvPr/>
        </p:nvSpPr>
        <p:spPr>
          <a:xfrm>
            <a:off x="9509760" y="9098280"/>
            <a:ext cx="7223760" cy="457200"/>
          </a:xfrm>
          <a:prstGeom prst="rect">
            <a:avLst/>
          </a:prstGeom>
          <a:noFill/>
        </p:spPr>
        <p:txBody>
          <a:bodyPr wrap="square" lIns="0" rIns="0" tIns="0" bIns="0" anchor="t">
            <a:spAutoFit/>
          </a:bodyPr>
          <a:lstStyle/>
          <a:p>
            <a:pPr algn="l"/>
            <a:r>
              <a:rPr sz="1500" b="0" i="0">
                <a:solidFill>
                  <a:srgbClr val="5B6B7B"/>
                </a:solidFill>
                <a:latin typeface="Calibri"/>
              </a:rPr>
              <a:t>Citations: Ghosh et al. (2024); Hu et al. (2020); Agrawal et al. (2024)</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name="Freeform 2" id="2"/>
          <p:cNvSpPr/>
          <p:nvPr/>
        </p:nvSpPr>
        <p:spPr>
          <a:xfrm flipH="false" flipV="false" rot="225008">
            <a:off x="-467361" y="-2757747"/>
            <a:ext cx="12701350" cy="5382197"/>
          </a:xfrm>
          <a:custGeom>
            <a:avLst/>
            <a:gdLst/>
            <a:ahLst/>
            <a:cxnLst/>
            <a:rect r="r" b="b" t="t" l="l"/>
            <a:pathLst>
              <a:path h="5382197" w="12701350">
                <a:moveTo>
                  <a:pt x="0" y="0"/>
                </a:moveTo>
                <a:lnTo>
                  <a:pt x="12701349" y="0"/>
                </a:lnTo>
                <a:lnTo>
                  <a:pt x="12701349" y="5382197"/>
                </a:lnTo>
                <a:lnTo>
                  <a:pt x="0" y="5382197"/>
                </a:lnTo>
                <a:lnTo>
                  <a:pt x="0" y="0"/>
                </a:lnTo>
                <a:close/>
              </a:path>
            </a:pathLst>
          </a:custGeom>
          <a:blipFill>
            <a:blip r:embed="rId2"/>
            <a:stretch>
              <a:fillRect l="0" t="0" r="0" b="0"/>
            </a:stretch>
          </a:blipFill>
        </p:spPr>
      </p:sp>
      <p:sp>
        <p:nvSpPr>
          <p:cNvPr name="Freeform 3" id="3"/>
          <p:cNvSpPr/>
          <p:nvPr/>
        </p:nvSpPr>
        <p:spPr>
          <a:xfrm flipH="false" flipV="false" rot="0">
            <a:off x="10986204" y="6250419"/>
            <a:ext cx="11514218" cy="8506128"/>
          </a:xfrm>
          <a:custGeom>
            <a:avLst/>
            <a:gdLst/>
            <a:ahLst/>
            <a:cxnLst/>
            <a:rect r="r" b="b" t="t" l="l"/>
            <a:pathLst>
              <a:path h="8506128" w="11514218">
                <a:moveTo>
                  <a:pt x="0" y="0"/>
                </a:moveTo>
                <a:lnTo>
                  <a:pt x="11514218" y="0"/>
                </a:lnTo>
                <a:lnTo>
                  <a:pt x="11514218" y="8506128"/>
                </a:lnTo>
                <a:lnTo>
                  <a:pt x="0" y="8506128"/>
                </a:lnTo>
                <a:lnTo>
                  <a:pt x="0" y="0"/>
                </a:lnTo>
                <a:close/>
              </a:path>
            </a:pathLst>
          </a:custGeom>
          <a:blipFill>
            <a:blip r:embed="rId3"/>
            <a:stretch>
              <a:fillRect l="0" t="0" r="0" b="0"/>
            </a:stretch>
          </a:blipFill>
        </p:spPr>
      </p:sp>
      <p:grpSp>
        <p:nvGrpSpPr>
          <p:cNvPr name="Group 4" id="4"/>
          <p:cNvGrpSpPr/>
          <p:nvPr/>
        </p:nvGrpSpPr>
        <p:grpSpPr>
          <a:xfrm rot="0">
            <a:off x="17259300" y="-392510"/>
            <a:ext cx="1437565" cy="11072020"/>
            <a:chOff x="0" y="0"/>
            <a:chExt cx="378618" cy="2916088"/>
          </a:xfrm>
        </p:grpSpPr>
        <p:sp>
          <p:nvSpPr>
            <p:cNvPr name="Freeform 5" id="5"/>
            <p:cNvSpPr/>
            <p:nvPr/>
          </p:nvSpPr>
          <p:spPr>
            <a:xfrm flipH="false" flipV="false" rot="0">
              <a:off x="0" y="0"/>
              <a:ext cx="378618" cy="2916088"/>
            </a:xfrm>
            <a:custGeom>
              <a:avLst/>
              <a:gdLst/>
              <a:ahLst/>
              <a:cxnLst/>
              <a:rect r="r" b="b" t="t" l="l"/>
              <a:pathLst>
                <a:path h="2916088" w="378618">
                  <a:moveTo>
                    <a:pt x="0" y="0"/>
                  </a:moveTo>
                  <a:lnTo>
                    <a:pt x="378618" y="0"/>
                  </a:lnTo>
                  <a:lnTo>
                    <a:pt x="378618" y="2916088"/>
                  </a:lnTo>
                  <a:lnTo>
                    <a:pt x="0" y="2916088"/>
                  </a:lnTo>
                  <a:close/>
                </a:path>
              </a:pathLst>
            </a:custGeom>
            <a:gradFill rotWithShape="true">
              <a:gsLst>
                <a:gs pos="0">
                  <a:srgbClr val="E4B795">
                    <a:alpha val="100000"/>
                  </a:srgbClr>
                </a:gs>
                <a:gs pos="50000">
                  <a:srgbClr val="699ACD">
                    <a:alpha val="100000"/>
                  </a:srgbClr>
                </a:gs>
                <a:gs pos="100000">
                  <a:srgbClr val="2F679F">
                    <a:alpha val="100000"/>
                  </a:srgbClr>
                </a:gs>
              </a:gsLst>
              <a:path path="circle">
                <a:fillToRect l="0" r="100000" t="0" b="100000"/>
              </a:path>
              <a:tileRect r="0" l="-100000" b="0" t="-100000"/>
            </a:gradFill>
          </p:spPr>
        </p:sp>
        <p:sp>
          <p:nvSpPr>
            <p:cNvPr name="TextBox 6" id="6"/>
            <p:cNvSpPr txBox="true"/>
            <p:nvPr/>
          </p:nvSpPr>
          <p:spPr>
            <a:xfrm>
              <a:off x="0" y="-57150"/>
              <a:ext cx="378618" cy="2973238"/>
            </a:xfrm>
            <a:prstGeom prst="rect">
              <a:avLst/>
            </a:prstGeom>
          </p:spPr>
          <p:txBody>
            <a:bodyPr anchor="ctr" rtlCol="false" tIns="50800" lIns="50800" bIns="50800" rIns="50800"/>
            <a:lstStyle/>
            <a:p>
              <a:pPr algn="ctr">
                <a:lnSpc>
                  <a:spcPts val="3639"/>
                </a:lnSpc>
              </a:pPr>
            </a:p>
          </p:txBody>
        </p:sp>
      </p:grpSp>
      <p:sp>
        <p:nvSpPr>
          <p:cNvPr name="TextBox 7" id="7"/>
          <p:cNvSpPr txBox="true"/>
          <p:nvPr/>
        </p:nvSpPr>
        <p:spPr>
          <a:xfrm rot="0">
            <a:off x="8021110" y="782737"/>
            <a:ext cx="2492949" cy="351790"/>
          </a:xfrm>
          <a:prstGeom prst="rect">
            <a:avLst/>
          </a:prstGeom>
        </p:spPr>
        <p:txBody>
          <a:bodyPr anchor="t" rtlCol="false" tIns="0" lIns="0" bIns="0" rIns="0">
            <a:spAutoFit/>
          </a:bodyPr>
          <a:lstStyle/>
          <a:p>
            <a:pPr algn="l">
              <a:lnSpc>
                <a:spcPts val="2660"/>
              </a:lnSpc>
              <a:spcBef>
                <a:spcPct val="0"/>
              </a:spcBef>
            </a:pPr>
            <a:r>
              <a:rPr lang="en-US" sz="1900" spc="95">
                <a:solidFill>
                  <a:srgbClr val="164B82"/>
                </a:solidFill>
                <a:latin typeface="Calibri"/>
                <a:ea typeface="Telegraf Extra-Light"/>
                <a:cs typeface="Telegraf Extra-Light"/>
                <a:sym typeface="Telegraf Extra-Light"/>
              </a:rPr>
              <a:t>BCSE497J · Project I</a:t>
            </a:r>
          </a:p>
        </p:txBody>
      </p:sp>
      <p:sp>
        <p:nvSpPr>
          <p:cNvPr name="TextBox 8" id="8"/>
          <p:cNvSpPr txBox="true"/>
          <p:nvPr/>
        </p:nvSpPr>
        <p:spPr>
          <a:xfrm rot="0">
            <a:off x="13305333" y="782737"/>
            <a:ext cx="1819999" cy="351790"/>
          </a:xfrm>
          <a:prstGeom prst="rect">
            <a:avLst/>
          </a:prstGeom>
        </p:spPr>
        <p:txBody>
          <a:bodyPr anchor="t" rtlCol="false" tIns="0" lIns="0" bIns="0" rIns="0">
            <a:spAutoFit/>
          </a:bodyPr>
          <a:lstStyle/>
          <a:p>
            <a:pPr algn="r">
              <a:lnSpc>
                <a:spcPts val="2660"/>
              </a:lnSpc>
              <a:spcBef>
                <a:spcPct val="0"/>
              </a:spcBef>
            </a:pPr>
            <a:r>
              <a:rPr lang="en-US" sz="1900" spc="95">
                <a:solidFill>
                  <a:srgbClr val="164B82"/>
                </a:solidFill>
                <a:latin typeface="Calibri"/>
                <a:ea typeface="Telegraf Extra-Light"/>
                <a:cs typeface="Telegraf Extra-Light"/>
                <a:sym typeface="Telegraf Extra-Light"/>
              </a:rPr>
              <a:t>Oct 2026</a:t>
            </a:r>
          </a:p>
        </p:txBody>
      </p:sp>
      <p:sp>
        <p:nvSpPr>
          <p:cNvPr name="TextBox 9" id="9"/>
          <p:cNvSpPr txBox="true"/>
          <p:nvPr/>
        </p:nvSpPr>
        <p:spPr>
          <a:xfrm rot="0">
            <a:off x="11045641" y="782737"/>
            <a:ext cx="1819999" cy="351790"/>
          </a:xfrm>
          <a:prstGeom prst="rect">
            <a:avLst/>
          </a:prstGeom>
        </p:spPr>
        <p:txBody>
          <a:bodyPr anchor="t" rtlCol="false" tIns="0" lIns="0" bIns="0" rIns="0">
            <a:spAutoFit/>
          </a:bodyPr>
          <a:lstStyle/>
          <a:p>
            <a:pPr algn="ctr">
              <a:lnSpc>
                <a:spcPts val="2660"/>
              </a:lnSpc>
              <a:spcBef>
                <a:spcPct val="0"/>
              </a:spcBef>
            </a:pPr>
            <a:r>
              <a:rPr lang="en-US" sz="1900" spc="95">
                <a:solidFill>
                  <a:srgbClr val="164B82"/>
                </a:solidFill>
                <a:latin typeface="Calibri"/>
                <a:ea typeface="Telegraf Extra-Light"/>
                <a:cs typeface="Telegraf Extra-Light"/>
                <a:sym typeface="Telegraf Extra-Light"/>
              </a:rPr>
              <a:t>Guide Review</a:t>
            </a:r>
          </a:p>
        </p:txBody>
      </p:sp>
      <p:grpSp>
        <p:nvGrpSpPr>
          <p:cNvPr name="Group 10" id="10"/>
          <p:cNvGrpSpPr/>
          <p:nvPr/>
        </p:nvGrpSpPr>
        <p:grpSpPr>
          <a:xfrm rot="5400000">
            <a:off x="11279340" y="-3711595"/>
            <a:ext cx="643045" cy="9407130"/>
            <a:chOff x="0" y="0"/>
            <a:chExt cx="169362" cy="2477598"/>
          </a:xfrm>
        </p:grpSpPr>
        <p:sp>
          <p:nvSpPr>
            <p:cNvPr name="Freeform 11" id="11"/>
            <p:cNvSpPr/>
            <p:nvPr/>
          </p:nvSpPr>
          <p:spPr>
            <a:xfrm flipH="false" flipV="false" rot="0">
              <a:off x="0" y="0"/>
              <a:ext cx="169362" cy="2477598"/>
            </a:xfrm>
            <a:custGeom>
              <a:avLst/>
              <a:gdLst/>
              <a:ahLst/>
              <a:cxnLst/>
              <a:rect r="r" b="b" t="t" l="l"/>
              <a:pathLst>
                <a:path h="2477598" w="169362">
                  <a:moveTo>
                    <a:pt x="84681" y="0"/>
                  </a:moveTo>
                  <a:lnTo>
                    <a:pt x="84681" y="0"/>
                  </a:lnTo>
                  <a:cubicBezTo>
                    <a:pt x="107140" y="0"/>
                    <a:pt x="128678" y="8922"/>
                    <a:pt x="144559" y="24802"/>
                  </a:cubicBezTo>
                  <a:cubicBezTo>
                    <a:pt x="160440" y="40683"/>
                    <a:pt x="169362" y="62222"/>
                    <a:pt x="169362" y="84681"/>
                  </a:cubicBezTo>
                  <a:lnTo>
                    <a:pt x="169362" y="2392917"/>
                  </a:lnTo>
                  <a:cubicBezTo>
                    <a:pt x="169362" y="2439685"/>
                    <a:pt x="131449" y="2477598"/>
                    <a:pt x="84681" y="2477598"/>
                  </a:cubicBezTo>
                  <a:lnTo>
                    <a:pt x="84681" y="2477598"/>
                  </a:lnTo>
                  <a:cubicBezTo>
                    <a:pt x="37913" y="2477598"/>
                    <a:pt x="0" y="2439685"/>
                    <a:pt x="0" y="2392917"/>
                  </a:cubicBezTo>
                  <a:lnTo>
                    <a:pt x="0" y="84681"/>
                  </a:lnTo>
                  <a:cubicBezTo>
                    <a:pt x="0" y="37913"/>
                    <a:pt x="37913" y="0"/>
                    <a:pt x="84681" y="0"/>
                  </a:cubicBezTo>
                  <a:close/>
                </a:path>
              </a:pathLst>
            </a:custGeom>
            <a:ln w="19050" cap="rnd">
              <a:solidFill>
                <a:srgbClr val="164B82"/>
              </a:solidFill>
              <a:prstDash val="solid"/>
              <a:round/>
            </a:ln>
          </p:spPr>
        </p:sp>
        <p:sp>
          <p:nvSpPr>
            <p:cNvPr name="TextBox 12" id="12"/>
            <p:cNvSpPr txBox="true"/>
            <p:nvPr/>
          </p:nvSpPr>
          <p:spPr>
            <a:xfrm>
              <a:off x="0" y="-57150"/>
              <a:ext cx="169362" cy="2534748"/>
            </a:xfrm>
            <a:prstGeom prst="rect">
              <a:avLst/>
            </a:prstGeom>
          </p:spPr>
          <p:txBody>
            <a:bodyPr anchor="ctr" rtlCol="false" tIns="50800" lIns="50800" bIns="50800" rIns="50800"/>
            <a:lstStyle/>
            <a:p>
              <a:pPr algn="ctr">
                <a:lnSpc>
                  <a:spcPts val="3639"/>
                </a:lnSpc>
              </a:pPr>
            </a:p>
          </p:txBody>
        </p:sp>
      </p:grpSp>
      <p:sp>
        <p:nvSpPr>
          <p:cNvPr id="13" name="Title"/>
          <p:cNvSpPr txBox="1"/>
          <p:nvPr/>
        </p:nvSpPr>
        <p:spPr>
          <a:xfrm>
            <a:off x="1005840" y="1371600"/>
            <a:ext cx="15727680" cy="1097280"/>
          </a:xfrm>
          <a:prstGeom prst="rect">
            <a:avLst/>
          </a:prstGeom>
          <a:noFill/>
        </p:spPr>
        <p:txBody>
          <a:bodyPr wrap="square" lIns="0" rIns="0" tIns="0" bIns="0" anchor="ctr">
            <a:spAutoFit/>
          </a:bodyPr>
          <a:lstStyle/>
          <a:p>
            <a:pPr algn="l"/>
            <a:r>
              <a:rPr sz="4800" b="1" i="0">
                <a:solidFill>
                  <a:srgbClr val="343434"/>
                </a:solidFill>
                <a:latin typeface="Calibri"/>
              </a:rPr>
              <a:t>Limitations and Interpretation</a:t>
            </a:r>
          </a:p>
        </p:txBody>
      </p:sp>
      <p:sp>
        <p:nvSpPr>
          <p:cNvPr id="14" name="Page"/>
          <p:cNvSpPr txBox="1"/>
          <p:nvPr/>
        </p:nvSpPr>
        <p:spPr>
          <a:xfrm>
            <a:off x="1005840" y="9646920"/>
            <a:ext cx="3657600" cy="365760"/>
          </a:xfrm>
          <a:prstGeom prst="rect">
            <a:avLst/>
          </a:prstGeom>
          <a:noFill/>
        </p:spPr>
        <p:txBody>
          <a:bodyPr wrap="square" lIns="0" rIns="0" tIns="0" bIns="0" anchor="t">
            <a:spAutoFit/>
          </a:bodyPr>
          <a:lstStyle/>
          <a:p>
            <a:pPr algn="l"/>
            <a:r>
              <a:rPr sz="1800" b="0" i="0">
                <a:solidFill>
                  <a:srgbClr val="164B82"/>
                </a:solidFill>
                <a:latin typeface="Calibri"/>
              </a:rPr>
              <a:t>15 / 19</a:t>
            </a:r>
          </a:p>
        </p:txBody>
      </p:sp>
      <p:sp>
        <p:nvSpPr>
          <p:cNvPr id="15" name="TextBox 14"/>
          <p:cNvSpPr txBox="1"/>
          <p:nvPr/>
        </p:nvSpPr>
        <p:spPr>
          <a:xfrm>
            <a:off x="1005840" y="2697480"/>
            <a:ext cx="8229600" cy="457200"/>
          </a:xfrm>
          <a:prstGeom prst="rect">
            <a:avLst/>
          </a:prstGeom>
          <a:noFill/>
        </p:spPr>
        <p:txBody>
          <a:bodyPr wrap="square" lIns="0" rIns="0" tIns="0" bIns="0" anchor="t">
            <a:spAutoFit/>
          </a:bodyPr>
          <a:lstStyle/>
          <a:p>
            <a:pPr algn="l"/>
            <a:r>
              <a:rPr sz="2200" b="1" i="0">
                <a:solidFill>
                  <a:srgbClr val="B8742F"/>
                </a:solidFill>
                <a:latin typeface="Calibri"/>
              </a:rPr>
              <a:t>LIMITATIONS</a:t>
            </a:r>
          </a:p>
        </p:txBody>
      </p:sp>
      <p:sp>
        <p:nvSpPr>
          <p:cNvPr id="16" name="Limitations"/>
          <p:cNvSpPr txBox="1"/>
          <p:nvPr/>
        </p:nvSpPr>
        <p:spPr>
          <a:xfrm>
            <a:off x="1005840" y="3291840"/>
            <a:ext cx="8412480" cy="5852160"/>
          </a:xfrm>
          <a:prstGeom prst="rect">
            <a:avLst/>
          </a:prstGeom>
          <a:noFill/>
        </p:spPr>
        <p:txBody>
          <a:bodyPr wrap="square" lIns="0" rIns="0" tIns="0" bIns="0">
            <a:spAutoFit/>
          </a:bodyPr>
          <a:lstStyle/>
          <a:p>
            <a:pPr marL="384048" indent="-384048">
              <a:spcAft>
                <a:spcPts val="2600"/>
              </a:spcAft>
              <a:buClr>
                <a:srgbClr val="2F679F"/>
              </a:buClr>
              <a:buFont typeface="Arial"/>
              <a:buChar char="•"/>
            </a:pPr>
            <a:r>
              <a:rPr sz="3200" b="0">
                <a:solidFill>
                  <a:srgbClr val="343434"/>
                </a:solidFill>
                <a:latin typeface="Calibri"/>
              </a:rPr>
              <a:t>No native Malayalam text exists</a:t>
            </a:r>
          </a:p>
          <a:p>
            <a:pPr marL="384048" indent="-384048">
              <a:spcAft>
                <a:spcPts val="2600"/>
              </a:spcAft>
              <a:buClr>
                <a:srgbClr val="2F679F"/>
              </a:buClr>
              <a:buFont typeface="Arial"/>
              <a:buChar char="•"/>
            </a:pPr>
            <a:r>
              <a:rPr sz="3200" b="0">
                <a:solidFill>
                  <a:srgbClr val="343434"/>
                </a:solidFill>
                <a:latin typeface="Calibri"/>
              </a:rPr>
              <a:t>Human check covers 180 rows per task</a:t>
            </a:r>
          </a:p>
          <a:p>
            <a:pPr marL="384048" indent="-384048">
              <a:spcAft>
                <a:spcPts val="2600"/>
              </a:spcAft>
              <a:buClr>
                <a:srgbClr val="2F679F"/>
              </a:buClr>
              <a:buFont typeface="Arial"/>
              <a:buChar char="•"/>
            </a:pPr>
            <a:r>
              <a:rPr sz="3200" b="0">
                <a:solidFill>
                  <a:srgbClr val="343434"/>
                </a:solidFill>
                <a:latin typeface="Calibri"/>
              </a:rPr>
              <a:t>LaBSE rewards literal, not adequate, translation</a:t>
            </a:r>
          </a:p>
          <a:p>
            <a:pPr marL="384048" indent="-384048">
              <a:spcAft>
                <a:spcPts val="2600"/>
              </a:spcAft>
              <a:buClr>
                <a:srgbClr val="2F679F"/>
              </a:buClr>
              <a:buFont typeface="Arial"/>
              <a:buChar char="•"/>
            </a:pPr>
            <a:r>
              <a:rPr sz="3200" b="0">
                <a:solidFill>
                  <a:srgbClr val="343434"/>
                </a:solidFill>
                <a:latin typeface="Calibri"/>
              </a:rPr>
              <a:t>Same content in training and test, by design</a:t>
            </a:r>
          </a:p>
          <a:p>
            <a:pPr marL="384048" indent="-384048">
              <a:spcAft>
                <a:spcPts val="2600"/>
              </a:spcAft>
              <a:buClr>
                <a:srgbClr val="2F679F"/>
              </a:buClr>
              <a:buFont typeface="Arial"/>
              <a:buChar char="•"/>
            </a:pPr>
            <a:r>
              <a:rPr sz="3200" b="0">
                <a:solidFill>
                  <a:srgbClr val="343434"/>
                </a:solidFill>
                <a:latin typeface="Calibri"/>
              </a:rPr>
              <a:t>XLM-R excluded: 4 GB GPU limit</a:t>
            </a:r>
          </a:p>
        </p:txBody>
      </p:sp>
      <p:sp>
        <p:nvSpPr>
          <p:cNvPr id="17" name="Interpretation card"/>
          <p:cNvSpPr/>
          <p:nvPr/>
        </p:nvSpPr>
        <p:spPr>
          <a:xfrm>
            <a:off x="9875520" y="2697480"/>
            <a:ext cx="6858000" cy="6675120"/>
          </a:xfrm>
          <a:prstGeom prst="roundRect">
            <a:avLst>
              <a:gd name="adj" fmla="val 6000"/>
            </a:avLst>
          </a:prstGeom>
          <a:solidFill>
            <a:srgbClr val="164B82">
              <a:alpha val="100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10241280" y="2971800"/>
            <a:ext cx="6126480" cy="457200"/>
          </a:xfrm>
          <a:prstGeom prst="rect">
            <a:avLst/>
          </a:prstGeom>
          <a:noFill/>
        </p:spPr>
        <p:txBody>
          <a:bodyPr wrap="square" lIns="0" rIns="0" tIns="0" bIns="0" anchor="t">
            <a:spAutoFit/>
          </a:bodyPr>
          <a:lstStyle/>
          <a:p>
            <a:pPr algn="l"/>
            <a:r>
              <a:rPr sz="2000" b="1" i="0">
                <a:solidFill>
                  <a:srgbClr val="E4B795"/>
                </a:solidFill>
                <a:latin typeface="Calibri"/>
              </a:rPr>
              <a:t>HOW TO READ THE RESULTS</a:t>
            </a:r>
          </a:p>
        </p:txBody>
      </p:sp>
      <p:sp>
        <p:nvSpPr>
          <p:cNvPr id="19" name="Interpretation"/>
          <p:cNvSpPr txBox="1"/>
          <p:nvPr/>
        </p:nvSpPr>
        <p:spPr>
          <a:xfrm>
            <a:off x="10241280" y="3657600"/>
            <a:ext cx="6217920" cy="5486400"/>
          </a:xfrm>
          <a:prstGeom prst="rect">
            <a:avLst/>
          </a:prstGeom>
          <a:noFill/>
        </p:spPr>
        <p:txBody>
          <a:bodyPr wrap="square" lIns="0" rIns="0" tIns="0" bIns="0">
            <a:spAutoFit/>
          </a:bodyPr>
          <a:lstStyle/>
          <a:p>
            <a:pPr marL="384048" indent="-384048">
              <a:spcAft>
                <a:spcPts val="2200"/>
              </a:spcAft>
              <a:buClr>
                <a:srgbClr val="2F679F"/>
              </a:buClr>
              <a:buFont typeface="Arial"/>
              <a:buChar char="•"/>
            </a:pPr>
            <a:r>
              <a:rPr sz="2700" b="0">
                <a:solidFill>
                  <a:srgbClr val="FFFFFF"/>
                </a:solidFill>
                <a:latin typeface="Calibri"/>
              </a:rPr>
              <a:t>Gaps measure the cost of changing language, not generalisation</a:t>
            </a:r>
          </a:p>
          <a:p>
            <a:pPr marL="384048" indent="-384048">
              <a:spcAft>
                <a:spcPts val="2200"/>
              </a:spcAft>
              <a:buClr>
                <a:srgbClr val="2F679F"/>
              </a:buClr>
              <a:buFont typeface="Arial"/>
              <a:buChar char="•"/>
            </a:pPr>
            <a:r>
              <a:rPr sz="2700" b="0">
                <a:solidFill>
                  <a:srgbClr val="FFFFFF"/>
                </a:solidFill>
                <a:latin typeface="Calibri"/>
              </a:rPr>
              <a:t>Linguistic causes: only 8.8–12.0% of failures</a:t>
            </a:r>
          </a:p>
          <a:p>
            <a:pPr marL="384048" indent="-384048">
              <a:spcAft>
                <a:spcPts val="2200"/>
              </a:spcAft>
              <a:buClr>
                <a:srgbClr val="2F679F"/>
              </a:buClr>
              <a:buFont typeface="Arial"/>
              <a:buChar char="•"/>
            </a:pPr>
            <a:r>
              <a:rPr sz="2700" b="0">
                <a:solidFill>
                  <a:srgbClr val="FFFFFF"/>
                </a:solidFill>
                <a:latin typeface="Calibri"/>
              </a:rPr>
              <a:t>Two linguistic modules predict failure no better than chance</a:t>
            </a:r>
          </a:p>
          <a:p>
            <a:pPr marL="384048" indent="-384048">
              <a:spcAft>
                <a:spcPts val="2200"/>
              </a:spcAft>
              <a:buClr>
                <a:srgbClr val="2F679F"/>
              </a:buClr>
              <a:buFont typeface="Arial"/>
              <a:buChar char="•"/>
            </a:pPr>
            <a:r>
              <a:rPr sz="2700" b="0">
                <a:solidFill>
                  <a:srgbClr val="FFFFFF"/>
                </a:solidFill>
                <a:latin typeface="Calibri"/>
              </a:rPr>
              <a:t>Size and shape of the gap are firm; its causes stay open</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name="Freeform 2" id="2"/>
          <p:cNvSpPr/>
          <p:nvPr/>
        </p:nvSpPr>
        <p:spPr>
          <a:xfrm flipH="false" flipV="false" rot="225008">
            <a:off x="-467361" y="-2757747"/>
            <a:ext cx="12701350" cy="5382197"/>
          </a:xfrm>
          <a:custGeom>
            <a:avLst/>
            <a:gdLst/>
            <a:ahLst/>
            <a:cxnLst/>
            <a:rect r="r" b="b" t="t" l="l"/>
            <a:pathLst>
              <a:path h="5382197" w="12701350">
                <a:moveTo>
                  <a:pt x="0" y="0"/>
                </a:moveTo>
                <a:lnTo>
                  <a:pt x="12701349" y="0"/>
                </a:lnTo>
                <a:lnTo>
                  <a:pt x="12701349" y="5382197"/>
                </a:lnTo>
                <a:lnTo>
                  <a:pt x="0" y="5382197"/>
                </a:lnTo>
                <a:lnTo>
                  <a:pt x="0" y="0"/>
                </a:lnTo>
                <a:close/>
              </a:path>
            </a:pathLst>
          </a:custGeom>
          <a:blipFill>
            <a:blip r:embed="rId2"/>
            <a:stretch>
              <a:fillRect l="0" t="0" r="0" b="0"/>
            </a:stretch>
          </a:blipFill>
        </p:spPr>
      </p:sp>
      <p:sp>
        <p:nvSpPr>
          <p:cNvPr name="Freeform 3" id="3"/>
          <p:cNvSpPr/>
          <p:nvPr/>
        </p:nvSpPr>
        <p:spPr>
          <a:xfrm flipH="false" flipV="false" rot="0">
            <a:off x="10986204" y="6250419"/>
            <a:ext cx="11514218" cy="8506128"/>
          </a:xfrm>
          <a:custGeom>
            <a:avLst/>
            <a:gdLst/>
            <a:ahLst/>
            <a:cxnLst/>
            <a:rect r="r" b="b" t="t" l="l"/>
            <a:pathLst>
              <a:path h="8506128" w="11514218">
                <a:moveTo>
                  <a:pt x="0" y="0"/>
                </a:moveTo>
                <a:lnTo>
                  <a:pt x="11514218" y="0"/>
                </a:lnTo>
                <a:lnTo>
                  <a:pt x="11514218" y="8506128"/>
                </a:lnTo>
                <a:lnTo>
                  <a:pt x="0" y="8506128"/>
                </a:lnTo>
                <a:lnTo>
                  <a:pt x="0" y="0"/>
                </a:lnTo>
                <a:close/>
              </a:path>
            </a:pathLst>
          </a:custGeom>
          <a:blipFill>
            <a:blip r:embed="rId3"/>
            <a:stretch>
              <a:fillRect l="0" t="0" r="0" b="0"/>
            </a:stretch>
          </a:blipFill>
        </p:spPr>
      </p:sp>
      <p:grpSp>
        <p:nvGrpSpPr>
          <p:cNvPr name="Group 4" id="4"/>
          <p:cNvGrpSpPr/>
          <p:nvPr/>
        </p:nvGrpSpPr>
        <p:grpSpPr>
          <a:xfrm rot="0">
            <a:off x="17259300" y="-392510"/>
            <a:ext cx="1437565" cy="11072020"/>
            <a:chOff x="0" y="0"/>
            <a:chExt cx="378618" cy="2916088"/>
          </a:xfrm>
        </p:grpSpPr>
        <p:sp>
          <p:nvSpPr>
            <p:cNvPr name="Freeform 5" id="5"/>
            <p:cNvSpPr/>
            <p:nvPr/>
          </p:nvSpPr>
          <p:spPr>
            <a:xfrm flipH="false" flipV="false" rot="0">
              <a:off x="0" y="0"/>
              <a:ext cx="378618" cy="2916088"/>
            </a:xfrm>
            <a:custGeom>
              <a:avLst/>
              <a:gdLst/>
              <a:ahLst/>
              <a:cxnLst/>
              <a:rect r="r" b="b" t="t" l="l"/>
              <a:pathLst>
                <a:path h="2916088" w="378618">
                  <a:moveTo>
                    <a:pt x="0" y="0"/>
                  </a:moveTo>
                  <a:lnTo>
                    <a:pt x="378618" y="0"/>
                  </a:lnTo>
                  <a:lnTo>
                    <a:pt x="378618" y="2916088"/>
                  </a:lnTo>
                  <a:lnTo>
                    <a:pt x="0" y="2916088"/>
                  </a:lnTo>
                  <a:close/>
                </a:path>
              </a:pathLst>
            </a:custGeom>
            <a:gradFill rotWithShape="true">
              <a:gsLst>
                <a:gs pos="0">
                  <a:srgbClr val="E4B795">
                    <a:alpha val="100000"/>
                  </a:srgbClr>
                </a:gs>
                <a:gs pos="50000">
                  <a:srgbClr val="699ACD">
                    <a:alpha val="100000"/>
                  </a:srgbClr>
                </a:gs>
                <a:gs pos="100000">
                  <a:srgbClr val="2F679F">
                    <a:alpha val="100000"/>
                  </a:srgbClr>
                </a:gs>
              </a:gsLst>
              <a:path path="circle">
                <a:fillToRect l="0" r="100000" t="0" b="100000"/>
              </a:path>
              <a:tileRect r="0" l="-100000" b="0" t="-100000"/>
            </a:gradFill>
          </p:spPr>
        </p:sp>
        <p:sp>
          <p:nvSpPr>
            <p:cNvPr name="TextBox 6" id="6"/>
            <p:cNvSpPr txBox="true"/>
            <p:nvPr/>
          </p:nvSpPr>
          <p:spPr>
            <a:xfrm>
              <a:off x="0" y="-57150"/>
              <a:ext cx="378618" cy="2973238"/>
            </a:xfrm>
            <a:prstGeom prst="rect">
              <a:avLst/>
            </a:prstGeom>
          </p:spPr>
          <p:txBody>
            <a:bodyPr anchor="ctr" rtlCol="false" tIns="50800" lIns="50800" bIns="50800" rIns="50800"/>
            <a:lstStyle/>
            <a:p>
              <a:pPr algn="ctr">
                <a:lnSpc>
                  <a:spcPts val="3639"/>
                </a:lnSpc>
              </a:pPr>
            </a:p>
          </p:txBody>
        </p:sp>
      </p:grpSp>
      <p:sp>
        <p:nvSpPr>
          <p:cNvPr name="TextBox 7" id="7"/>
          <p:cNvSpPr txBox="true"/>
          <p:nvPr/>
        </p:nvSpPr>
        <p:spPr>
          <a:xfrm rot="0">
            <a:off x="8021110" y="782737"/>
            <a:ext cx="2492949" cy="351790"/>
          </a:xfrm>
          <a:prstGeom prst="rect">
            <a:avLst/>
          </a:prstGeom>
        </p:spPr>
        <p:txBody>
          <a:bodyPr anchor="t" rtlCol="false" tIns="0" lIns="0" bIns="0" rIns="0">
            <a:spAutoFit/>
          </a:bodyPr>
          <a:lstStyle/>
          <a:p>
            <a:pPr algn="l">
              <a:lnSpc>
                <a:spcPts val="2660"/>
              </a:lnSpc>
              <a:spcBef>
                <a:spcPct val="0"/>
              </a:spcBef>
            </a:pPr>
            <a:r>
              <a:rPr lang="en-US" sz="1900" spc="95">
                <a:solidFill>
                  <a:srgbClr val="164B82"/>
                </a:solidFill>
                <a:latin typeface="Calibri"/>
                <a:ea typeface="Telegraf Extra-Light"/>
                <a:cs typeface="Telegraf Extra-Light"/>
                <a:sym typeface="Telegraf Extra-Light"/>
              </a:rPr>
              <a:t>BCSE497J · Project I</a:t>
            </a:r>
          </a:p>
        </p:txBody>
      </p:sp>
      <p:sp>
        <p:nvSpPr>
          <p:cNvPr name="TextBox 8" id="8"/>
          <p:cNvSpPr txBox="true"/>
          <p:nvPr/>
        </p:nvSpPr>
        <p:spPr>
          <a:xfrm rot="0">
            <a:off x="13305333" y="782737"/>
            <a:ext cx="1819999" cy="351790"/>
          </a:xfrm>
          <a:prstGeom prst="rect">
            <a:avLst/>
          </a:prstGeom>
        </p:spPr>
        <p:txBody>
          <a:bodyPr anchor="t" rtlCol="false" tIns="0" lIns="0" bIns="0" rIns="0">
            <a:spAutoFit/>
          </a:bodyPr>
          <a:lstStyle/>
          <a:p>
            <a:pPr algn="r">
              <a:lnSpc>
                <a:spcPts val="2660"/>
              </a:lnSpc>
              <a:spcBef>
                <a:spcPct val="0"/>
              </a:spcBef>
            </a:pPr>
            <a:r>
              <a:rPr lang="en-US" sz="1900" spc="95">
                <a:solidFill>
                  <a:srgbClr val="164B82"/>
                </a:solidFill>
                <a:latin typeface="Calibri"/>
                <a:ea typeface="Telegraf Extra-Light"/>
                <a:cs typeface="Telegraf Extra-Light"/>
                <a:sym typeface="Telegraf Extra-Light"/>
              </a:rPr>
              <a:t>Oct 2026</a:t>
            </a:r>
          </a:p>
        </p:txBody>
      </p:sp>
      <p:sp>
        <p:nvSpPr>
          <p:cNvPr name="TextBox 9" id="9"/>
          <p:cNvSpPr txBox="true"/>
          <p:nvPr/>
        </p:nvSpPr>
        <p:spPr>
          <a:xfrm rot="0">
            <a:off x="11045641" y="782737"/>
            <a:ext cx="1819999" cy="351790"/>
          </a:xfrm>
          <a:prstGeom prst="rect">
            <a:avLst/>
          </a:prstGeom>
        </p:spPr>
        <p:txBody>
          <a:bodyPr anchor="t" rtlCol="false" tIns="0" lIns="0" bIns="0" rIns="0">
            <a:spAutoFit/>
          </a:bodyPr>
          <a:lstStyle/>
          <a:p>
            <a:pPr algn="ctr">
              <a:lnSpc>
                <a:spcPts val="2660"/>
              </a:lnSpc>
              <a:spcBef>
                <a:spcPct val="0"/>
              </a:spcBef>
            </a:pPr>
            <a:r>
              <a:rPr lang="en-US" sz="1900" spc="95">
                <a:solidFill>
                  <a:srgbClr val="164B82"/>
                </a:solidFill>
                <a:latin typeface="Calibri"/>
                <a:ea typeface="Telegraf Extra-Light"/>
                <a:cs typeface="Telegraf Extra-Light"/>
                <a:sym typeface="Telegraf Extra-Light"/>
              </a:rPr>
              <a:t>Guide Review</a:t>
            </a:r>
          </a:p>
        </p:txBody>
      </p:sp>
      <p:grpSp>
        <p:nvGrpSpPr>
          <p:cNvPr name="Group 10" id="10"/>
          <p:cNvGrpSpPr/>
          <p:nvPr/>
        </p:nvGrpSpPr>
        <p:grpSpPr>
          <a:xfrm rot="5400000">
            <a:off x="11279340" y="-3711595"/>
            <a:ext cx="643045" cy="9407130"/>
            <a:chOff x="0" y="0"/>
            <a:chExt cx="169362" cy="2477598"/>
          </a:xfrm>
        </p:grpSpPr>
        <p:sp>
          <p:nvSpPr>
            <p:cNvPr name="Freeform 11" id="11"/>
            <p:cNvSpPr/>
            <p:nvPr/>
          </p:nvSpPr>
          <p:spPr>
            <a:xfrm flipH="false" flipV="false" rot="0">
              <a:off x="0" y="0"/>
              <a:ext cx="169362" cy="2477598"/>
            </a:xfrm>
            <a:custGeom>
              <a:avLst/>
              <a:gdLst/>
              <a:ahLst/>
              <a:cxnLst/>
              <a:rect r="r" b="b" t="t" l="l"/>
              <a:pathLst>
                <a:path h="2477598" w="169362">
                  <a:moveTo>
                    <a:pt x="84681" y="0"/>
                  </a:moveTo>
                  <a:lnTo>
                    <a:pt x="84681" y="0"/>
                  </a:lnTo>
                  <a:cubicBezTo>
                    <a:pt x="107140" y="0"/>
                    <a:pt x="128678" y="8922"/>
                    <a:pt x="144559" y="24802"/>
                  </a:cubicBezTo>
                  <a:cubicBezTo>
                    <a:pt x="160440" y="40683"/>
                    <a:pt x="169362" y="62222"/>
                    <a:pt x="169362" y="84681"/>
                  </a:cubicBezTo>
                  <a:lnTo>
                    <a:pt x="169362" y="2392917"/>
                  </a:lnTo>
                  <a:cubicBezTo>
                    <a:pt x="169362" y="2439685"/>
                    <a:pt x="131449" y="2477598"/>
                    <a:pt x="84681" y="2477598"/>
                  </a:cubicBezTo>
                  <a:lnTo>
                    <a:pt x="84681" y="2477598"/>
                  </a:lnTo>
                  <a:cubicBezTo>
                    <a:pt x="37913" y="2477598"/>
                    <a:pt x="0" y="2439685"/>
                    <a:pt x="0" y="2392917"/>
                  </a:cubicBezTo>
                  <a:lnTo>
                    <a:pt x="0" y="84681"/>
                  </a:lnTo>
                  <a:cubicBezTo>
                    <a:pt x="0" y="37913"/>
                    <a:pt x="37913" y="0"/>
                    <a:pt x="84681" y="0"/>
                  </a:cubicBezTo>
                  <a:close/>
                </a:path>
              </a:pathLst>
            </a:custGeom>
            <a:ln w="19050" cap="rnd">
              <a:solidFill>
                <a:srgbClr val="164B82"/>
              </a:solidFill>
              <a:prstDash val="solid"/>
              <a:round/>
            </a:ln>
          </p:spPr>
        </p:sp>
        <p:sp>
          <p:nvSpPr>
            <p:cNvPr name="TextBox 12" id="12"/>
            <p:cNvSpPr txBox="true"/>
            <p:nvPr/>
          </p:nvSpPr>
          <p:spPr>
            <a:xfrm>
              <a:off x="0" y="-57150"/>
              <a:ext cx="169362" cy="2534748"/>
            </a:xfrm>
            <a:prstGeom prst="rect">
              <a:avLst/>
            </a:prstGeom>
          </p:spPr>
          <p:txBody>
            <a:bodyPr anchor="ctr" rtlCol="false" tIns="50800" lIns="50800" bIns="50800" rIns="50800"/>
            <a:lstStyle/>
            <a:p>
              <a:pPr algn="ctr">
                <a:lnSpc>
                  <a:spcPts val="3639"/>
                </a:lnSpc>
              </a:pPr>
            </a:p>
          </p:txBody>
        </p:sp>
      </p:grpSp>
      <p:sp>
        <p:nvSpPr>
          <p:cNvPr id="13" name="Title"/>
          <p:cNvSpPr txBox="1"/>
          <p:nvPr/>
        </p:nvSpPr>
        <p:spPr>
          <a:xfrm>
            <a:off x="1005840" y="1371600"/>
            <a:ext cx="15727680" cy="1097280"/>
          </a:xfrm>
          <a:prstGeom prst="rect">
            <a:avLst/>
          </a:prstGeom>
          <a:noFill/>
        </p:spPr>
        <p:txBody>
          <a:bodyPr wrap="square" lIns="0" rIns="0" tIns="0" bIns="0" anchor="ctr">
            <a:spAutoFit/>
          </a:bodyPr>
          <a:lstStyle/>
          <a:p>
            <a:pPr algn="l"/>
            <a:r>
              <a:rPr sz="4800" b="1" i="0">
                <a:solidFill>
                  <a:srgbClr val="343434"/>
                </a:solidFill>
                <a:latin typeface="Calibri"/>
              </a:rPr>
              <a:t>Paper Submission Status</a:t>
            </a:r>
          </a:p>
        </p:txBody>
      </p:sp>
      <p:sp>
        <p:nvSpPr>
          <p:cNvPr id="14" name="Page"/>
          <p:cNvSpPr txBox="1"/>
          <p:nvPr/>
        </p:nvSpPr>
        <p:spPr>
          <a:xfrm>
            <a:off x="1005840" y="9646920"/>
            <a:ext cx="3657600" cy="365760"/>
          </a:xfrm>
          <a:prstGeom prst="rect">
            <a:avLst/>
          </a:prstGeom>
          <a:noFill/>
        </p:spPr>
        <p:txBody>
          <a:bodyPr wrap="square" lIns="0" rIns="0" tIns="0" bIns="0" anchor="t">
            <a:spAutoFit/>
          </a:bodyPr>
          <a:lstStyle/>
          <a:p>
            <a:pPr algn="l"/>
            <a:r>
              <a:rPr sz="1800" b="0" i="0">
                <a:solidFill>
                  <a:srgbClr val="164B82"/>
                </a:solidFill>
                <a:latin typeface="Calibri"/>
              </a:rPr>
              <a:t>16 / 19</a:t>
            </a:r>
          </a:p>
        </p:txBody>
      </p:sp>
      <p:graphicFrame>
        <p:nvGraphicFramePr>
          <p:cNvPr id="15" name="Submission table"/>
          <p:cNvGraphicFramePr>
            <a:graphicFrameLocks noGrp="1"/>
          </p:cNvGraphicFramePr>
          <p:nvPr/>
        </p:nvGraphicFramePr>
        <p:xfrm>
          <a:off x="1005840" y="2697480"/>
          <a:ext cx="8595360" cy="6400800"/>
        </p:xfrm>
        <a:graphic>
          <a:graphicData uri="http://schemas.openxmlformats.org/drawingml/2006/table">
            <a:tbl>
              <a:tblPr firstRow="0" bandRow="0">
                <a:tableStyleId>{2D5ABB26-0587-4C30-8999-92F81FD0307C}</a:tableStyleId>
              </a:tblPr>
              <a:tblGrid>
                <a:gridCol w="2468880"/>
                <a:gridCol w="6126480"/>
              </a:tblGrid>
              <a:tr h="914400">
                <a:tc>
                  <a:txBody>
                    <a:bodyPr wrap="square"/>
                    <a:lstStyle/>
                    <a:p>
                      <a:r>
                        <a:rPr sz="2000" b="1">
                          <a:solidFill>
                            <a:srgbClr val="FFFFFF"/>
                          </a:solidFill>
                          <a:latin typeface="Calibri"/>
                        </a:rPr>
                        <a:t>Field</a:t>
                      </a:r>
                    </a:p>
                  </a:txBody>
                  <a:tcPr marL="128016" marR="128016" marT="45720" marB="45720" anchor="ctr">
                    <a:solidFill>
                      <a:srgbClr val="164B82"/>
                    </a:solidFill>
                  </a:tcPr>
                </a:tc>
                <a:tc>
                  <a:txBody>
                    <a:bodyPr wrap="square"/>
                    <a:lstStyle/>
                    <a:p>
                      <a:r>
                        <a:rPr sz="2000" b="1">
                          <a:solidFill>
                            <a:srgbClr val="FFFFFF"/>
                          </a:solidFill>
                          <a:latin typeface="Calibri"/>
                        </a:rPr>
                        <a:t>Details</a:t>
                      </a:r>
                    </a:p>
                  </a:txBody>
                  <a:tcPr marL="128016" marR="128016" marT="45720" marB="45720" anchor="ctr">
                    <a:solidFill>
                      <a:srgbClr val="164B82"/>
                    </a:solidFill>
                  </a:tcPr>
                </a:tc>
              </a:tr>
              <a:tr h="914400">
                <a:tc>
                  <a:txBody>
                    <a:bodyPr wrap="square"/>
                    <a:lstStyle/>
                    <a:p>
                      <a:r>
                        <a:rPr sz="2000" b="1">
                          <a:solidFill>
                            <a:srgbClr val="343434"/>
                          </a:solidFill>
                          <a:latin typeface="Calibri"/>
                        </a:rPr>
                        <a:t>Title</a:t>
                      </a:r>
                    </a:p>
                  </a:txBody>
                  <a:tcPr marL="128016" marR="128016" marT="45720" marB="45720" anchor="ctr">
                    <a:solidFill>
                      <a:srgbClr val="FFFFFF"/>
                    </a:solidFill>
                  </a:tcPr>
                </a:tc>
                <a:tc>
                  <a:txBody>
                    <a:bodyPr wrap="square"/>
                    <a:lstStyle/>
                    <a:p>
                      <a:r>
                        <a:rPr sz="2000" b="0">
                          <a:solidFill>
                            <a:srgbClr val="343434"/>
                          </a:solidFill>
                          <a:latin typeface="Calibri"/>
                        </a:rPr>
                        <a:t>Cross-Linguistic Transfer Diagnostics for Low-Resource Financial NLP in Indic Languages</a:t>
                      </a:r>
                    </a:p>
                  </a:txBody>
                  <a:tcPr marL="128016" marR="128016" marT="45720" marB="45720" anchor="ctr">
                    <a:solidFill>
                      <a:srgbClr val="FFFFFF"/>
                    </a:solidFill>
                  </a:tcPr>
                </a:tc>
              </a:tr>
              <a:tr h="914400">
                <a:tc>
                  <a:txBody>
                    <a:bodyPr wrap="square"/>
                    <a:lstStyle/>
                    <a:p>
                      <a:r>
                        <a:rPr sz="2000" b="1">
                          <a:solidFill>
                            <a:srgbClr val="343434"/>
                          </a:solidFill>
                          <a:latin typeface="Calibri"/>
                        </a:rPr>
                        <a:t>Type</a:t>
                      </a:r>
                    </a:p>
                  </a:txBody>
                  <a:tcPr marL="128016" marR="128016" marT="45720" marB="45720" anchor="ctr">
                    <a:solidFill>
                      <a:srgbClr val="EAF1F8"/>
                    </a:solidFill>
                  </a:tcPr>
                </a:tc>
                <a:tc>
                  <a:txBody>
                    <a:bodyPr wrap="square"/>
                    <a:lstStyle/>
                    <a:p>
                      <a:r>
                        <a:rPr sz="2000" b="0">
                          <a:solidFill>
                            <a:srgbClr val="343434"/>
                          </a:solidFill>
                          <a:latin typeface="Calibri"/>
                        </a:rPr>
                        <a:t>[TO FILL: journal / conference]</a:t>
                      </a:r>
                    </a:p>
                  </a:txBody>
                  <a:tcPr marL="128016" marR="128016" marT="45720" marB="45720" anchor="ctr">
                    <a:solidFill>
                      <a:srgbClr val="EAF1F8"/>
                    </a:solidFill>
                  </a:tcPr>
                </a:tc>
              </a:tr>
              <a:tr h="914400">
                <a:tc>
                  <a:txBody>
                    <a:bodyPr wrap="square"/>
                    <a:lstStyle/>
                    <a:p>
                      <a:r>
                        <a:rPr sz="2000" b="1">
                          <a:solidFill>
                            <a:srgbClr val="343434"/>
                          </a:solidFill>
                          <a:latin typeface="Calibri"/>
                        </a:rPr>
                        <a:t>Venue</a:t>
                      </a:r>
                    </a:p>
                  </a:txBody>
                  <a:tcPr marL="128016" marR="128016" marT="45720" marB="45720" anchor="ctr">
                    <a:solidFill>
                      <a:srgbClr val="FFFFFF"/>
                    </a:solidFill>
                  </a:tcPr>
                </a:tc>
                <a:tc>
                  <a:txBody>
                    <a:bodyPr wrap="square"/>
                    <a:lstStyle/>
                    <a:p>
                      <a:r>
                        <a:rPr sz="2000" b="0">
                          <a:solidFill>
                            <a:srgbClr val="343434"/>
                          </a:solidFill>
                          <a:latin typeface="Calibri"/>
                        </a:rPr>
                        <a:t>[TO FILL: name of journal or conference]</a:t>
                      </a:r>
                    </a:p>
                  </a:txBody>
                  <a:tcPr marL="128016" marR="128016" marT="45720" marB="45720" anchor="ctr">
                    <a:solidFill>
                      <a:srgbClr val="FFFFFF"/>
                    </a:solidFill>
                  </a:tcPr>
                </a:tc>
              </a:tr>
              <a:tr h="914400">
                <a:tc>
                  <a:txBody>
                    <a:bodyPr wrap="square"/>
                    <a:lstStyle/>
                    <a:p>
                      <a:r>
                        <a:rPr sz="2000" b="1">
                          <a:solidFill>
                            <a:srgbClr val="343434"/>
                          </a:solidFill>
                          <a:latin typeface="Calibri"/>
                        </a:rPr>
                        <a:t>Submitted on</a:t>
                      </a:r>
                    </a:p>
                  </a:txBody>
                  <a:tcPr marL="128016" marR="128016" marT="45720" marB="45720" anchor="ctr">
                    <a:solidFill>
                      <a:srgbClr val="EAF1F8"/>
                    </a:solidFill>
                  </a:tcPr>
                </a:tc>
                <a:tc>
                  <a:txBody>
                    <a:bodyPr wrap="square"/>
                    <a:lstStyle/>
                    <a:p>
                      <a:r>
                        <a:rPr sz="2000" b="0">
                          <a:solidFill>
                            <a:srgbClr val="343434"/>
                          </a:solidFill>
                          <a:latin typeface="Calibri"/>
                        </a:rPr>
                        <a:t>[TO FILL: date]</a:t>
                      </a:r>
                    </a:p>
                  </a:txBody>
                  <a:tcPr marL="128016" marR="128016" marT="45720" marB="45720" anchor="ctr">
                    <a:solidFill>
                      <a:srgbClr val="EAF1F8"/>
                    </a:solidFill>
                  </a:tcPr>
                </a:tc>
              </a:tr>
              <a:tr h="914400">
                <a:tc>
                  <a:txBody>
                    <a:bodyPr wrap="square"/>
                    <a:lstStyle/>
                    <a:p>
                      <a:r>
                        <a:rPr sz="2000" b="1">
                          <a:solidFill>
                            <a:srgbClr val="343434"/>
                          </a:solidFill>
                          <a:latin typeface="Calibri"/>
                        </a:rPr>
                        <a:t>Status</a:t>
                      </a:r>
                    </a:p>
                  </a:txBody>
                  <a:tcPr marL="128016" marR="128016" marT="45720" marB="45720" anchor="ctr">
                    <a:solidFill>
                      <a:srgbClr val="FFFFFF"/>
                    </a:solidFill>
                  </a:tcPr>
                </a:tc>
                <a:tc>
                  <a:txBody>
                    <a:bodyPr wrap="square"/>
                    <a:lstStyle/>
                    <a:p>
                      <a:r>
                        <a:rPr sz="2000" b="0">
                          <a:solidFill>
                            <a:srgbClr val="343434"/>
                          </a:solidFill>
                          <a:latin typeface="Calibri"/>
                        </a:rPr>
                        <a:t>[TO FILL: submitted / under review / accepted]</a:t>
                      </a:r>
                    </a:p>
                  </a:txBody>
                  <a:tcPr marL="128016" marR="128016" marT="45720" marB="45720" anchor="ctr">
                    <a:solidFill>
                      <a:srgbClr val="FFFFFF"/>
                    </a:solidFill>
                  </a:tcPr>
                </a:tc>
              </a:tr>
              <a:tr h="914400">
                <a:tc>
                  <a:txBody>
                    <a:bodyPr wrap="square"/>
                    <a:lstStyle/>
                    <a:p>
                      <a:r>
                        <a:rPr sz="2000" b="1">
                          <a:solidFill>
                            <a:srgbClr val="343434"/>
                          </a:solidFill>
                          <a:latin typeface="Calibri"/>
                        </a:rPr>
                        <a:t>Submission ID</a:t>
                      </a:r>
                    </a:p>
                  </a:txBody>
                  <a:tcPr marL="128016" marR="128016" marT="45720" marB="45720" anchor="ctr">
                    <a:solidFill>
                      <a:srgbClr val="EAF1F8"/>
                    </a:solidFill>
                  </a:tcPr>
                </a:tc>
                <a:tc>
                  <a:txBody>
                    <a:bodyPr wrap="square"/>
                    <a:lstStyle/>
                    <a:p>
                      <a:r>
                        <a:rPr sz="2000" b="0">
                          <a:solidFill>
                            <a:srgbClr val="343434"/>
                          </a:solidFill>
                          <a:latin typeface="Calibri"/>
                        </a:rPr>
                        <a:t>[TO FILL: paper or manuscript ID]</a:t>
                      </a:r>
                    </a:p>
                  </a:txBody>
                  <a:tcPr marL="128016" marR="128016" marT="45720" marB="45720" anchor="ctr">
                    <a:solidFill>
                      <a:srgbClr val="EAF1F8"/>
                    </a:solidFill>
                  </a:tcPr>
                </a:tc>
              </a:tr>
            </a:tbl>
          </a:graphicData>
        </a:graphic>
      </p:graphicFrame>
      <p:sp>
        <p:nvSpPr>
          <p:cNvPr id="16" name="Acknowledgement placeholder"/>
          <p:cNvSpPr/>
          <p:nvPr/>
        </p:nvSpPr>
        <p:spPr>
          <a:xfrm>
            <a:off x="9966960" y="2697480"/>
            <a:ext cx="6766560" cy="6400800"/>
          </a:xfrm>
          <a:prstGeom prst="roundRect">
            <a:avLst>
              <a:gd name="adj" fmla="val 3000"/>
            </a:avLst>
          </a:prstGeom>
          <a:solidFill>
            <a:srgbClr val="F2F7FA"/>
          </a:solidFill>
          <a:ln w="31750">
            <a:solidFill>
              <a:srgbClr val="2F679F"/>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TextBox 16"/>
          <p:cNvSpPr txBox="1"/>
          <p:nvPr/>
        </p:nvSpPr>
        <p:spPr>
          <a:xfrm>
            <a:off x="10332720" y="4389120"/>
            <a:ext cx="6035040" cy="1371600"/>
          </a:xfrm>
          <a:prstGeom prst="rect">
            <a:avLst/>
          </a:prstGeom>
          <a:noFill/>
        </p:spPr>
        <p:txBody>
          <a:bodyPr wrap="square" lIns="0" rIns="0" tIns="0" bIns="0" anchor="ctr">
            <a:spAutoFit/>
          </a:bodyPr>
          <a:lstStyle/>
          <a:p>
            <a:pPr algn="ctr"/>
            <a:r>
              <a:rPr sz="4400" b="1" i="0">
                <a:solidFill>
                  <a:srgbClr val="2F679F"/>
                </a:solidFill>
                <a:latin typeface="Calibri"/>
              </a:rPr>
              <a:t>[TO FILL]</a:t>
            </a:r>
          </a:p>
        </p:txBody>
      </p:sp>
      <p:sp>
        <p:nvSpPr>
          <p:cNvPr id="18" name="TextBox 17"/>
          <p:cNvSpPr txBox="1"/>
          <p:nvPr/>
        </p:nvSpPr>
        <p:spPr>
          <a:xfrm>
            <a:off x="10332720" y="5760720"/>
            <a:ext cx="6035040" cy="1371600"/>
          </a:xfrm>
          <a:prstGeom prst="rect">
            <a:avLst/>
          </a:prstGeom>
          <a:noFill/>
        </p:spPr>
        <p:txBody>
          <a:bodyPr wrap="square" lIns="0" rIns="0" tIns="0" bIns="0" anchor="t">
            <a:spAutoFit/>
          </a:bodyPr>
          <a:lstStyle/>
          <a:p>
            <a:pPr algn="ctr"/>
            <a:r>
              <a:rPr sz="2200" b="0" i="0">
                <a:solidFill>
                  <a:srgbClr val="5B6B7B"/>
                </a:solidFill>
                <a:latin typeface="Calibri"/>
              </a:rPr>
              <a:t>Acknowledgement screenshot from the venue's submission system</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name="Freeform 2" id="2"/>
          <p:cNvSpPr/>
          <p:nvPr/>
        </p:nvSpPr>
        <p:spPr>
          <a:xfrm flipH="false" flipV="false" rot="225008">
            <a:off x="-467361" y="-2757747"/>
            <a:ext cx="12701350" cy="5382197"/>
          </a:xfrm>
          <a:custGeom>
            <a:avLst/>
            <a:gdLst/>
            <a:ahLst/>
            <a:cxnLst/>
            <a:rect r="r" b="b" t="t" l="l"/>
            <a:pathLst>
              <a:path h="5382197" w="12701350">
                <a:moveTo>
                  <a:pt x="0" y="0"/>
                </a:moveTo>
                <a:lnTo>
                  <a:pt x="12701349" y="0"/>
                </a:lnTo>
                <a:lnTo>
                  <a:pt x="12701349" y="5382197"/>
                </a:lnTo>
                <a:lnTo>
                  <a:pt x="0" y="5382197"/>
                </a:lnTo>
                <a:lnTo>
                  <a:pt x="0" y="0"/>
                </a:lnTo>
                <a:close/>
              </a:path>
            </a:pathLst>
          </a:custGeom>
          <a:blipFill>
            <a:blip r:embed="rId2"/>
            <a:stretch>
              <a:fillRect l="0" t="0" r="0" b="0"/>
            </a:stretch>
          </a:blipFill>
        </p:spPr>
      </p:sp>
      <p:sp>
        <p:nvSpPr>
          <p:cNvPr name="Freeform 3" id="3"/>
          <p:cNvSpPr/>
          <p:nvPr/>
        </p:nvSpPr>
        <p:spPr>
          <a:xfrm flipH="false" flipV="false" rot="0">
            <a:off x="10986204" y="6250419"/>
            <a:ext cx="11514218" cy="8506128"/>
          </a:xfrm>
          <a:custGeom>
            <a:avLst/>
            <a:gdLst/>
            <a:ahLst/>
            <a:cxnLst/>
            <a:rect r="r" b="b" t="t" l="l"/>
            <a:pathLst>
              <a:path h="8506128" w="11514218">
                <a:moveTo>
                  <a:pt x="0" y="0"/>
                </a:moveTo>
                <a:lnTo>
                  <a:pt x="11514218" y="0"/>
                </a:lnTo>
                <a:lnTo>
                  <a:pt x="11514218" y="8506128"/>
                </a:lnTo>
                <a:lnTo>
                  <a:pt x="0" y="8506128"/>
                </a:lnTo>
                <a:lnTo>
                  <a:pt x="0" y="0"/>
                </a:lnTo>
                <a:close/>
              </a:path>
            </a:pathLst>
          </a:custGeom>
          <a:blipFill>
            <a:blip r:embed="rId3"/>
            <a:stretch>
              <a:fillRect l="0" t="0" r="0" b="0"/>
            </a:stretch>
          </a:blipFill>
        </p:spPr>
      </p:sp>
      <p:grpSp>
        <p:nvGrpSpPr>
          <p:cNvPr name="Group 4" id="4"/>
          <p:cNvGrpSpPr/>
          <p:nvPr/>
        </p:nvGrpSpPr>
        <p:grpSpPr>
          <a:xfrm rot="0">
            <a:off x="17259300" y="-392510"/>
            <a:ext cx="1437565" cy="11072020"/>
            <a:chOff x="0" y="0"/>
            <a:chExt cx="378618" cy="2916088"/>
          </a:xfrm>
        </p:grpSpPr>
        <p:sp>
          <p:nvSpPr>
            <p:cNvPr name="Freeform 5" id="5"/>
            <p:cNvSpPr/>
            <p:nvPr/>
          </p:nvSpPr>
          <p:spPr>
            <a:xfrm flipH="false" flipV="false" rot="0">
              <a:off x="0" y="0"/>
              <a:ext cx="378618" cy="2916088"/>
            </a:xfrm>
            <a:custGeom>
              <a:avLst/>
              <a:gdLst/>
              <a:ahLst/>
              <a:cxnLst/>
              <a:rect r="r" b="b" t="t" l="l"/>
              <a:pathLst>
                <a:path h="2916088" w="378618">
                  <a:moveTo>
                    <a:pt x="0" y="0"/>
                  </a:moveTo>
                  <a:lnTo>
                    <a:pt x="378618" y="0"/>
                  </a:lnTo>
                  <a:lnTo>
                    <a:pt x="378618" y="2916088"/>
                  </a:lnTo>
                  <a:lnTo>
                    <a:pt x="0" y="2916088"/>
                  </a:lnTo>
                  <a:close/>
                </a:path>
              </a:pathLst>
            </a:custGeom>
            <a:gradFill rotWithShape="true">
              <a:gsLst>
                <a:gs pos="0">
                  <a:srgbClr val="E4B795">
                    <a:alpha val="100000"/>
                  </a:srgbClr>
                </a:gs>
                <a:gs pos="50000">
                  <a:srgbClr val="699ACD">
                    <a:alpha val="100000"/>
                  </a:srgbClr>
                </a:gs>
                <a:gs pos="100000">
                  <a:srgbClr val="2F679F">
                    <a:alpha val="100000"/>
                  </a:srgbClr>
                </a:gs>
              </a:gsLst>
              <a:path path="circle">
                <a:fillToRect l="0" r="100000" t="0" b="100000"/>
              </a:path>
              <a:tileRect r="0" l="-100000" b="0" t="-100000"/>
            </a:gradFill>
          </p:spPr>
        </p:sp>
        <p:sp>
          <p:nvSpPr>
            <p:cNvPr name="TextBox 6" id="6"/>
            <p:cNvSpPr txBox="true"/>
            <p:nvPr/>
          </p:nvSpPr>
          <p:spPr>
            <a:xfrm>
              <a:off x="0" y="-57150"/>
              <a:ext cx="378618" cy="2973238"/>
            </a:xfrm>
            <a:prstGeom prst="rect">
              <a:avLst/>
            </a:prstGeom>
          </p:spPr>
          <p:txBody>
            <a:bodyPr anchor="ctr" rtlCol="false" tIns="50800" lIns="50800" bIns="50800" rIns="50800"/>
            <a:lstStyle/>
            <a:p>
              <a:pPr algn="ctr">
                <a:lnSpc>
                  <a:spcPts val="3639"/>
                </a:lnSpc>
              </a:pPr>
            </a:p>
          </p:txBody>
        </p:sp>
      </p:grpSp>
      <p:sp>
        <p:nvSpPr>
          <p:cNvPr name="TextBox 7" id="7"/>
          <p:cNvSpPr txBox="true"/>
          <p:nvPr/>
        </p:nvSpPr>
        <p:spPr>
          <a:xfrm rot="0">
            <a:off x="8021110" y="782737"/>
            <a:ext cx="2492949" cy="351790"/>
          </a:xfrm>
          <a:prstGeom prst="rect">
            <a:avLst/>
          </a:prstGeom>
        </p:spPr>
        <p:txBody>
          <a:bodyPr anchor="t" rtlCol="false" tIns="0" lIns="0" bIns="0" rIns="0">
            <a:spAutoFit/>
          </a:bodyPr>
          <a:lstStyle/>
          <a:p>
            <a:pPr algn="l">
              <a:lnSpc>
                <a:spcPts val="2660"/>
              </a:lnSpc>
              <a:spcBef>
                <a:spcPct val="0"/>
              </a:spcBef>
            </a:pPr>
            <a:r>
              <a:rPr lang="en-US" sz="1900" spc="95">
                <a:solidFill>
                  <a:srgbClr val="164B82"/>
                </a:solidFill>
                <a:latin typeface="Calibri"/>
                <a:ea typeface="Telegraf Extra-Light"/>
                <a:cs typeface="Telegraf Extra-Light"/>
                <a:sym typeface="Telegraf Extra-Light"/>
              </a:rPr>
              <a:t>BCSE497J · Project I</a:t>
            </a:r>
          </a:p>
        </p:txBody>
      </p:sp>
      <p:sp>
        <p:nvSpPr>
          <p:cNvPr name="TextBox 8" id="8"/>
          <p:cNvSpPr txBox="true"/>
          <p:nvPr/>
        </p:nvSpPr>
        <p:spPr>
          <a:xfrm rot="0">
            <a:off x="13305333" y="782737"/>
            <a:ext cx="1819999" cy="351790"/>
          </a:xfrm>
          <a:prstGeom prst="rect">
            <a:avLst/>
          </a:prstGeom>
        </p:spPr>
        <p:txBody>
          <a:bodyPr anchor="t" rtlCol="false" tIns="0" lIns="0" bIns="0" rIns="0">
            <a:spAutoFit/>
          </a:bodyPr>
          <a:lstStyle/>
          <a:p>
            <a:pPr algn="r">
              <a:lnSpc>
                <a:spcPts val="2660"/>
              </a:lnSpc>
              <a:spcBef>
                <a:spcPct val="0"/>
              </a:spcBef>
            </a:pPr>
            <a:r>
              <a:rPr lang="en-US" sz="1900" spc="95">
                <a:solidFill>
                  <a:srgbClr val="164B82"/>
                </a:solidFill>
                <a:latin typeface="Calibri"/>
                <a:ea typeface="Telegraf Extra-Light"/>
                <a:cs typeface="Telegraf Extra-Light"/>
                <a:sym typeface="Telegraf Extra-Light"/>
              </a:rPr>
              <a:t>Oct 2026</a:t>
            </a:r>
          </a:p>
        </p:txBody>
      </p:sp>
      <p:sp>
        <p:nvSpPr>
          <p:cNvPr name="TextBox 9" id="9"/>
          <p:cNvSpPr txBox="true"/>
          <p:nvPr/>
        </p:nvSpPr>
        <p:spPr>
          <a:xfrm rot="0">
            <a:off x="11045641" y="782737"/>
            <a:ext cx="1819999" cy="351790"/>
          </a:xfrm>
          <a:prstGeom prst="rect">
            <a:avLst/>
          </a:prstGeom>
        </p:spPr>
        <p:txBody>
          <a:bodyPr anchor="t" rtlCol="false" tIns="0" lIns="0" bIns="0" rIns="0">
            <a:spAutoFit/>
          </a:bodyPr>
          <a:lstStyle/>
          <a:p>
            <a:pPr algn="ctr">
              <a:lnSpc>
                <a:spcPts val="2660"/>
              </a:lnSpc>
              <a:spcBef>
                <a:spcPct val="0"/>
              </a:spcBef>
            </a:pPr>
            <a:r>
              <a:rPr lang="en-US" sz="1900" spc="95">
                <a:solidFill>
                  <a:srgbClr val="164B82"/>
                </a:solidFill>
                <a:latin typeface="Calibri"/>
                <a:ea typeface="Telegraf Extra-Light"/>
                <a:cs typeface="Telegraf Extra-Light"/>
                <a:sym typeface="Telegraf Extra-Light"/>
              </a:rPr>
              <a:t>Guide Review</a:t>
            </a:r>
          </a:p>
        </p:txBody>
      </p:sp>
      <p:grpSp>
        <p:nvGrpSpPr>
          <p:cNvPr name="Group 10" id="10"/>
          <p:cNvGrpSpPr/>
          <p:nvPr/>
        </p:nvGrpSpPr>
        <p:grpSpPr>
          <a:xfrm rot="5400000">
            <a:off x="11279340" y="-3711595"/>
            <a:ext cx="643045" cy="9407130"/>
            <a:chOff x="0" y="0"/>
            <a:chExt cx="169362" cy="2477598"/>
          </a:xfrm>
        </p:grpSpPr>
        <p:sp>
          <p:nvSpPr>
            <p:cNvPr name="Freeform 11" id="11"/>
            <p:cNvSpPr/>
            <p:nvPr/>
          </p:nvSpPr>
          <p:spPr>
            <a:xfrm flipH="false" flipV="false" rot="0">
              <a:off x="0" y="0"/>
              <a:ext cx="169362" cy="2477598"/>
            </a:xfrm>
            <a:custGeom>
              <a:avLst/>
              <a:gdLst/>
              <a:ahLst/>
              <a:cxnLst/>
              <a:rect r="r" b="b" t="t" l="l"/>
              <a:pathLst>
                <a:path h="2477598" w="169362">
                  <a:moveTo>
                    <a:pt x="84681" y="0"/>
                  </a:moveTo>
                  <a:lnTo>
                    <a:pt x="84681" y="0"/>
                  </a:lnTo>
                  <a:cubicBezTo>
                    <a:pt x="107140" y="0"/>
                    <a:pt x="128678" y="8922"/>
                    <a:pt x="144559" y="24802"/>
                  </a:cubicBezTo>
                  <a:cubicBezTo>
                    <a:pt x="160440" y="40683"/>
                    <a:pt x="169362" y="62222"/>
                    <a:pt x="169362" y="84681"/>
                  </a:cubicBezTo>
                  <a:lnTo>
                    <a:pt x="169362" y="2392917"/>
                  </a:lnTo>
                  <a:cubicBezTo>
                    <a:pt x="169362" y="2439685"/>
                    <a:pt x="131449" y="2477598"/>
                    <a:pt x="84681" y="2477598"/>
                  </a:cubicBezTo>
                  <a:lnTo>
                    <a:pt x="84681" y="2477598"/>
                  </a:lnTo>
                  <a:cubicBezTo>
                    <a:pt x="37913" y="2477598"/>
                    <a:pt x="0" y="2439685"/>
                    <a:pt x="0" y="2392917"/>
                  </a:cubicBezTo>
                  <a:lnTo>
                    <a:pt x="0" y="84681"/>
                  </a:lnTo>
                  <a:cubicBezTo>
                    <a:pt x="0" y="37913"/>
                    <a:pt x="37913" y="0"/>
                    <a:pt x="84681" y="0"/>
                  </a:cubicBezTo>
                  <a:close/>
                </a:path>
              </a:pathLst>
            </a:custGeom>
            <a:ln w="19050" cap="rnd">
              <a:solidFill>
                <a:srgbClr val="164B82"/>
              </a:solidFill>
              <a:prstDash val="solid"/>
              <a:round/>
            </a:ln>
          </p:spPr>
        </p:sp>
        <p:sp>
          <p:nvSpPr>
            <p:cNvPr name="TextBox 12" id="12"/>
            <p:cNvSpPr txBox="true"/>
            <p:nvPr/>
          </p:nvSpPr>
          <p:spPr>
            <a:xfrm>
              <a:off x="0" y="-57150"/>
              <a:ext cx="169362" cy="2534748"/>
            </a:xfrm>
            <a:prstGeom prst="rect">
              <a:avLst/>
            </a:prstGeom>
          </p:spPr>
          <p:txBody>
            <a:bodyPr anchor="ctr" rtlCol="false" tIns="50800" lIns="50800" bIns="50800" rIns="50800"/>
            <a:lstStyle/>
            <a:p>
              <a:pPr algn="ctr">
                <a:lnSpc>
                  <a:spcPts val="3639"/>
                </a:lnSpc>
              </a:pPr>
            </a:p>
          </p:txBody>
        </p:sp>
      </p:grpSp>
      <p:sp>
        <p:nvSpPr>
          <p:cNvPr id="13" name="Title"/>
          <p:cNvSpPr txBox="1"/>
          <p:nvPr/>
        </p:nvSpPr>
        <p:spPr>
          <a:xfrm>
            <a:off x="1005840" y="1371600"/>
            <a:ext cx="15727680" cy="1097280"/>
          </a:xfrm>
          <a:prstGeom prst="rect">
            <a:avLst/>
          </a:prstGeom>
          <a:noFill/>
        </p:spPr>
        <p:txBody>
          <a:bodyPr wrap="square" lIns="0" rIns="0" tIns="0" bIns="0" anchor="ctr">
            <a:spAutoFit/>
          </a:bodyPr>
          <a:lstStyle/>
          <a:p>
            <a:pPr algn="l"/>
            <a:r>
              <a:rPr sz="4800" b="1" i="0">
                <a:solidFill>
                  <a:srgbClr val="343434"/>
                </a:solidFill>
                <a:latin typeface="Calibri"/>
              </a:rPr>
              <a:t>Conclusion and Future Work</a:t>
            </a:r>
          </a:p>
        </p:txBody>
      </p:sp>
      <p:sp>
        <p:nvSpPr>
          <p:cNvPr id="14" name="Page"/>
          <p:cNvSpPr txBox="1"/>
          <p:nvPr/>
        </p:nvSpPr>
        <p:spPr>
          <a:xfrm>
            <a:off x="1005840" y="9646920"/>
            <a:ext cx="3657600" cy="365760"/>
          </a:xfrm>
          <a:prstGeom prst="rect">
            <a:avLst/>
          </a:prstGeom>
          <a:noFill/>
        </p:spPr>
        <p:txBody>
          <a:bodyPr wrap="square" lIns="0" rIns="0" tIns="0" bIns="0" anchor="t">
            <a:spAutoFit/>
          </a:bodyPr>
          <a:lstStyle/>
          <a:p>
            <a:pPr algn="l"/>
            <a:r>
              <a:rPr sz="1800" b="0" i="0">
                <a:solidFill>
                  <a:srgbClr val="164B82"/>
                </a:solidFill>
                <a:latin typeface="Calibri"/>
              </a:rPr>
              <a:t>17 / 19</a:t>
            </a:r>
          </a:p>
        </p:txBody>
      </p:sp>
      <p:sp>
        <p:nvSpPr>
          <p:cNvPr id="15" name="Conclusion card"/>
          <p:cNvSpPr/>
          <p:nvPr/>
        </p:nvSpPr>
        <p:spPr>
          <a:xfrm>
            <a:off x="1005840" y="2697480"/>
            <a:ext cx="7680960" cy="6766560"/>
          </a:xfrm>
          <a:prstGeom prst="roundRect">
            <a:avLst>
              <a:gd name="adj" fmla="val 6000"/>
            </a:avLst>
          </a:prstGeom>
          <a:solidFill>
            <a:srgbClr val="FFFFFF">
              <a:alpha val="88000"/>
            </a:srgbClr>
          </a:solidFill>
          <a:ln w="15875">
            <a:solidFill>
              <a:srgbClr val="CFDDEC"/>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 name="TextBox 15"/>
          <p:cNvSpPr txBox="1"/>
          <p:nvPr/>
        </p:nvSpPr>
        <p:spPr>
          <a:xfrm>
            <a:off x="1371600" y="2926080"/>
            <a:ext cx="6949440" cy="457200"/>
          </a:xfrm>
          <a:prstGeom prst="rect">
            <a:avLst/>
          </a:prstGeom>
          <a:noFill/>
        </p:spPr>
        <p:txBody>
          <a:bodyPr wrap="square" lIns="0" rIns="0" tIns="0" bIns="0" anchor="t">
            <a:spAutoFit/>
          </a:bodyPr>
          <a:lstStyle/>
          <a:p>
            <a:pPr algn="l"/>
            <a:r>
              <a:rPr sz="2200" b="1" i="0">
                <a:solidFill>
                  <a:srgbClr val="2F679F"/>
                </a:solidFill>
                <a:latin typeface="Calibri"/>
              </a:rPr>
              <a:t>CONCLUSION</a:t>
            </a:r>
          </a:p>
        </p:txBody>
      </p:sp>
      <p:sp>
        <p:nvSpPr>
          <p:cNvPr id="17" name="Conclusion"/>
          <p:cNvSpPr txBox="1"/>
          <p:nvPr/>
        </p:nvSpPr>
        <p:spPr>
          <a:xfrm>
            <a:off x="1371600" y="3566160"/>
            <a:ext cx="7040880" cy="5760720"/>
          </a:xfrm>
          <a:prstGeom prst="rect">
            <a:avLst/>
          </a:prstGeom>
          <a:noFill/>
        </p:spPr>
        <p:txBody>
          <a:bodyPr wrap="square" lIns="0" rIns="0" tIns="0" bIns="0">
            <a:spAutoFit/>
          </a:bodyPr>
          <a:lstStyle/>
          <a:p>
            <a:pPr marL="384048" indent="-384048">
              <a:spcAft>
                <a:spcPts val="2200"/>
              </a:spcAft>
              <a:buClr>
                <a:srgbClr val="2F679F"/>
              </a:buClr>
              <a:buFont typeface="Arial"/>
              <a:buChar char="•"/>
            </a:pPr>
            <a:r>
              <a:rPr sz="2800" b="0">
                <a:solidFill>
                  <a:srgbClr val="343434"/>
                </a:solidFill>
                <a:latin typeface="Calibri"/>
              </a:rPr>
              <a:t>92,760 translated rows, all kept and flagged</a:t>
            </a:r>
          </a:p>
          <a:p>
            <a:pPr marL="384048" indent="-384048">
              <a:spcAft>
                <a:spcPts val="2200"/>
              </a:spcAft>
              <a:buClr>
                <a:srgbClr val="2F679F"/>
              </a:buClr>
              <a:buFont typeface="Arial"/>
              <a:buChar char="•"/>
            </a:pPr>
            <a:r>
              <a:rPr sz="2800" b="0">
                <a:solidFill>
                  <a:srgbClr val="343434"/>
                </a:solidFill>
                <a:latin typeface="Calibri"/>
              </a:rPr>
              <a:t>About 1 in 6 numerals lost in translation</a:t>
            </a:r>
          </a:p>
          <a:p>
            <a:pPr marL="384048" indent="-384048">
              <a:spcAft>
                <a:spcPts val="2200"/>
              </a:spcAft>
              <a:buClr>
                <a:srgbClr val="2F679F"/>
              </a:buClr>
              <a:buFont typeface="Arial"/>
              <a:buChar char="•"/>
            </a:pPr>
            <a:r>
              <a:rPr sz="2800" b="0">
                <a:solidFill>
                  <a:srgbClr val="343434"/>
                </a:solidFill>
                <a:latin typeface="Calibri"/>
              </a:rPr>
              <a:t>Transfer costs 0.26–0.45 (IndicBERT), 0.11–0.24 (mBERT)</a:t>
            </a:r>
          </a:p>
          <a:p>
            <a:pPr marL="384048" indent="-384048">
              <a:spcAft>
                <a:spcPts val="2200"/>
              </a:spcAft>
              <a:buClr>
                <a:srgbClr val="2F679F"/>
              </a:buClr>
              <a:buFont typeface="Arial"/>
              <a:buChar char="•"/>
            </a:pPr>
            <a:r>
              <a:rPr sz="2800" b="0">
                <a:solidFill>
                  <a:srgbClr val="343434"/>
                </a:solidFill>
                <a:latin typeface="Calibri"/>
              </a:rPr>
              <a:t>Into Dravidian costs more than into Indo-Aryan</a:t>
            </a:r>
          </a:p>
          <a:p>
            <a:pPr marL="384048" indent="-384048">
              <a:spcAft>
                <a:spcPts val="2200"/>
              </a:spcAft>
              <a:buClr>
                <a:srgbClr val="2F679F"/>
              </a:buClr>
              <a:buFont typeface="Arial"/>
              <a:buChar char="•"/>
            </a:pPr>
            <a:r>
              <a:rPr sz="2800" b="0">
                <a:solidFill>
                  <a:srgbClr val="343434"/>
                </a:solidFill>
                <a:latin typeface="Calibri"/>
              </a:rPr>
              <a:t>Causes of the gap remain open</a:t>
            </a:r>
          </a:p>
        </p:txBody>
      </p:sp>
      <p:sp>
        <p:nvSpPr>
          <p:cNvPr id="18" name="Future card"/>
          <p:cNvSpPr/>
          <p:nvPr/>
        </p:nvSpPr>
        <p:spPr>
          <a:xfrm>
            <a:off x="9052560" y="2697480"/>
            <a:ext cx="7680960" cy="6766560"/>
          </a:xfrm>
          <a:prstGeom prst="roundRect">
            <a:avLst>
              <a:gd name="adj" fmla="val 6000"/>
            </a:avLst>
          </a:prstGeom>
          <a:solidFill>
            <a:srgbClr val="FFFFFF">
              <a:alpha val="88000"/>
            </a:srgbClr>
          </a:solidFill>
          <a:ln w="15875">
            <a:solidFill>
              <a:srgbClr val="CFDDEC"/>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 name="TextBox 18"/>
          <p:cNvSpPr txBox="1"/>
          <p:nvPr/>
        </p:nvSpPr>
        <p:spPr>
          <a:xfrm>
            <a:off x="9418320" y="2926080"/>
            <a:ext cx="6949440" cy="457200"/>
          </a:xfrm>
          <a:prstGeom prst="rect">
            <a:avLst/>
          </a:prstGeom>
          <a:noFill/>
        </p:spPr>
        <p:txBody>
          <a:bodyPr wrap="square" lIns="0" rIns="0" tIns="0" bIns="0" anchor="t">
            <a:spAutoFit/>
          </a:bodyPr>
          <a:lstStyle/>
          <a:p>
            <a:pPr algn="l"/>
            <a:r>
              <a:rPr sz="2200" b="1" i="0">
                <a:solidFill>
                  <a:srgbClr val="B8742F"/>
                </a:solidFill>
                <a:latin typeface="Calibri"/>
              </a:rPr>
              <a:t>FUTURE WORK</a:t>
            </a:r>
          </a:p>
        </p:txBody>
      </p:sp>
      <p:sp>
        <p:nvSpPr>
          <p:cNvPr id="20" name="Future work"/>
          <p:cNvSpPr txBox="1"/>
          <p:nvPr/>
        </p:nvSpPr>
        <p:spPr>
          <a:xfrm>
            <a:off x="9418320" y="3566160"/>
            <a:ext cx="7040880" cy="5760720"/>
          </a:xfrm>
          <a:prstGeom prst="rect">
            <a:avLst/>
          </a:prstGeom>
          <a:noFill/>
        </p:spPr>
        <p:txBody>
          <a:bodyPr wrap="square" lIns="0" rIns="0" tIns="0" bIns="0">
            <a:spAutoFit/>
          </a:bodyPr>
          <a:lstStyle/>
          <a:p>
            <a:pPr marL="384048" indent="-384048">
              <a:spcAft>
                <a:spcPts val="2200"/>
              </a:spcAft>
              <a:buClr>
                <a:srgbClr val="2F679F"/>
              </a:buClr>
              <a:buFont typeface="Arial"/>
              <a:buChar char="•"/>
            </a:pPr>
            <a:r>
              <a:rPr sz="2800" b="0">
                <a:solidFill>
                  <a:srgbClr val="343434"/>
                </a:solidFill>
                <a:latin typeface="Calibri"/>
              </a:rPr>
              <a:t>XLM-R vs mBERT on larger hardware</a:t>
            </a:r>
          </a:p>
          <a:p>
            <a:pPr marL="384048" indent="-384048">
              <a:spcAft>
                <a:spcPts val="2200"/>
              </a:spcAft>
              <a:buClr>
                <a:srgbClr val="2F679F"/>
              </a:buClr>
              <a:buFont typeface="Arial"/>
              <a:buChar char="•"/>
            </a:pPr>
            <a:r>
              <a:rPr sz="2800" b="0">
                <a:solidFill>
                  <a:srgbClr val="343434"/>
                </a:solidFill>
                <a:latin typeface="Calibri"/>
              </a:rPr>
              <a:t>Native-speaker review; native Malayalam test set</a:t>
            </a:r>
          </a:p>
          <a:p>
            <a:pPr marL="384048" indent="-384048">
              <a:spcAft>
                <a:spcPts val="2200"/>
              </a:spcAft>
              <a:buClr>
                <a:srgbClr val="2F679F"/>
              </a:buClr>
              <a:buFont typeface="Arial"/>
              <a:buChar char="•"/>
            </a:pPr>
            <a:r>
              <a:rPr sz="2800" b="0">
                <a:solidFill>
                  <a:srgbClr val="343434"/>
                </a:solidFill>
                <a:latin typeface="Calibri"/>
              </a:rPr>
              <a:t>Redesign morphology and terminology modules</a:t>
            </a:r>
          </a:p>
          <a:p>
            <a:pPr marL="384048" indent="-384048">
              <a:spcAft>
                <a:spcPts val="2200"/>
              </a:spcAft>
              <a:buClr>
                <a:srgbClr val="2F679F"/>
              </a:buClr>
              <a:buFont typeface="Arial"/>
              <a:buChar char="•"/>
            </a:pPr>
            <a:r>
              <a:rPr sz="2800" b="0">
                <a:solidFill>
                  <a:srgbClr val="343434"/>
                </a:solidFill>
                <a:latin typeface="Calibri"/>
              </a:rPr>
              <a:t>Few-shot and translate-train recovery</a:t>
            </a:r>
          </a:p>
          <a:p>
            <a:pPr marL="384048" indent="-384048">
              <a:spcAft>
                <a:spcPts val="2200"/>
              </a:spcAft>
              <a:buClr>
                <a:srgbClr val="2F679F"/>
              </a:buClr>
              <a:buFont typeface="Arial"/>
              <a:buChar char="•"/>
            </a:pPr>
            <a:r>
              <a:rPr sz="2800" b="0">
                <a:solidFill>
                  <a:srgbClr val="343434"/>
                </a:solidFill>
                <a:latin typeface="Calibri"/>
              </a:rPr>
              <a:t>Extend to further Indian languages</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name="Freeform 2" id="2"/>
          <p:cNvSpPr/>
          <p:nvPr/>
        </p:nvSpPr>
        <p:spPr>
          <a:xfrm flipH="false" flipV="false" rot="225008">
            <a:off x="-467361" y="-2757747"/>
            <a:ext cx="12701350" cy="5382197"/>
          </a:xfrm>
          <a:custGeom>
            <a:avLst/>
            <a:gdLst/>
            <a:ahLst/>
            <a:cxnLst/>
            <a:rect r="r" b="b" t="t" l="l"/>
            <a:pathLst>
              <a:path h="5382197" w="12701350">
                <a:moveTo>
                  <a:pt x="0" y="0"/>
                </a:moveTo>
                <a:lnTo>
                  <a:pt x="12701349" y="0"/>
                </a:lnTo>
                <a:lnTo>
                  <a:pt x="12701349" y="5382197"/>
                </a:lnTo>
                <a:lnTo>
                  <a:pt x="0" y="5382197"/>
                </a:lnTo>
                <a:lnTo>
                  <a:pt x="0" y="0"/>
                </a:lnTo>
                <a:close/>
              </a:path>
            </a:pathLst>
          </a:custGeom>
          <a:blipFill>
            <a:blip r:embed="rId2"/>
            <a:stretch>
              <a:fillRect l="0" t="0" r="0" b="0"/>
            </a:stretch>
          </a:blipFill>
        </p:spPr>
      </p:sp>
      <p:sp>
        <p:nvSpPr>
          <p:cNvPr name="Freeform 3" id="3"/>
          <p:cNvSpPr/>
          <p:nvPr/>
        </p:nvSpPr>
        <p:spPr>
          <a:xfrm flipH="false" flipV="false" rot="0">
            <a:off x="10986204" y="6250419"/>
            <a:ext cx="11514218" cy="8506128"/>
          </a:xfrm>
          <a:custGeom>
            <a:avLst/>
            <a:gdLst/>
            <a:ahLst/>
            <a:cxnLst/>
            <a:rect r="r" b="b" t="t" l="l"/>
            <a:pathLst>
              <a:path h="8506128" w="11514218">
                <a:moveTo>
                  <a:pt x="0" y="0"/>
                </a:moveTo>
                <a:lnTo>
                  <a:pt x="11514218" y="0"/>
                </a:lnTo>
                <a:lnTo>
                  <a:pt x="11514218" y="8506128"/>
                </a:lnTo>
                <a:lnTo>
                  <a:pt x="0" y="8506128"/>
                </a:lnTo>
                <a:lnTo>
                  <a:pt x="0" y="0"/>
                </a:lnTo>
                <a:close/>
              </a:path>
            </a:pathLst>
          </a:custGeom>
          <a:blipFill>
            <a:blip r:embed="rId3"/>
            <a:stretch>
              <a:fillRect l="0" t="0" r="0" b="0"/>
            </a:stretch>
          </a:blipFill>
        </p:spPr>
      </p:sp>
      <p:grpSp>
        <p:nvGrpSpPr>
          <p:cNvPr name="Group 4" id="4"/>
          <p:cNvGrpSpPr/>
          <p:nvPr/>
        </p:nvGrpSpPr>
        <p:grpSpPr>
          <a:xfrm rot="0">
            <a:off x="17259300" y="-392510"/>
            <a:ext cx="1437565" cy="11072020"/>
            <a:chOff x="0" y="0"/>
            <a:chExt cx="378618" cy="2916088"/>
          </a:xfrm>
        </p:grpSpPr>
        <p:sp>
          <p:nvSpPr>
            <p:cNvPr name="Freeform 5" id="5"/>
            <p:cNvSpPr/>
            <p:nvPr/>
          </p:nvSpPr>
          <p:spPr>
            <a:xfrm flipH="false" flipV="false" rot="0">
              <a:off x="0" y="0"/>
              <a:ext cx="378618" cy="2916088"/>
            </a:xfrm>
            <a:custGeom>
              <a:avLst/>
              <a:gdLst/>
              <a:ahLst/>
              <a:cxnLst/>
              <a:rect r="r" b="b" t="t" l="l"/>
              <a:pathLst>
                <a:path h="2916088" w="378618">
                  <a:moveTo>
                    <a:pt x="0" y="0"/>
                  </a:moveTo>
                  <a:lnTo>
                    <a:pt x="378618" y="0"/>
                  </a:lnTo>
                  <a:lnTo>
                    <a:pt x="378618" y="2916088"/>
                  </a:lnTo>
                  <a:lnTo>
                    <a:pt x="0" y="2916088"/>
                  </a:lnTo>
                  <a:close/>
                </a:path>
              </a:pathLst>
            </a:custGeom>
            <a:gradFill rotWithShape="true">
              <a:gsLst>
                <a:gs pos="0">
                  <a:srgbClr val="E4B795">
                    <a:alpha val="100000"/>
                  </a:srgbClr>
                </a:gs>
                <a:gs pos="50000">
                  <a:srgbClr val="699ACD">
                    <a:alpha val="100000"/>
                  </a:srgbClr>
                </a:gs>
                <a:gs pos="100000">
                  <a:srgbClr val="2F679F">
                    <a:alpha val="100000"/>
                  </a:srgbClr>
                </a:gs>
              </a:gsLst>
              <a:path path="circle">
                <a:fillToRect l="0" r="100000" t="0" b="100000"/>
              </a:path>
              <a:tileRect r="0" l="-100000" b="0" t="-100000"/>
            </a:gradFill>
          </p:spPr>
        </p:sp>
        <p:sp>
          <p:nvSpPr>
            <p:cNvPr name="TextBox 6" id="6"/>
            <p:cNvSpPr txBox="true"/>
            <p:nvPr/>
          </p:nvSpPr>
          <p:spPr>
            <a:xfrm>
              <a:off x="0" y="-57150"/>
              <a:ext cx="378618" cy="2973238"/>
            </a:xfrm>
            <a:prstGeom prst="rect">
              <a:avLst/>
            </a:prstGeom>
          </p:spPr>
          <p:txBody>
            <a:bodyPr anchor="ctr" rtlCol="false" tIns="50800" lIns="50800" bIns="50800" rIns="50800"/>
            <a:lstStyle/>
            <a:p>
              <a:pPr algn="ctr">
                <a:lnSpc>
                  <a:spcPts val="3639"/>
                </a:lnSpc>
              </a:pPr>
            </a:p>
          </p:txBody>
        </p:sp>
      </p:grpSp>
      <p:sp>
        <p:nvSpPr>
          <p:cNvPr name="TextBox 7" id="7"/>
          <p:cNvSpPr txBox="true"/>
          <p:nvPr/>
        </p:nvSpPr>
        <p:spPr>
          <a:xfrm rot="0">
            <a:off x="8021110" y="782737"/>
            <a:ext cx="2492949" cy="351790"/>
          </a:xfrm>
          <a:prstGeom prst="rect">
            <a:avLst/>
          </a:prstGeom>
        </p:spPr>
        <p:txBody>
          <a:bodyPr anchor="t" rtlCol="false" tIns="0" lIns="0" bIns="0" rIns="0">
            <a:spAutoFit/>
          </a:bodyPr>
          <a:lstStyle/>
          <a:p>
            <a:pPr algn="l">
              <a:lnSpc>
                <a:spcPts val="2660"/>
              </a:lnSpc>
              <a:spcBef>
                <a:spcPct val="0"/>
              </a:spcBef>
            </a:pPr>
            <a:r>
              <a:rPr lang="en-US" sz="1900" spc="95">
                <a:solidFill>
                  <a:srgbClr val="164B82"/>
                </a:solidFill>
                <a:latin typeface="Calibri"/>
                <a:ea typeface="Telegraf Extra-Light"/>
                <a:cs typeface="Telegraf Extra-Light"/>
                <a:sym typeface="Telegraf Extra-Light"/>
              </a:rPr>
              <a:t>BCSE497J · Project I</a:t>
            </a:r>
          </a:p>
        </p:txBody>
      </p:sp>
      <p:sp>
        <p:nvSpPr>
          <p:cNvPr name="TextBox 8" id="8"/>
          <p:cNvSpPr txBox="true"/>
          <p:nvPr/>
        </p:nvSpPr>
        <p:spPr>
          <a:xfrm rot="0">
            <a:off x="13305333" y="782737"/>
            <a:ext cx="1819999" cy="351790"/>
          </a:xfrm>
          <a:prstGeom prst="rect">
            <a:avLst/>
          </a:prstGeom>
        </p:spPr>
        <p:txBody>
          <a:bodyPr anchor="t" rtlCol="false" tIns="0" lIns="0" bIns="0" rIns="0">
            <a:spAutoFit/>
          </a:bodyPr>
          <a:lstStyle/>
          <a:p>
            <a:pPr algn="r">
              <a:lnSpc>
                <a:spcPts val="2660"/>
              </a:lnSpc>
              <a:spcBef>
                <a:spcPct val="0"/>
              </a:spcBef>
            </a:pPr>
            <a:r>
              <a:rPr lang="en-US" sz="1900" spc="95">
                <a:solidFill>
                  <a:srgbClr val="164B82"/>
                </a:solidFill>
                <a:latin typeface="Calibri"/>
                <a:ea typeface="Telegraf Extra-Light"/>
                <a:cs typeface="Telegraf Extra-Light"/>
                <a:sym typeface="Telegraf Extra-Light"/>
              </a:rPr>
              <a:t>Oct 2026</a:t>
            </a:r>
          </a:p>
        </p:txBody>
      </p:sp>
      <p:sp>
        <p:nvSpPr>
          <p:cNvPr name="TextBox 9" id="9"/>
          <p:cNvSpPr txBox="true"/>
          <p:nvPr/>
        </p:nvSpPr>
        <p:spPr>
          <a:xfrm rot="0">
            <a:off x="11045641" y="782737"/>
            <a:ext cx="1819999" cy="351790"/>
          </a:xfrm>
          <a:prstGeom prst="rect">
            <a:avLst/>
          </a:prstGeom>
        </p:spPr>
        <p:txBody>
          <a:bodyPr anchor="t" rtlCol="false" tIns="0" lIns="0" bIns="0" rIns="0">
            <a:spAutoFit/>
          </a:bodyPr>
          <a:lstStyle/>
          <a:p>
            <a:pPr algn="ctr">
              <a:lnSpc>
                <a:spcPts val="2660"/>
              </a:lnSpc>
              <a:spcBef>
                <a:spcPct val="0"/>
              </a:spcBef>
            </a:pPr>
            <a:r>
              <a:rPr lang="en-US" sz="1900" spc="95">
                <a:solidFill>
                  <a:srgbClr val="164B82"/>
                </a:solidFill>
                <a:latin typeface="Calibri"/>
                <a:ea typeface="Telegraf Extra-Light"/>
                <a:cs typeface="Telegraf Extra-Light"/>
                <a:sym typeface="Telegraf Extra-Light"/>
              </a:rPr>
              <a:t>Guide Review</a:t>
            </a:r>
          </a:p>
        </p:txBody>
      </p:sp>
      <p:grpSp>
        <p:nvGrpSpPr>
          <p:cNvPr name="Group 10" id="10"/>
          <p:cNvGrpSpPr/>
          <p:nvPr/>
        </p:nvGrpSpPr>
        <p:grpSpPr>
          <a:xfrm rot="5400000">
            <a:off x="11279340" y="-3711595"/>
            <a:ext cx="643045" cy="9407130"/>
            <a:chOff x="0" y="0"/>
            <a:chExt cx="169362" cy="2477598"/>
          </a:xfrm>
        </p:grpSpPr>
        <p:sp>
          <p:nvSpPr>
            <p:cNvPr name="Freeform 11" id="11"/>
            <p:cNvSpPr/>
            <p:nvPr/>
          </p:nvSpPr>
          <p:spPr>
            <a:xfrm flipH="false" flipV="false" rot="0">
              <a:off x="0" y="0"/>
              <a:ext cx="169362" cy="2477598"/>
            </a:xfrm>
            <a:custGeom>
              <a:avLst/>
              <a:gdLst/>
              <a:ahLst/>
              <a:cxnLst/>
              <a:rect r="r" b="b" t="t" l="l"/>
              <a:pathLst>
                <a:path h="2477598" w="169362">
                  <a:moveTo>
                    <a:pt x="84681" y="0"/>
                  </a:moveTo>
                  <a:lnTo>
                    <a:pt x="84681" y="0"/>
                  </a:lnTo>
                  <a:cubicBezTo>
                    <a:pt x="107140" y="0"/>
                    <a:pt x="128678" y="8922"/>
                    <a:pt x="144559" y="24802"/>
                  </a:cubicBezTo>
                  <a:cubicBezTo>
                    <a:pt x="160440" y="40683"/>
                    <a:pt x="169362" y="62222"/>
                    <a:pt x="169362" y="84681"/>
                  </a:cubicBezTo>
                  <a:lnTo>
                    <a:pt x="169362" y="2392917"/>
                  </a:lnTo>
                  <a:cubicBezTo>
                    <a:pt x="169362" y="2439685"/>
                    <a:pt x="131449" y="2477598"/>
                    <a:pt x="84681" y="2477598"/>
                  </a:cubicBezTo>
                  <a:lnTo>
                    <a:pt x="84681" y="2477598"/>
                  </a:lnTo>
                  <a:cubicBezTo>
                    <a:pt x="37913" y="2477598"/>
                    <a:pt x="0" y="2439685"/>
                    <a:pt x="0" y="2392917"/>
                  </a:cubicBezTo>
                  <a:lnTo>
                    <a:pt x="0" y="84681"/>
                  </a:lnTo>
                  <a:cubicBezTo>
                    <a:pt x="0" y="37913"/>
                    <a:pt x="37913" y="0"/>
                    <a:pt x="84681" y="0"/>
                  </a:cubicBezTo>
                  <a:close/>
                </a:path>
              </a:pathLst>
            </a:custGeom>
            <a:ln w="19050" cap="rnd">
              <a:solidFill>
                <a:srgbClr val="164B82"/>
              </a:solidFill>
              <a:prstDash val="solid"/>
              <a:round/>
            </a:ln>
          </p:spPr>
        </p:sp>
        <p:sp>
          <p:nvSpPr>
            <p:cNvPr name="TextBox 12" id="12"/>
            <p:cNvSpPr txBox="true"/>
            <p:nvPr/>
          </p:nvSpPr>
          <p:spPr>
            <a:xfrm>
              <a:off x="0" y="-57150"/>
              <a:ext cx="169362" cy="2534748"/>
            </a:xfrm>
            <a:prstGeom prst="rect">
              <a:avLst/>
            </a:prstGeom>
          </p:spPr>
          <p:txBody>
            <a:bodyPr anchor="ctr" rtlCol="false" tIns="50800" lIns="50800" bIns="50800" rIns="50800"/>
            <a:lstStyle/>
            <a:p>
              <a:pPr algn="ctr">
                <a:lnSpc>
                  <a:spcPts val="3639"/>
                </a:lnSpc>
              </a:pPr>
            </a:p>
          </p:txBody>
        </p:sp>
      </p:grpSp>
      <p:sp>
        <p:nvSpPr>
          <p:cNvPr id="13" name="Title"/>
          <p:cNvSpPr txBox="1"/>
          <p:nvPr/>
        </p:nvSpPr>
        <p:spPr>
          <a:xfrm>
            <a:off x="1005840" y="1371600"/>
            <a:ext cx="15727680" cy="1097280"/>
          </a:xfrm>
          <a:prstGeom prst="rect">
            <a:avLst/>
          </a:prstGeom>
          <a:noFill/>
        </p:spPr>
        <p:txBody>
          <a:bodyPr wrap="square" lIns="0" rIns="0" tIns="0" bIns="0" anchor="ctr">
            <a:spAutoFit/>
          </a:bodyPr>
          <a:lstStyle/>
          <a:p>
            <a:pPr algn="l"/>
            <a:r>
              <a:rPr sz="4800" b="1" i="0">
                <a:solidFill>
                  <a:srgbClr val="343434"/>
                </a:solidFill>
                <a:latin typeface="Calibri"/>
              </a:rPr>
              <a:t>References</a:t>
            </a:r>
          </a:p>
        </p:txBody>
      </p:sp>
      <p:sp>
        <p:nvSpPr>
          <p:cNvPr id="14" name="Page"/>
          <p:cNvSpPr txBox="1"/>
          <p:nvPr/>
        </p:nvSpPr>
        <p:spPr>
          <a:xfrm>
            <a:off x="1005840" y="9646920"/>
            <a:ext cx="3657600" cy="365760"/>
          </a:xfrm>
          <a:prstGeom prst="rect">
            <a:avLst/>
          </a:prstGeom>
          <a:noFill/>
        </p:spPr>
        <p:txBody>
          <a:bodyPr wrap="square" lIns="0" rIns="0" tIns="0" bIns="0" anchor="t">
            <a:spAutoFit/>
          </a:bodyPr>
          <a:lstStyle/>
          <a:p>
            <a:pPr algn="l"/>
            <a:r>
              <a:rPr sz="1800" b="0" i="0">
                <a:solidFill>
                  <a:srgbClr val="164B82"/>
                </a:solidFill>
                <a:latin typeface="Calibri"/>
              </a:rPr>
              <a:t>18 / 19</a:t>
            </a:r>
          </a:p>
        </p:txBody>
      </p:sp>
      <p:sp>
        <p:nvSpPr>
          <p:cNvPr id="15" name="Refs col 1"/>
          <p:cNvSpPr txBox="1"/>
          <p:nvPr/>
        </p:nvSpPr>
        <p:spPr>
          <a:xfrm>
            <a:off x="1005840" y="2697480"/>
            <a:ext cx="7680960" cy="6583680"/>
          </a:xfrm>
          <a:prstGeom prst="rect">
            <a:avLst/>
          </a:prstGeom>
          <a:noFill/>
        </p:spPr>
        <p:txBody>
          <a:bodyPr wrap="square" lIns="0" rIns="0" tIns="0" bIns="0" anchor="t">
            <a:spAutoFit/>
          </a:bodyPr>
          <a:lstStyle/>
          <a:p>
            <a:pPr algn="l" marL="365760" indent="-365760">
              <a:spcAft>
                <a:spcPts val="1000"/>
              </a:spcAft>
            </a:pPr>
            <a:r>
              <a:rPr sz="1900" b="0" i="0">
                <a:solidFill>
                  <a:srgbClr val="343434"/>
                </a:solidFill>
                <a:latin typeface="Calibri"/>
              </a:rPr>
              <a:t>Aggarwal, Gupta, &amp; Kunchukuttan. (2022). IndicXNLI: Evaluating multilingual inference for Indian languages. EMNLP, 10994–11006.</a:t>
            </a:r>
          </a:p>
          <a:p>
            <a:pPr algn="l" marL="365760" indent="-365760">
              <a:spcAft>
                <a:spcPts val="1000"/>
              </a:spcAft>
            </a:pPr>
            <a:r>
              <a:rPr sz="1900" b="0" i="0">
                <a:solidFill>
                  <a:srgbClr val="343434"/>
                </a:solidFill>
                <a:latin typeface="Calibri"/>
              </a:rPr>
              <a:t>Agrawal, Fazili, &amp; Jyothi. (2024). Translation errors significantly impact low-resource languages in cross-lingual learning. EACL (short papers), 319–329.</a:t>
            </a:r>
          </a:p>
          <a:p>
            <a:pPr algn="l" marL="365760" indent="-365760">
              <a:spcAft>
                <a:spcPts val="1000"/>
              </a:spcAft>
            </a:pPr>
            <a:r>
              <a:rPr sz="1900" b="0" i="0">
                <a:solidFill>
                  <a:srgbClr val="343434"/>
                </a:solidFill>
                <a:latin typeface="Calibri"/>
              </a:rPr>
              <a:t>Chen, Tseng, Kang, Lhuissier, Seki, Day, Tu, &amp; Chen. (2023). Multi-lingual ESG impact type identification (ML-ESG-2). FinNLP @ IJCNLP-AACL, 46–50.</a:t>
            </a:r>
          </a:p>
          <a:p>
            <a:pPr algn="l" marL="365760" indent="-365760">
              <a:spcAft>
                <a:spcPts val="1000"/>
              </a:spcAft>
            </a:pPr>
            <a:r>
              <a:rPr sz="1900" b="0" i="0">
                <a:solidFill>
                  <a:srgbClr val="343434"/>
                </a:solidFill>
                <a:latin typeface="Calibri"/>
              </a:rPr>
              <a:t>Conneau, Khandelwal, Goyal, et al. (2020). Unsupervised cross-lingual representation learning at scale. ACL, 8440–8451.</a:t>
            </a:r>
          </a:p>
          <a:p>
            <a:pPr algn="l" marL="365760" indent="-365760">
              <a:spcAft>
                <a:spcPts val="1000"/>
              </a:spcAft>
            </a:pPr>
            <a:r>
              <a:rPr sz="1900" b="0" i="0">
                <a:solidFill>
                  <a:srgbClr val="343434"/>
                </a:solidFill>
                <a:latin typeface="Calibri"/>
              </a:rPr>
              <a:t>Doddapaneni, Aralikatte, Ramesh, et al. (2023). Towards leaving no Indic language behind: IndicXTREME and IndicBERT v2. ACL, 12402–12426.</a:t>
            </a:r>
          </a:p>
          <a:p>
            <a:pPr algn="l" marL="365760" indent="-365760">
              <a:spcAft>
                <a:spcPts val="1000"/>
              </a:spcAft>
            </a:pPr>
            <a:r>
              <a:rPr sz="1900" b="0" i="0">
                <a:solidFill>
                  <a:srgbClr val="343434"/>
                </a:solidFill>
                <a:latin typeface="Calibri"/>
              </a:rPr>
              <a:t>Feng, Yang, Cer, Arivazhagan, &amp; Wang. (2022). Language-agnostic BERT sentence embedding. ACL, 878–891.</a:t>
            </a:r>
          </a:p>
          <a:p>
            <a:pPr algn="l" marL="365760" indent="-365760">
              <a:spcAft>
                <a:spcPts val="1000"/>
              </a:spcAft>
            </a:pPr>
            <a:r>
              <a:rPr sz="1900" b="0" i="0">
                <a:solidFill>
                  <a:srgbClr val="343434"/>
                </a:solidFill>
                <a:latin typeface="Calibri"/>
              </a:rPr>
              <a:t>Gala et al. (2023). IndicTrans2: Towards high-quality and accessible machine translation models for all 22 scheduled Indian languages. TMLR.</a:t>
            </a:r>
          </a:p>
        </p:txBody>
      </p:sp>
      <p:sp>
        <p:nvSpPr>
          <p:cNvPr id="16" name="Refs col 2"/>
          <p:cNvSpPr txBox="1"/>
          <p:nvPr/>
        </p:nvSpPr>
        <p:spPr>
          <a:xfrm>
            <a:off x="9052560" y="2697480"/>
            <a:ext cx="7680960" cy="6583680"/>
          </a:xfrm>
          <a:prstGeom prst="rect">
            <a:avLst/>
          </a:prstGeom>
          <a:noFill/>
        </p:spPr>
        <p:txBody>
          <a:bodyPr wrap="square" lIns="0" rIns="0" tIns="0" bIns="0" anchor="t">
            <a:spAutoFit/>
          </a:bodyPr>
          <a:lstStyle/>
          <a:p>
            <a:pPr algn="l" marL="365760" indent="-365760">
              <a:spcAft>
                <a:spcPts val="1000"/>
              </a:spcAft>
            </a:pPr>
            <a:r>
              <a:rPr sz="1900" b="0" i="0">
                <a:solidFill>
                  <a:srgbClr val="343434"/>
                </a:solidFill>
                <a:latin typeface="Calibri"/>
              </a:rPr>
              <a:t>Ghosh, Maji, Narayana, &amp; Naskar. (2024). IndicFinNLP: Financial natural language processing for Indian languages. LREC-COLING, 9010–9018.</a:t>
            </a:r>
          </a:p>
          <a:p>
            <a:pPr algn="l" marL="365760" indent="-365760">
              <a:spcAft>
                <a:spcPts val="1000"/>
              </a:spcAft>
            </a:pPr>
            <a:r>
              <a:rPr sz="1900" b="0" i="0">
                <a:solidFill>
                  <a:srgbClr val="343434"/>
                </a:solidFill>
                <a:latin typeface="Calibri"/>
              </a:rPr>
              <a:t>Hu, Ruder, Siddhant, Neubig, Firat, &amp; Johnson. (2020). XTREME: A massively multilingual multi-task benchmark. ICML, PMLR 119, 4411–4421.</a:t>
            </a:r>
          </a:p>
          <a:p>
            <a:pPr algn="l" marL="365760" indent="-365760">
              <a:spcAft>
                <a:spcPts val="1000"/>
              </a:spcAft>
            </a:pPr>
            <a:r>
              <a:rPr sz="1900" b="0" i="0">
                <a:solidFill>
                  <a:srgbClr val="343434"/>
                </a:solidFill>
                <a:latin typeface="Calibri"/>
              </a:rPr>
              <a:t>Jørgensen, Brandt, Hartmann, Dai, Igel, &amp; Elliott. (2023). MultiFin: A dataset for multilingual financial NLP. Findings of EACL, 894–909.</a:t>
            </a:r>
          </a:p>
          <a:p>
            <a:pPr algn="l" marL="365760" indent="-365760">
              <a:spcAft>
                <a:spcPts val="1000"/>
              </a:spcAft>
            </a:pPr>
            <a:r>
              <a:rPr sz="1900" b="0" i="0">
                <a:solidFill>
                  <a:srgbClr val="343434"/>
                </a:solidFill>
                <a:latin typeface="Calibri"/>
              </a:rPr>
              <a:t>Kakwani, Kunchukuttan, Golla, et al. (2020). IndicNLPSuite. Findings of EMNLP, 4948–4961.</a:t>
            </a:r>
          </a:p>
          <a:p>
            <a:pPr algn="l" marL="365760" indent="-365760">
              <a:spcAft>
                <a:spcPts val="1000"/>
              </a:spcAft>
            </a:pPr>
            <a:r>
              <a:rPr sz="1900" b="0" i="0">
                <a:solidFill>
                  <a:srgbClr val="343434"/>
                </a:solidFill>
                <a:latin typeface="Calibri"/>
              </a:rPr>
              <a:t>Lauscher, Ravishankar, Vulić, &amp; Glavaš. (2020). From zero to hero: On the limitations of zero-shot language transfer. EMNLP, 4483–4499.</a:t>
            </a:r>
          </a:p>
          <a:p>
            <a:pPr algn="l" marL="365760" indent="-365760">
              <a:spcAft>
                <a:spcPts val="1000"/>
              </a:spcAft>
            </a:pPr>
            <a:r>
              <a:rPr sz="1900" b="0" i="0">
                <a:solidFill>
                  <a:srgbClr val="343434"/>
                </a:solidFill>
                <a:latin typeface="Calibri"/>
              </a:rPr>
              <a:t>Pires, Schlinger, &amp; Garrette. (2019). How multilingual is multilingual BERT? ACL, 4996–5001.</a:t>
            </a:r>
          </a:p>
        </p:txBody>
      </p:sp>
      <p:sp>
        <p:nvSpPr>
          <p:cNvPr id="17" name="TextBox 16"/>
          <p:cNvSpPr txBox="1"/>
          <p:nvPr/>
        </p:nvSpPr>
        <p:spPr>
          <a:xfrm>
            <a:off x="2743200" y="9646920"/>
            <a:ext cx="13716000" cy="365760"/>
          </a:xfrm>
          <a:prstGeom prst="rect">
            <a:avLst/>
          </a:prstGeom>
          <a:noFill/>
        </p:spPr>
        <p:txBody>
          <a:bodyPr wrap="square" lIns="0" rIns="0" tIns="0" bIns="0" anchor="t">
            <a:spAutoFit/>
          </a:bodyPr>
          <a:lstStyle/>
          <a:p>
            <a:pPr algn="l"/>
            <a:r>
              <a:rPr sz="1600" b="0" i="0">
                <a:solidFill>
                  <a:srgbClr val="5B6B7B"/>
                </a:solidFill>
                <a:latin typeface="Calibri"/>
              </a:rPr>
              <a:t>Author initials and DOIs: [TO FILL] (report lists surnames only). Full list of 22 references in the report.</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Company/>
  <LinksUpToDate>false</LinksUpToDate>
  <SharedDoc>false</SharedDoc>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xsi="http://www.w3.org/2001/XMLSchema-instance">
  <dcterms:created xsi:type="dcterms:W3CDTF">2006-08-16T00:00:00Z</dcterms:created>
  <dc:identifier>DAHX6hu8cjo</dc:identifier>
  <dcterms:modified xsi:type="dcterms:W3CDTF">2011-08-01T06:04:30Z</dcterms:modified>
  <cp:revision>1</cp:revision>
  <dc:title>Blue and White Gradient Modern Project Presentation</dc:title>
</cp:coreProperties>
</file>